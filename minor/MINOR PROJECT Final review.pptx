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handoutMasterIdLst>
    <p:handoutMasterId r:id="rId28"/>
  </p:handoutMasterIdLst>
  <p:sldIdLst>
    <p:sldId id="287" r:id="rId2"/>
    <p:sldId id="295" r:id="rId3"/>
    <p:sldId id="296" r:id="rId4"/>
    <p:sldId id="297" r:id="rId5"/>
    <p:sldId id="318" r:id="rId6"/>
    <p:sldId id="298" r:id="rId7"/>
    <p:sldId id="299" r:id="rId8"/>
    <p:sldId id="331" r:id="rId9"/>
    <p:sldId id="302" r:id="rId10"/>
    <p:sldId id="306" r:id="rId11"/>
    <p:sldId id="308" r:id="rId12"/>
    <p:sldId id="309" r:id="rId13"/>
    <p:sldId id="310" r:id="rId14"/>
    <p:sldId id="311" r:id="rId15"/>
    <p:sldId id="312" r:id="rId16"/>
    <p:sldId id="313" r:id="rId17"/>
    <p:sldId id="314" r:id="rId18"/>
    <p:sldId id="320" r:id="rId19"/>
    <p:sldId id="321" r:id="rId20"/>
    <p:sldId id="322" r:id="rId21"/>
    <p:sldId id="323" r:id="rId22"/>
    <p:sldId id="324" r:id="rId23"/>
    <p:sldId id="325" r:id="rId24"/>
    <p:sldId id="329" r:id="rId25"/>
    <p:sldId id="294" r:id="rId26"/>
  </p:sldIdLst>
  <p:sldSz cx="18288000" cy="10287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4" autoAdjust="0"/>
    <p:restoredTop sz="94624" autoAdjust="0"/>
  </p:normalViewPr>
  <p:slideViewPr>
    <p:cSldViewPr snapToGrid="0" showGuides="1">
      <p:cViewPr varScale="1">
        <p:scale>
          <a:sx n="44" d="100"/>
          <a:sy n="44" d="100"/>
        </p:scale>
        <p:origin x="660"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p:cViewPr varScale="1">
        <p:scale>
          <a:sx n="62" d="100"/>
          <a:sy n="62" d="100"/>
        </p:scale>
        <p:origin x="3154" y="6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Slide Number Placeholder 6"/>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076B784-4FB6-471C-91EA-1AAA7047F172}" type="slidenum">
              <a:rPr lang="en-IN" smtClean="0"/>
              <a:t>‹#›</a:t>
            </a:fld>
            <a:endParaRPr lang="en-IN"/>
          </a:p>
        </p:txBody>
      </p:sp>
      <p:sp>
        <p:nvSpPr>
          <p:cNvPr id="9" name="Header Placeholder 8"/>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dirty="0" err="1"/>
              <a:t>xvs</a:t>
            </a:r>
            <a:endParaRPr lang="en-IN" dirty="0"/>
          </a:p>
        </p:txBody>
      </p:sp>
      <p:sp>
        <p:nvSpPr>
          <p:cNvPr id="12" name="Date Placeholder 11"/>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F12033-2EDF-405D-A660-8698D41E1567}" type="datetime1">
              <a:rPr lang="en-US" smtClean="0"/>
              <a:t>4/24/2026</a:t>
            </a:fld>
            <a:endParaRPr lang="en-IN"/>
          </a:p>
        </p:txBody>
      </p:sp>
      <p:sp>
        <p:nvSpPr>
          <p:cNvPr id="14" name="Footer Placeholder 1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a:t>SAD</a:t>
            </a:r>
          </a:p>
        </p:txBody>
      </p:sp>
    </p:spTree>
    <p:extLst>
      <p:ext uri="{BB962C8B-B14F-4D97-AF65-F5344CB8AC3E}">
        <p14:creationId xmlns:p14="http://schemas.microsoft.com/office/powerpoint/2010/main" val="290114306"/>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186210308"/>
      </p:ext>
    </p:extLst>
  </p:cSld>
  <p:clrMap bg1="lt1" tx1="dk1" bg2="dk2" tx2="lt2" accent1="accent1" accent2="accent2" accent3="accent3" accent4="accent4" accent5="accent5" accent6="accent6" hlink="hlink" folHlink="folHlink"/>
  <p:hf hdr="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a:p>
        </p:txBody>
      </p:sp>
    </p:spTree>
    <p:extLst>
      <p:ext uri="{BB962C8B-B14F-4D97-AF65-F5344CB8AC3E}">
        <p14:creationId xmlns:p14="http://schemas.microsoft.com/office/powerpoint/2010/main" val="9011281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dirty="0"/>
          </a:p>
        </p:txBody>
      </p:sp>
    </p:spTree>
    <p:extLst>
      <p:ext uri="{BB962C8B-B14F-4D97-AF65-F5344CB8AC3E}">
        <p14:creationId xmlns:p14="http://schemas.microsoft.com/office/powerpoint/2010/main" val="33324707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4763" y="9601200"/>
            <a:ext cx="18283238"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23" y="950147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645920" y="1138428"/>
            <a:ext cx="15087600" cy="5349240"/>
          </a:xfrm>
        </p:spPr>
        <p:txBody>
          <a:bodyPr anchor="b">
            <a:normAutofit/>
          </a:bodyPr>
          <a:lstStyle>
            <a:lvl1pPr algn="l">
              <a:lnSpc>
                <a:spcPct val="85000"/>
              </a:lnSpc>
              <a:defRPr sz="12000" spc="-75"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650077" y="6683430"/>
            <a:ext cx="15087600" cy="1714500"/>
          </a:xfrm>
        </p:spPr>
        <p:txBody>
          <a:bodyPr lIns="91440" rIns="91440">
            <a:normAutofit/>
          </a:bodyPr>
          <a:lstStyle>
            <a:lvl1pPr marL="0" indent="0" algn="l">
              <a:buNone/>
              <a:defRPr sz="3600" cap="all" spc="300" baseline="0">
                <a:solidFill>
                  <a:schemeClr val="tx2"/>
                </a:solidFill>
                <a:latin typeface="+mj-lt"/>
              </a:defRPr>
            </a:lvl1pPr>
            <a:lvl2pPr marL="685800" indent="0" algn="ctr">
              <a:buNone/>
              <a:defRPr sz="3600"/>
            </a:lvl2pPr>
            <a:lvl3pPr marL="1371600" indent="0" algn="ctr">
              <a:buNone/>
              <a:defRPr sz="3600"/>
            </a:lvl3pPr>
            <a:lvl4pPr marL="2057400" indent="0" algn="ctr">
              <a:buNone/>
              <a:defRPr sz="3000"/>
            </a:lvl4pPr>
            <a:lvl5pPr marL="2743200" indent="0" algn="ctr">
              <a:buNone/>
              <a:defRPr sz="3000"/>
            </a:lvl5pPr>
            <a:lvl6pPr marL="3429000" indent="0" algn="ctr">
              <a:buNone/>
              <a:defRPr sz="3000"/>
            </a:lvl6pPr>
            <a:lvl7pPr marL="4114800" indent="0" algn="ctr">
              <a:buNone/>
              <a:defRPr sz="3000"/>
            </a:lvl7pPr>
            <a:lvl8pPr marL="4800600" indent="0" algn="ctr">
              <a:buNone/>
              <a:defRPr sz="3000"/>
            </a:lvl8pPr>
            <a:lvl9pPr marL="5486400" indent="0" algn="ctr">
              <a:buNone/>
              <a:defRPr sz="3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42A4A78-AB98-4C27-A03B-1FDB5F943EB5}" type="datetime4">
              <a:rPr lang="en-US" smtClean="0"/>
              <a:t>April 24, 2026</a:t>
            </a:fld>
            <a:endParaRPr lang="en-US"/>
          </a:p>
        </p:txBody>
      </p:sp>
      <p:sp>
        <p:nvSpPr>
          <p:cNvPr id="5" name="Footer Placeholder 4"/>
          <p:cNvSpPr>
            <a:spLocks noGrp="1"/>
          </p:cNvSpPr>
          <p:nvPr>
            <p:ph type="ftr" sz="quarter" idx="11"/>
          </p:nvPr>
        </p:nvSpPr>
        <p:spPr/>
        <p:txBody>
          <a:bodyPr/>
          <a:lstStyle/>
          <a:p>
            <a:r>
              <a:rPr lang="en-IN"/>
              <a:t>DEPARTMENT OF COMPUTER SCIENCE &amp; ENGINEERING   / PROJECT TITLE</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9" name="Straight Connector 8"/>
          <p:cNvCxnSpPr/>
          <p:nvPr/>
        </p:nvCxnSpPr>
        <p:spPr>
          <a:xfrm>
            <a:off x="1811487" y="6515100"/>
            <a:ext cx="1481328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1D00544-B2CB-480A-8E68-8A818093FCE5}" type="datetime4">
              <a:rPr lang="en-US" smtClean="0"/>
              <a:t>April 24, 2026</a:t>
            </a:fld>
            <a:endParaRPr lang="en-US"/>
          </a:p>
        </p:txBody>
      </p:sp>
      <p:sp>
        <p:nvSpPr>
          <p:cNvPr id="5" name="Footer Placeholder 4"/>
          <p:cNvSpPr>
            <a:spLocks noGrp="1"/>
          </p:cNvSpPr>
          <p:nvPr>
            <p:ph type="ftr" sz="quarter" idx="11"/>
          </p:nvPr>
        </p:nvSpPr>
        <p:spPr/>
        <p:txBody>
          <a:bodyPr/>
          <a:lstStyle/>
          <a:p>
            <a:r>
              <a:rPr lang="en-IN"/>
              <a:t>DEPARTMENT OF COMPUTER SCIENCE &amp; ENGINEERING   / PROJECT TITLE</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4763" y="9601200"/>
            <a:ext cx="18283238"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23" y="950147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45920" y="1138428"/>
            <a:ext cx="15087600" cy="5349240"/>
          </a:xfrm>
        </p:spPr>
        <p:txBody>
          <a:bodyPr anchor="b" anchorCtr="0">
            <a:normAutofit/>
          </a:bodyPr>
          <a:lstStyle>
            <a:lvl1pPr>
              <a:lnSpc>
                <a:spcPct val="85000"/>
              </a:lnSpc>
              <a:defRPr sz="12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645920" y="6679692"/>
            <a:ext cx="15087600" cy="1714500"/>
          </a:xfrm>
        </p:spPr>
        <p:txBody>
          <a:bodyPr lIns="91440" rIns="91440" anchor="t" anchorCtr="0">
            <a:normAutofit/>
          </a:bodyPr>
          <a:lstStyle>
            <a:lvl1pPr marL="0" indent="0">
              <a:buNone/>
              <a:defRPr sz="3600" cap="all" spc="300" baseline="0">
                <a:solidFill>
                  <a:schemeClr val="tx2"/>
                </a:solidFill>
                <a:latin typeface="+mj-lt"/>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C21569-787D-4B28-BF58-C15BD049FF4C}" type="datetime4">
              <a:rPr lang="en-US" smtClean="0"/>
              <a:t>April 24, 2026</a:t>
            </a:fld>
            <a:endParaRPr lang="en-US"/>
          </a:p>
        </p:txBody>
      </p:sp>
      <p:sp>
        <p:nvSpPr>
          <p:cNvPr id="5" name="Footer Placeholder 4"/>
          <p:cNvSpPr>
            <a:spLocks noGrp="1"/>
          </p:cNvSpPr>
          <p:nvPr>
            <p:ph type="ftr" sz="quarter" idx="11"/>
          </p:nvPr>
        </p:nvSpPr>
        <p:spPr/>
        <p:txBody>
          <a:bodyPr/>
          <a:lstStyle/>
          <a:p>
            <a:r>
              <a:rPr lang="en-IN"/>
              <a:t>DEPARTMENT OF COMPUTER SCIENCE &amp; ENGINEERING   / PROJECT TITLE</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9" name="Straight Connector 8"/>
          <p:cNvCxnSpPr/>
          <p:nvPr/>
        </p:nvCxnSpPr>
        <p:spPr>
          <a:xfrm>
            <a:off x="1811487" y="6515100"/>
            <a:ext cx="1481328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645920" y="429905"/>
            <a:ext cx="15087600" cy="217613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645919" y="2768601"/>
            <a:ext cx="7406640" cy="60350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326880" y="2768603"/>
            <a:ext cx="7406640" cy="60350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C689255-858F-4E3D-94A1-E1E39F87E4E8}" type="datetime4">
              <a:rPr lang="en-US" smtClean="0"/>
              <a:t>April 24, 2026</a:t>
            </a:fld>
            <a:endParaRPr lang="en-US"/>
          </a:p>
        </p:txBody>
      </p:sp>
      <p:sp>
        <p:nvSpPr>
          <p:cNvPr id="6" name="Footer Placeholder 5"/>
          <p:cNvSpPr>
            <a:spLocks noGrp="1"/>
          </p:cNvSpPr>
          <p:nvPr>
            <p:ph type="ftr" sz="quarter" idx="11"/>
          </p:nvPr>
        </p:nvSpPr>
        <p:spPr/>
        <p:txBody>
          <a:bodyPr/>
          <a:lstStyle/>
          <a:p>
            <a:r>
              <a:rPr lang="en-IN"/>
              <a:t>DEPARTMENT OF COMPUTER SCIENCE &amp; ENGINEERING   / PROJECT TITLE</a:t>
            </a:r>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645920" y="429905"/>
            <a:ext cx="15087600" cy="217613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645920" y="2769078"/>
            <a:ext cx="7406640" cy="1104423"/>
          </a:xfrm>
        </p:spPr>
        <p:txBody>
          <a:bodyPr lIns="91440" rIns="91440" anchor="ctr">
            <a:normAutofit/>
          </a:bodyPr>
          <a:lstStyle>
            <a:lvl1pPr marL="0" indent="0">
              <a:buNone/>
              <a:defRPr sz="3000" b="0" cap="all" baseline="0">
                <a:solidFill>
                  <a:schemeClr val="tx2"/>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645920" y="3873501"/>
            <a:ext cx="7406640" cy="5067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326880" y="2769078"/>
            <a:ext cx="7406640" cy="1104423"/>
          </a:xfrm>
        </p:spPr>
        <p:txBody>
          <a:bodyPr lIns="91440" rIns="91440" anchor="ctr">
            <a:normAutofit/>
          </a:bodyPr>
          <a:lstStyle>
            <a:lvl1pPr marL="0" indent="0">
              <a:buNone/>
              <a:defRPr sz="3000" b="0" cap="all" baseline="0">
                <a:solidFill>
                  <a:schemeClr val="tx2"/>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326880" y="3873501"/>
            <a:ext cx="7406640" cy="5067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A81B212C-96E6-4A1C-BD8B-5A9E1F64C4D6}" type="datetime4">
              <a:rPr lang="en-US" smtClean="0"/>
              <a:t>April 24, 2026</a:t>
            </a:fld>
            <a:endParaRPr lang="en-US"/>
          </a:p>
        </p:txBody>
      </p:sp>
      <p:sp>
        <p:nvSpPr>
          <p:cNvPr id="11" name="Footer Placeholder 10"/>
          <p:cNvSpPr>
            <a:spLocks noGrp="1"/>
          </p:cNvSpPr>
          <p:nvPr>
            <p:ph type="ftr" sz="quarter" idx="11"/>
          </p:nvPr>
        </p:nvSpPr>
        <p:spPr/>
        <p:txBody>
          <a:bodyPr/>
          <a:lstStyle/>
          <a:p>
            <a:r>
              <a:rPr lang="en-IN"/>
              <a:t>DEPARTMENT OF COMPUTER SCIENCE &amp; ENGINEERING   / PROJECT TITLE</a:t>
            </a:r>
          </a:p>
        </p:txBody>
      </p:sp>
      <p:sp>
        <p:nvSpPr>
          <p:cNvPr id="12" name="Slide Number Placeholder 11"/>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0E3FEEA-94A0-4780-8034-6B4F50182C72}" type="datetime4">
              <a:rPr lang="en-US" smtClean="0"/>
              <a:t>April 24, 2026</a:t>
            </a:fld>
            <a:endParaRPr lang="en-US"/>
          </a:p>
        </p:txBody>
      </p:sp>
      <p:sp>
        <p:nvSpPr>
          <p:cNvPr id="4" name="Footer Placeholder 3"/>
          <p:cNvSpPr>
            <a:spLocks noGrp="1"/>
          </p:cNvSpPr>
          <p:nvPr>
            <p:ph type="ftr" sz="quarter" idx="11"/>
          </p:nvPr>
        </p:nvSpPr>
        <p:spPr/>
        <p:txBody>
          <a:bodyPr/>
          <a:lstStyle/>
          <a:p>
            <a:r>
              <a:rPr lang="en-IN"/>
              <a:t>DEPARTMENT OF COMPUTER SCIENCE &amp; ENGINEERING   / PROJECT TITLE</a:t>
            </a:r>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5" name="Rectangle 4"/>
          <p:cNvSpPr/>
          <p:nvPr/>
        </p:nvSpPr>
        <p:spPr>
          <a:xfrm>
            <a:off x="4763" y="9601200"/>
            <a:ext cx="18283238"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23" y="950147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84B1D917-16EA-4D69-8845-9832B0C2F6AA}" type="datetime4">
              <a:rPr lang="en-US" smtClean="0"/>
              <a:t>April 24, 2026</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25" y="0"/>
            <a:ext cx="6076187" cy="10287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060107" y="0"/>
            <a:ext cx="96012" cy="10287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5800" y="891538"/>
            <a:ext cx="4800600" cy="3429000"/>
          </a:xfrm>
        </p:spPr>
        <p:txBody>
          <a:bodyPr anchor="b">
            <a:normAutofit/>
          </a:bodyPr>
          <a:lstStyle>
            <a:lvl1pPr>
              <a:defRPr sz="5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200900" y="1097280"/>
            <a:ext cx="9738360" cy="7886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4389120"/>
            <a:ext cx="4800600" cy="5068686"/>
          </a:xfrm>
        </p:spPr>
        <p:txBody>
          <a:bodyPr lIns="91440" rIns="91440">
            <a:normAutofit/>
          </a:bodyPr>
          <a:lstStyle>
            <a:lvl1pPr marL="0" indent="0">
              <a:buNone/>
              <a:defRPr sz="2250">
                <a:solidFill>
                  <a:srgbClr val="FFFFFF"/>
                </a:solidFill>
              </a:defRPr>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a:xfrm>
            <a:off x="698268" y="9689678"/>
            <a:ext cx="3927765" cy="547688"/>
          </a:xfrm>
        </p:spPr>
        <p:txBody>
          <a:bodyPr/>
          <a:lstStyle>
            <a:lvl1pPr algn="l">
              <a:defRPr/>
            </a:lvl1pPr>
          </a:lstStyle>
          <a:p>
            <a:fld id="{5A61ED53-1557-48CE-8123-0F97BD6F5650}" type="datetime4">
              <a:rPr lang="en-US" smtClean="0"/>
              <a:t>April 24, 2026</a:t>
            </a:fld>
            <a:endParaRPr lang="en-US"/>
          </a:p>
        </p:txBody>
      </p:sp>
      <p:sp>
        <p:nvSpPr>
          <p:cNvPr id="6" name="Footer Placeholder 5"/>
          <p:cNvSpPr>
            <a:spLocks noGrp="1"/>
          </p:cNvSpPr>
          <p:nvPr>
            <p:ph type="ftr" sz="quarter" idx="11"/>
          </p:nvPr>
        </p:nvSpPr>
        <p:spPr>
          <a:xfrm>
            <a:off x="7200900" y="9689678"/>
            <a:ext cx="6972300" cy="547688"/>
          </a:xfrm>
        </p:spPr>
        <p:txBody>
          <a:bodyPr/>
          <a:lstStyle>
            <a:lvl1pPr algn="l">
              <a:defRPr>
                <a:solidFill>
                  <a:schemeClr val="tx2"/>
                </a:solidFill>
              </a:defRPr>
            </a:lvl1pPr>
          </a:lstStyle>
          <a:p>
            <a:r>
              <a:rPr lang="en-IN"/>
              <a:t>DEPARTMENT OF COMPUTER SCIENCE &amp; ENGINEERING   / PROJECT TITLE</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7429500"/>
            <a:ext cx="18283238" cy="285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23" y="737261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45920" y="7612380"/>
            <a:ext cx="15169896" cy="1234440"/>
          </a:xfrm>
        </p:spPr>
        <p:txBody>
          <a:bodyPr lIns="91440" tIns="0" rIns="91440" bIns="0" anchor="b">
            <a:noAutofit/>
          </a:bodyPr>
          <a:lstStyle>
            <a:lvl1pPr>
              <a:defRPr sz="54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3" y="0"/>
            <a:ext cx="18287978" cy="7372614"/>
          </a:xfrm>
          <a:blipFill>
            <a:blip r:embed="rId2"/>
            <a:stretch>
              <a:fillRect/>
            </a:stretch>
          </a:blipFill>
        </p:spPr>
        <p:txBody>
          <a:bodyPr lIns="457200" tIns="457200" anchor="t"/>
          <a:lstStyle>
            <a:lvl1pPr marL="0" indent="0">
              <a:buNone/>
              <a:defRPr sz="4800">
                <a:solidFill>
                  <a:schemeClr val="bg1"/>
                </a:solidFill>
              </a:defRPr>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endParaRPr lang="en-US" dirty="0"/>
          </a:p>
        </p:txBody>
      </p:sp>
      <p:sp>
        <p:nvSpPr>
          <p:cNvPr id="4" name="Text Placeholder 3"/>
          <p:cNvSpPr>
            <a:spLocks noGrp="1"/>
          </p:cNvSpPr>
          <p:nvPr>
            <p:ph type="body" sz="half" idx="2"/>
          </p:nvPr>
        </p:nvSpPr>
        <p:spPr>
          <a:xfrm>
            <a:off x="1645920" y="8860535"/>
            <a:ext cx="15169896" cy="891540"/>
          </a:xfrm>
        </p:spPr>
        <p:txBody>
          <a:bodyPr lIns="91440" tIns="0" rIns="91440" bIns="0">
            <a:normAutofit/>
          </a:bodyPr>
          <a:lstStyle>
            <a:lvl1pPr marL="0" indent="0">
              <a:spcBef>
                <a:spcPts val="0"/>
              </a:spcBef>
              <a:spcAft>
                <a:spcPts val="900"/>
              </a:spcAft>
              <a:buNone/>
              <a:defRPr sz="2250">
                <a:solidFill>
                  <a:srgbClr val="FFFFFF"/>
                </a:solidFill>
              </a:defRPr>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66FC48DB-39AD-497D-8330-7463C2179DE1}" type="datetime4">
              <a:rPr lang="en-US" smtClean="0"/>
              <a:t>April 24, 2026</a:t>
            </a:fld>
            <a:endParaRPr lang="en-US"/>
          </a:p>
        </p:txBody>
      </p:sp>
      <p:sp>
        <p:nvSpPr>
          <p:cNvPr id="6" name="Footer Placeholder 5"/>
          <p:cNvSpPr>
            <a:spLocks noGrp="1"/>
          </p:cNvSpPr>
          <p:nvPr>
            <p:ph type="ftr" sz="quarter" idx="11"/>
          </p:nvPr>
        </p:nvSpPr>
        <p:spPr/>
        <p:txBody>
          <a:bodyPr/>
          <a:lstStyle/>
          <a:p>
            <a:r>
              <a:rPr lang="en-IN"/>
              <a:t>DEPARTMENT OF COMPUTER SCIENCE &amp; ENGINEERING   / PROJECT TITLE</a:t>
            </a:r>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13E0C0-228A-4082-81D2-A22D1B3A4D51}" type="datetime4">
              <a:rPr lang="en-US" smtClean="0"/>
              <a:t>April 24, 2026</a:t>
            </a:fld>
            <a:endParaRPr lang="en-US"/>
          </a:p>
        </p:txBody>
      </p:sp>
      <p:sp>
        <p:nvSpPr>
          <p:cNvPr id="5" name="Footer Placeholder 4"/>
          <p:cNvSpPr>
            <a:spLocks noGrp="1"/>
          </p:cNvSpPr>
          <p:nvPr>
            <p:ph type="ftr" sz="quarter" idx="11"/>
          </p:nvPr>
        </p:nvSpPr>
        <p:spPr/>
        <p:txBody>
          <a:bodyPr/>
          <a:lstStyle/>
          <a:p>
            <a:r>
              <a:rPr lang="en-IN"/>
              <a:t>DEPARTMENT OF COMPUTER SCIENCE &amp; ENGINEERING   / PROJECT TITLE</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4763" y="9601200"/>
            <a:ext cx="18283238"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23" y="950147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3087350" y="622168"/>
            <a:ext cx="3943350" cy="863613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622167"/>
            <a:ext cx="11601450" cy="8636133"/>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138729-B38B-4E7B-A4F9-C7D61D129B30}" type="datetime4">
              <a:rPr lang="en-US" smtClean="0"/>
              <a:t>April 24, 2026</a:t>
            </a:fld>
            <a:endParaRPr lang="en-US"/>
          </a:p>
        </p:txBody>
      </p:sp>
      <p:sp>
        <p:nvSpPr>
          <p:cNvPr id="5" name="Footer Placeholder 4"/>
          <p:cNvSpPr>
            <a:spLocks noGrp="1"/>
          </p:cNvSpPr>
          <p:nvPr>
            <p:ph type="ftr" sz="quarter" idx="11"/>
          </p:nvPr>
        </p:nvSpPr>
        <p:spPr/>
        <p:txBody>
          <a:bodyPr/>
          <a:lstStyle/>
          <a:p>
            <a:r>
              <a:rPr lang="en-IN"/>
              <a:t>DEPARTMENT OF COMPUTER SCIENCE &amp; ENGINEERING   / PROJECT TITLE</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2" y="9601200"/>
            <a:ext cx="18288000"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 y="9501474"/>
            <a:ext cx="18288002" cy="989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645920" y="429905"/>
            <a:ext cx="15087600" cy="217613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645920" y="2768601"/>
            <a:ext cx="15087600" cy="603504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645921" y="9689678"/>
            <a:ext cx="3708407" cy="547688"/>
          </a:xfrm>
          <a:prstGeom prst="rect">
            <a:avLst/>
          </a:prstGeom>
        </p:spPr>
        <p:txBody>
          <a:bodyPr vert="horz" lIns="91440" tIns="45720" rIns="91440" bIns="45720" rtlCol="0" anchor="ctr"/>
          <a:lstStyle>
            <a:lvl1pPr algn="l">
              <a:defRPr sz="1350">
                <a:solidFill>
                  <a:srgbClr val="FFFFFF"/>
                </a:solidFill>
              </a:defRPr>
            </a:lvl1pPr>
          </a:lstStyle>
          <a:p>
            <a:fld id="{04A8CDA6-3F51-4CAD-8EC3-2E80C1A81474}" type="datetime4">
              <a:rPr lang="en-US" smtClean="0"/>
              <a:t>April 24, 2026</a:t>
            </a:fld>
            <a:endParaRPr lang="en-US"/>
          </a:p>
        </p:txBody>
      </p:sp>
      <p:sp>
        <p:nvSpPr>
          <p:cNvPr id="5" name="Footer Placeholder 4"/>
          <p:cNvSpPr>
            <a:spLocks noGrp="1"/>
          </p:cNvSpPr>
          <p:nvPr>
            <p:ph type="ftr" sz="quarter" idx="3"/>
          </p:nvPr>
        </p:nvSpPr>
        <p:spPr>
          <a:xfrm>
            <a:off x="5529278" y="9689678"/>
            <a:ext cx="7234206" cy="547688"/>
          </a:xfrm>
          <a:prstGeom prst="rect">
            <a:avLst/>
          </a:prstGeom>
        </p:spPr>
        <p:txBody>
          <a:bodyPr vert="horz" lIns="91440" tIns="45720" rIns="91440" bIns="45720" rtlCol="0" anchor="ctr"/>
          <a:lstStyle>
            <a:lvl1pPr algn="ctr">
              <a:defRPr sz="1350" cap="all" baseline="0">
                <a:solidFill>
                  <a:srgbClr val="FFFFFF"/>
                </a:solidFill>
              </a:defRPr>
            </a:lvl1pPr>
          </a:lstStyle>
          <a:p>
            <a:r>
              <a:rPr lang="en-IN"/>
              <a:t>DEPARTMENT OF COMPUTER SCIENCE &amp; ENGINEERING   / PROJECT TITLE</a:t>
            </a:r>
          </a:p>
        </p:txBody>
      </p:sp>
      <p:sp>
        <p:nvSpPr>
          <p:cNvPr id="6" name="Slide Number Placeholder 5"/>
          <p:cNvSpPr>
            <a:spLocks noGrp="1"/>
          </p:cNvSpPr>
          <p:nvPr>
            <p:ph type="sldNum" sz="quarter" idx="4"/>
          </p:nvPr>
        </p:nvSpPr>
        <p:spPr>
          <a:xfrm>
            <a:off x="14850688" y="9689678"/>
            <a:ext cx="1968038" cy="547688"/>
          </a:xfrm>
          <a:prstGeom prst="rect">
            <a:avLst/>
          </a:prstGeom>
        </p:spPr>
        <p:txBody>
          <a:bodyPr vert="horz" lIns="91440" tIns="45720" rIns="91440" bIns="45720" rtlCol="0" anchor="ctr"/>
          <a:lstStyle>
            <a:lvl1pPr algn="r">
              <a:defRPr sz="1575">
                <a:solidFill>
                  <a:srgbClr val="FFFFFF"/>
                </a:solidFill>
              </a:defRPr>
            </a:lvl1pPr>
          </a:lstStyle>
          <a:p>
            <a:pPr marL="0" lvl="0" indent="0" algn="r" rtl="0">
              <a:spcBef>
                <a:spcPts val="0"/>
              </a:spcBef>
              <a:spcAft>
                <a:spcPts val="0"/>
              </a:spcAft>
              <a:buNone/>
            </a:pPr>
            <a:fld id="{00000000-1234-1234-1234-123412341234}" type="slidenum">
              <a:rPr lang="en-US" smtClean="0"/>
              <a:t>‹#›</a:t>
            </a:fld>
            <a:endParaRPr lang="en-US"/>
          </a:p>
        </p:txBody>
      </p:sp>
      <p:cxnSp>
        <p:nvCxnSpPr>
          <p:cNvPr id="10" name="Straight Connector 9"/>
          <p:cNvCxnSpPr/>
          <p:nvPr/>
        </p:nvCxnSpPr>
        <p:spPr>
          <a:xfrm>
            <a:off x="1790298" y="2606768"/>
            <a:ext cx="149504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1371600" rtl="0" eaLnBrk="1" latinLnBrk="0" hangingPunct="1">
        <a:lnSpc>
          <a:spcPct val="85000"/>
        </a:lnSpc>
        <a:spcBef>
          <a:spcPct val="0"/>
        </a:spcBef>
        <a:buNone/>
        <a:defRPr sz="7200" kern="1200" spc="-75" baseline="0">
          <a:solidFill>
            <a:schemeClr val="tx1">
              <a:lumMod val="75000"/>
              <a:lumOff val="25000"/>
            </a:schemeClr>
          </a:solidFill>
          <a:latin typeface="+mj-lt"/>
          <a:ea typeface="+mj-ea"/>
          <a:cs typeface="+mj-cs"/>
        </a:defRPr>
      </a:lvl1pPr>
    </p:titleStyle>
    <p:bodyStyle>
      <a:lvl1pPr marL="137160" indent="-137160" algn="l" defTabSz="1371600" rtl="0" eaLnBrk="1" latinLnBrk="0" hangingPunct="1">
        <a:lnSpc>
          <a:spcPct val="90000"/>
        </a:lnSpc>
        <a:spcBef>
          <a:spcPts val="1800"/>
        </a:spcBef>
        <a:spcAft>
          <a:spcPts val="300"/>
        </a:spcAft>
        <a:buClr>
          <a:schemeClr val="accent1"/>
        </a:buClr>
        <a:buSzPct val="100000"/>
        <a:buFont typeface="Calibri" panose="020F0502020204030204" pitchFamily="34" charset="0"/>
        <a:buChar char=" "/>
        <a:defRPr sz="3000" kern="1200">
          <a:solidFill>
            <a:schemeClr val="tx1">
              <a:lumMod val="75000"/>
              <a:lumOff val="25000"/>
            </a:schemeClr>
          </a:solidFill>
          <a:latin typeface="+mn-lt"/>
          <a:ea typeface="+mn-ea"/>
          <a:cs typeface="+mn-cs"/>
        </a:defRPr>
      </a:lvl1pPr>
      <a:lvl2pPr marL="575945" indent="-274320" algn="l" defTabSz="1371600" rtl="0" eaLnBrk="1" latinLnBrk="0" hangingPunct="1">
        <a:lnSpc>
          <a:spcPct val="90000"/>
        </a:lnSpc>
        <a:spcBef>
          <a:spcPts val="300"/>
        </a:spcBef>
        <a:spcAft>
          <a:spcPts val="600"/>
        </a:spcAft>
        <a:buClr>
          <a:schemeClr val="accent1"/>
        </a:buClr>
        <a:buFont typeface="Calibri" panose="020F0502020204030204" pitchFamily="34" charset="0"/>
        <a:buChar char="◦"/>
        <a:defRPr sz="2700" kern="1200">
          <a:solidFill>
            <a:schemeClr val="tx1">
              <a:lumMod val="75000"/>
              <a:lumOff val="25000"/>
            </a:schemeClr>
          </a:solidFill>
          <a:latin typeface="+mn-lt"/>
          <a:ea typeface="+mn-ea"/>
          <a:cs typeface="+mn-cs"/>
        </a:defRPr>
      </a:lvl2pPr>
      <a:lvl3pPr marL="850265" indent="-274320" algn="l" defTabSz="1371600" rtl="0" eaLnBrk="1" latinLnBrk="0" hangingPunct="1">
        <a:lnSpc>
          <a:spcPct val="90000"/>
        </a:lnSpc>
        <a:spcBef>
          <a:spcPts val="300"/>
        </a:spcBef>
        <a:spcAft>
          <a:spcPts val="600"/>
        </a:spcAft>
        <a:buClr>
          <a:schemeClr val="accent1"/>
        </a:buClr>
        <a:buFont typeface="Calibri" panose="020F0502020204030204" pitchFamily="34" charset="0"/>
        <a:buChar char="◦"/>
        <a:defRPr sz="2100" kern="1200">
          <a:solidFill>
            <a:schemeClr val="tx1">
              <a:lumMod val="75000"/>
              <a:lumOff val="25000"/>
            </a:schemeClr>
          </a:solidFill>
          <a:latin typeface="+mn-lt"/>
          <a:ea typeface="+mn-ea"/>
          <a:cs typeface="+mn-cs"/>
        </a:defRPr>
      </a:lvl3pPr>
      <a:lvl4pPr marL="1124585" indent="-274320" algn="l" defTabSz="1371600" rtl="0" eaLnBrk="1" latinLnBrk="0" hangingPunct="1">
        <a:lnSpc>
          <a:spcPct val="90000"/>
        </a:lnSpc>
        <a:spcBef>
          <a:spcPts val="300"/>
        </a:spcBef>
        <a:spcAft>
          <a:spcPts val="600"/>
        </a:spcAft>
        <a:buClr>
          <a:schemeClr val="accent1"/>
        </a:buClr>
        <a:buFont typeface="Calibri" panose="020F0502020204030204" pitchFamily="34" charset="0"/>
        <a:buChar char="◦"/>
        <a:defRPr sz="2100" kern="1200">
          <a:solidFill>
            <a:schemeClr val="tx1">
              <a:lumMod val="75000"/>
              <a:lumOff val="25000"/>
            </a:schemeClr>
          </a:solidFill>
          <a:latin typeface="+mn-lt"/>
          <a:ea typeface="+mn-ea"/>
          <a:cs typeface="+mn-cs"/>
        </a:defRPr>
      </a:lvl4pPr>
      <a:lvl5pPr marL="1398905" indent="-274320" algn="l" defTabSz="1371600" rtl="0" eaLnBrk="1" latinLnBrk="0" hangingPunct="1">
        <a:lnSpc>
          <a:spcPct val="90000"/>
        </a:lnSpc>
        <a:spcBef>
          <a:spcPts val="300"/>
        </a:spcBef>
        <a:spcAft>
          <a:spcPts val="600"/>
        </a:spcAft>
        <a:buClr>
          <a:schemeClr val="accent1"/>
        </a:buClr>
        <a:buFont typeface="Calibri" panose="020F0502020204030204" pitchFamily="34" charset="0"/>
        <a:buChar char="◦"/>
        <a:defRPr sz="2100" kern="1200">
          <a:solidFill>
            <a:schemeClr val="tx1">
              <a:lumMod val="75000"/>
              <a:lumOff val="25000"/>
            </a:schemeClr>
          </a:solidFill>
          <a:latin typeface="+mn-lt"/>
          <a:ea typeface="+mn-ea"/>
          <a:cs typeface="+mn-cs"/>
        </a:defRPr>
      </a:lvl5pPr>
      <a:lvl6pPr marL="1649730" indent="-342900" algn="l" defTabSz="1371600" rtl="0" eaLnBrk="1" latinLnBrk="0" hangingPunct="1">
        <a:lnSpc>
          <a:spcPct val="90000"/>
        </a:lnSpc>
        <a:spcBef>
          <a:spcPts val="300"/>
        </a:spcBef>
        <a:spcAft>
          <a:spcPts val="600"/>
        </a:spcAft>
        <a:buClr>
          <a:schemeClr val="accent1"/>
        </a:buClr>
        <a:buFont typeface="Calibri" panose="020F0502020204030204" pitchFamily="34" charset="0"/>
        <a:buChar char="◦"/>
        <a:defRPr sz="2100" kern="1200">
          <a:solidFill>
            <a:schemeClr val="tx1">
              <a:lumMod val="75000"/>
              <a:lumOff val="25000"/>
            </a:schemeClr>
          </a:solidFill>
          <a:latin typeface="+mn-lt"/>
          <a:ea typeface="+mn-ea"/>
          <a:cs typeface="+mn-cs"/>
        </a:defRPr>
      </a:lvl6pPr>
      <a:lvl7pPr marL="1950085" indent="-342900" algn="l" defTabSz="1371600" rtl="0" eaLnBrk="1" latinLnBrk="0" hangingPunct="1">
        <a:lnSpc>
          <a:spcPct val="90000"/>
        </a:lnSpc>
        <a:spcBef>
          <a:spcPts val="300"/>
        </a:spcBef>
        <a:spcAft>
          <a:spcPts val="600"/>
        </a:spcAft>
        <a:buClr>
          <a:schemeClr val="accent1"/>
        </a:buClr>
        <a:buFont typeface="Calibri" panose="020F0502020204030204" pitchFamily="34" charset="0"/>
        <a:buChar char="◦"/>
        <a:defRPr sz="2100" kern="1200">
          <a:solidFill>
            <a:schemeClr val="tx1">
              <a:lumMod val="75000"/>
              <a:lumOff val="25000"/>
            </a:schemeClr>
          </a:solidFill>
          <a:latin typeface="+mn-lt"/>
          <a:ea typeface="+mn-ea"/>
          <a:cs typeface="+mn-cs"/>
        </a:defRPr>
      </a:lvl7pPr>
      <a:lvl8pPr marL="2249805" indent="-342900" algn="l" defTabSz="1371600" rtl="0" eaLnBrk="1" latinLnBrk="0" hangingPunct="1">
        <a:lnSpc>
          <a:spcPct val="90000"/>
        </a:lnSpc>
        <a:spcBef>
          <a:spcPts val="300"/>
        </a:spcBef>
        <a:spcAft>
          <a:spcPts val="600"/>
        </a:spcAft>
        <a:buClr>
          <a:schemeClr val="accent1"/>
        </a:buClr>
        <a:buFont typeface="Calibri" panose="020F0502020204030204" pitchFamily="34" charset="0"/>
        <a:buChar char="◦"/>
        <a:defRPr sz="2100" kern="1200">
          <a:solidFill>
            <a:schemeClr val="tx1">
              <a:lumMod val="75000"/>
              <a:lumOff val="25000"/>
            </a:schemeClr>
          </a:solidFill>
          <a:latin typeface="+mn-lt"/>
          <a:ea typeface="+mn-ea"/>
          <a:cs typeface="+mn-cs"/>
        </a:defRPr>
      </a:lvl8pPr>
      <a:lvl9pPr marL="2550160" indent="-342900" algn="l" defTabSz="1371600" rtl="0" eaLnBrk="1" latinLnBrk="0" hangingPunct="1">
        <a:lnSpc>
          <a:spcPct val="90000"/>
        </a:lnSpc>
        <a:spcBef>
          <a:spcPts val="300"/>
        </a:spcBef>
        <a:spcAft>
          <a:spcPts val="600"/>
        </a:spcAft>
        <a:buClr>
          <a:schemeClr val="accent1"/>
        </a:buClr>
        <a:buFont typeface="Calibri" panose="020F0502020204030204" pitchFamily="34" charset="0"/>
        <a:buChar char="◦"/>
        <a:defRPr sz="2100" kern="1200">
          <a:solidFill>
            <a:schemeClr val="tx1">
              <a:lumMod val="75000"/>
              <a:lumOff val="25000"/>
            </a:schemeClr>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p:cNvSpPr/>
          <p:nvPr/>
        </p:nvSpPr>
        <p:spPr>
          <a:xfrm>
            <a:off x="436418" y="1562160"/>
            <a:ext cx="17415164" cy="4657365"/>
          </a:xfrm>
          <a:prstGeom prst="rect">
            <a:avLst/>
          </a:prstGeom>
        </p:spPr>
        <p:txBody>
          <a:bodyPr wrap="square">
            <a:spAutoFit/>
          </a:bodyPr>
          <a:lstStyle/>
          <a:p>
            <a:pPr marL="12065" marR="5080" algn="ctr">
              <a:lnSpc>
                <a:spcPct val="150000"/>
              </a:lnSpc>
              <a:spcBef>
                <a:spcPts val="70"/>
              </a:spcBef>
            </a:pPr>
            <a:endParaRPr lang="en-IN" sz="2400" b="1" spc="-25" dirty="0">
              <a:latin typeface="Times New Roman" panose="02020603050405020304" pitchFamily="18" charset="0"/>
              <a:cs typeface="Times New Roman" panose="02020603050405020304" pitchFamily="18" charset="0"/>
            </a:endParaRPr>
          </a:p>
          <a:p>
            <a:pPr marL="12065" marR="5080" algn="ctr">
              <a:lnSpc>
                <a:spcPct val="150000"/>
              </a:lnSpc>
              <a:spcBef>
                <a:spcPts val="70"/>
              </a:spcBef>
            </a:pPr>
            <a:r>
              <a:rPr lang="en-IN" sz="2400" b="1" spc="-25" dirty="0">
                <a:latin typeface="Times New Roman" panose="02020603050405020304" pitchFamily="18" charset="0"/>
                <a:cs typeface="Times New Roman" panose="02020603050405020304" pitchFamily="18" charset="0"/>
              </a:rPr>
              <a:t>DEPARTMENT </a:t>
            </a:r>
            <a:r>
              <a:rPr lang="en-IN" sz="2400" b="1" spc="-5" dirty="0">
                <a:latin typeface="Times New Roman" panose="02020603050405020304" pitchFamily="18" charset="0"/>
                <a:cs typeface="Times New Roman" panose="02020603050405020304" pitchFamily="18" charset="0"/>
              </a:rPr>
              <a:t>OF ARTIFICIAL INTELLIGENCE AND MACHINE LEARNING </a:t>
            </a:r>
          </a:p>
          <a:p>
            <a:pPr marL="12065" marR="5080" algn="ctr">
              <a:lnSpc>
                <a:spcPct val="150000"/>
              </a:lnSpc>
              <a:spcBef>
                <a:spcPts val="70"/>
              </a:spcBef>
            </a:pPr>
            <a:r>
              <a:rPr lang="en-IN" sz="2400" b="1" spc="-5" dirty="0">
                <a:latin typeface="Times New Roman" panose="02020603050405020304" pitchFamily="18" charset="0"/>
                <a:cs typeface="Times New Roman" panose="02020603050405020304" pitchFamily="18" charset="0"/>
              </a:rPr>
              <a:t>SCHOOL OF COMPUTING  </a:t>
            </a:r>
          </a:p>
          <a:p>
            <a:pPr marL="12065" marR="5080" algn="ctr">
              <a:lnSpc>
                <a:spcPct val="150000"/>
              </a:lnSpc>
              <a:spcBef>
                <a:spcPts val="70"/>
              </a:spcBef>
            </a:pPr>
            <a:r>
              <a:rPr lang="en-IN" sz="2400" b="1" dirty="0">
                <a:latin typeface="Times New Roman" panose="02020603050405020304" pitchFamily="18" charset="0"/>
                <a:cs typeface="Times New Roman" panose="02020603050405020304" pitchFamily="18" charset="0"/>
              </a:rPr>
              <a:t>10214AM602 </a:t>
            </a:r>
            <a:r>
              <a:rPr lang="en-IN" sz="2400" b="1" spc="-5" dirty="0">
                <a:latin typeface="Times New Roman" panose="02020603050405020304" pitchFamily="18" charset="0"/>
                <a:cs typeface="Times New Roman" panose="02020603050405020304" pitchFamily="18" charset="0"/>
              </a:rPr>
              <a:t>MINOR PROJECT –II</a:t>
            </a:r>
          </a:p>
          <a:p>
            <a:pPr marL="12065" marR="5080" algn="ctr">
              <a:lnSpc>
                <a:spcPct val="150000"/>
              </a:lnSpc>
              <a:spcBef>
                <a:spcPts val="70"/>
              </a:spcBef>
            </a:pPr>
            <a:r>
              <a:rPr lang="en-IN" sz="2400" b="1" spc="-5" dirty="0">
                <a:latin typeface="Times New Roman" panose="02020603050405020304" pitchFamily="18" charset="0"/>
                <a:cs typeface="Times New Roman" panose="02020603050405020304" pitchFamily="18" charset="0"/>
              </a:rPr>
              <a:t>WINTER SEMESTER(2025-2026)  </a:t>
            </a:r>
          </a:p>
          <a:p>
            <a:pPr marL="12065" marR="5080" algn="ctr">
              <a:lnSpc>
                <a:spcPct val="102000"/>
              </a:lnSpc>
              <a:spcBef>
                <a:spcPts val="70"/>
              </a:spcBef>
            </a:pPr>
            <a:r>
              <a:rPr lang="en-IN" sz="2400" b="1" dirty="0">
                <a:latin typeface="Times New Roman" panose="02020603050405020304" pitchFamily="18" charset="0"/>
                <a:cs typeface="Times New Roman" panose="02020603050405020304" pitchFamily="18" charset="0"/>
              </a:rPr>
              <a:t> FINAL  REVIEW</a:t>
            </a:r>
          </a:p>
          <a:p>
            <a:pPr marL="758190"/>
            <a:r>
              <a:rPr lang="en-IN" sz="2000" b="1" dirty="0">
                <a:latin typeface="Times New Roman" panose="02020603050405020304" pitchFamily="18" charset="0"/>
                <a:cs typeface="Times New Roman" panose="02020603050405020304" pitchFamily="18" charset="0"/>
              </a:rPr>
              <a:t>                                                                                                                                      </a:t>
            </a:r>
          </a:p>
          <a:p>
            <a:pPr marL="758190"/>
            <a:endParaRPr lang="en-IN" sz="2000" b="1" dirty="0">
              <a:latin typeface="Times New Roman" panose="02020603050405020304" pitchFamily="18" charset="0"/>
              <a:cs typeface="Times New Roman" panose="02020603050405020304" pitchFamily="18" charset="0"/>
            </a:endParaRPr>
          </a:p>
          <a:p>
            <a:pPr marL="758190"/>
            <a:r>
              <a:rPr lang="en-IN" sz="2000" b="1" dirty="0">
                <a:latin typeface="Times New Roman" panose="02020603050405020304" pitchFamily="18" charset="0"/>
                <a:cs typeface="Times New Roman" panose="02020603050405020304" pitchFamily="18" charset="0"/>
              </a:rPr>
              <a:t>                                                                                                                                                         </a:t>
            </a:r>
          </a:p>
          <a:p>
            <a:pPr marL="758190"/>
            <a:r>
              <a:rPr lang="en-IN" sz="2000" b="1"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a:t>
            </a:r>
            <a:r>
              <a:rPr lang="en-US" sz="2800" b="1" dirty="0">
                <a:latin typeface="Times New Roman" panose="02020603050405020304" pitchFamily="18" charset="0"/>
                <a:cs typeface="Times New Roman" panose="02020603050405020304" pitchFamily="18" charset="0"/>
              </a:rPr>
              <a:t>AI-BASED STUDENT PERFORMANCE PREDICTION ANDCAREER READINESS SYSTEM</a:t>
            </a:r>
            <a:r>
              <a:rPr lang="en-IN" sz="2800" b="1" spc="-5"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
        <p:nvSpPr>
          <p:cNvPr id="29" name="Slide Number Placeholder 3"/>
          <p:cNvSpPr txBox="1"/>
          <p:nvPr/>
        </p:nvSpPr>
        <p:spPr>
          <a:xfrm>
            <a:off x="15740698" y="275977"/>
            <a:ext cx="2133600"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lang="en-US" sz="2000" b="0" i="0" u="none" strike="noStrike" kern="0" cap="none" spc="0" normalizeH="0" baseline="0" noProof="0" dirty="0">
              <a:ln>
                <a:noFill/>
              </a:ln>
              <a:solidFill>
                <a:schemeClr val="tx1"/>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31" name="Rectangle 30"/>
          <p:cNvSpPr/>
          <p:nvPr/>
        </p:nvSpPr>
        <p:spPr>
          <a:xfrm>
            <a:off x="311727" y="7704404"/>
            <a:ext cx="9144000" cy="707886"/>
          </a:xfrm>
          <a:prstGeom prst="rect">
            <a:avLst/>
          </a:prstGeom>
        </p:spPr>
        <p:txBody>
          <a:bodyPr>
            <a:spAutoFit/>
          </a:bodyPr>
          <a:lstStyle/>
          <a:p>
            <a:pPr marL="457200" indent="-457200">
              <a:buAutoNum type="arabicPeriod"/>
            </a:pPr>
            <a:r>
              <a:rPr lang="sv-SE" sz="2000" dirty="0">
                <a:latin typeface="Times New Roman" panose="02020603050405020304" pitchFamily="18" charset="0"/>
                <a:cs typeface="Times New Roman" panose="02020603050405020304" pitchFamily="18" charset="0"/>
              </a:rPr>
              <a:t>SRI DEEKSHITHA GUMMALLA (23UEAM2008) (VTU28350)</a:t>
            </a:r>
          </a:p>
          <a:p>
            <a:pPr marL="457200" indent="-457200">
              <a:buAutoNum type="arabicPeriod"/>
            </a:pPr>
            <a:r>
              <a:rPr lang="fi-FI" sz="2000" dirty="0">
                <a:latin typeface="Times New Roman" panose="02020603050405020304" pitchFamily="18" charset="0"/>
                <a:cs typeface="Times New Roman" panose="02020603050405020304" pitchFamily="18" charset="0"/>
              </a:rPr>
              <a:t>ESWAR VENKAT KASTURI (23UEAM2003) (VTU28351)</a:t>
            </a:r>
          </a:p>
        </p:txBody>
      </p:sp>
      <p:sp>
        <p:nvSpPr>
          <p:cNvPr id="32" name="TextBox 31"/>
          <p:cNvSpPr txBox="1"/>
          <p:nvPr/>
        </p:nvSpPr>
        <p:spPr>
          <a:xfrm>
            <a:off x="351841" y="7003473"/>
            <a:ext cx="4344850"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PRESENTED BY</a:t>
            </a:r>
          </a:p>
        </p:txBody>
      </p:sp>
      <p:sp>
        <p:nvSpPr>
          <p:cNvPr id="33" name="TextBox 32"/>
          <p:cNvSpPr txBox="1"/>
          <p:nvPr/>
        </p:nvSpPr>
        <p:spPr>
          <a:xfrm>
            <a:off x="12258371" y="6583970"/>
            <a:ext cx="3168503"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SUPERVISED BY</a:t>
            </a:r>
          </a:p>
        </p:txBody>
      </p:sp>
      <p:sp>
        <p:nvSpPr>
          <p:cNvPr id="34" name="TextBox 33"/>
          <p:cNvSpPr txBox="1"/>
          <p:nvPr/>
        </p:nvSpPr>
        <p:spPr>
          <a:xfrm>
            <a:off x="11884301" y="7184696"/>
            <a:ext cx="5884154" cy="707886"/>
          </a:xfrm>
          <a:prstGeom prst="rect">
            <a:avLst/>
          </a:prstGeom>
          <a:noFill/>
        </p:spPr>
        <p:txBody>
          <a:bodyPr wrap="square" rtlCol="0">
            <a:spAutoFit/>
          </a:bodyPr>
          <a:lstStyle/>
          <a:p>
            <a:r>
              <a:rPr lang="en-IN" sz="2000" dirty="0"/>
              <a:t>Dr. S.ALEX DAVID</a:t>
            </a:r>
          </a:p>
          <a:p>
            <a:r>
              <a:rPr lang="en-IN" sz="2000" dirty="0"/>
              <a:t>Professor Head</a:t>
            </a:r>
          </a:p>
        </p:txBody>
      </p:sp>
      <p:sp>
        <p:nvSpPr>
          <p:cNvPr id="3" name="Slide Number Placeholder 2"/>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
        <p:nvSpPr>
          <p:cNvPr id="4" name="Footer Placeholder 3"/>
          <p:cNvSpPr>
            <a:spLocks noGrp="1"/>
          </p:cNvSpPr>
          <p:nvPr>
            <p:ph type="ftr" sz="quarter" idx="11"/>
          </p:nvPr>
        </p:nvSpPr>
        <p:spPr/>
        <p:txBody>
          <a:bodyPr/>
          <a:lstStyle/>
          <a:p>
            <a:r>
              <a:rPr lang="en-IN" dirty="0"/>
              <a:t>DEPARTMENT OF artificial intelligence and machine learning   / PROJECT TITLE</a:t>
            </a:r>
          </a:p>
        </p:txBody>
      </p:sp>
      <p:sp>
        <p:nvSpPr>
          <p:cNvPr id="5" name="Date Placeholder 4"/>
          <p:cNvSpPr>
            <a:spLocks noGrp="1"/>
          </p:cNvSpPr>
          <p:nvPr>
            <p:ph type="dt" sz="half" idx="10"/>
          </p:nvPr>
        </p:nvSpPr>
        <p:spPr/>
        <p:txBody>
          <a:bodyPr/>
          <a:lstStyle/>
          <a:p>
            <a:fld id="{E4D1627A-24AB-481F-9D74-76C2593C9111}" type="datetime4">
              <a:rPr lang="en-US" smtClean="0"/>
              <a:t>April 24, 2026</a:t>
            </a:fld>
            <a:endParaRPr lang="en-US"/>
          </a:p>
        </p:txBody>
      </p:sp>
      <p:pic>
        <p:nvPicPr>
          <p:cNvPr id="13" name="Picture 2" descr="C:\Users\Sharad\Desktop\Logo-Final-A veltech.png"/>
          <p:cNvPicPr>
            <a:picLocks noChangeAspect="1" noChangeArrowheads="1"/>
          </p:cNvPicPr>
          <p:nvPr/>
        </p:nvPicPr>
        <p:blipFill>
          <a:blip r:embed="rId3"/>
          <a:srcRect/>
          <a:stretch>
            <a:fillRect/>
          </a:stretch>
        </p:blipFill>
        <p:spPr bwMode="auto">
          <a:xfrm>
            <a:off x="15597269" y="293828"/>
            <a:ext cx="1160907" cy="1223246"/>
          </a:xfrm>
          <a:prstGeom prst="rect">
            <a:avLst/>
          </a:prstGeom>
          <a:noFill/>
        </p:spPr>
      </p:pic>
      <p:pic>
        <p:nvPicPr>
          <p:cNvPr id="6" name="Picture 5">
            <a:extLst>
              <a:ext uri="{FF2B5EF4-FFF2-40B4-BE49-F238E27FC236}">
                <a16:creationId xmlns:a16="http://schemas.microsoft.com/office/drawing/2014/main" id="{FB4CBD81-441F-7C68-DDAA-D7B4135D2AD1}"/>
              </a:ext>
            </a:extLst>
          </p:cNvPr>
          <p:cNvPicPr>
            <a:picLocks noChangeAspect="1"/>
          </p:cNvPicPr>
          <p:nvPr/>
        </p:nvPicPr>
        <p:blipFill>
          <a:blip r:embed="rId4"/>
          <a:stretch>
            <a:fillRect/>
          </a:stretch>
        </p:blipFill>
        <p:spPr>
          <a:xfrm>
            <a:off x="6622502" y="254183"/>
            <a:ext cx="5042995" cy="1929827"/>
          </a:xfrm>
          <a:prstGeom prst="rect">
            <a:avLst/>
          </a:prstGeom>
        </p:spPr>
      </p:pic>
      <p:sp>
        <p:nvSpPr>
          <p:cNvPr id="7" name="Oval 6">
            <a:extLst>
              <a:ext uri="{FF2B5EF4-FFF2-40B4-BE49-F238E27FC236}">
                <a16:creationId xmlns:a16="http://schemas.microsoft.com/office/drawing/2014/main" id="{16C34071-5C8F-1904-88A4-D9662C83D907}"/>
              </a:ext>
            </a:extLst>
          </p:cNvPr>
          <p:cNvSpPr/>
          <p:nvPr/>
        </p:nvSpPr>
        <p:spPr>
          <a:xfrm>
            <a:off x="15232566" y="189256"/>
            <a:ext cx="1873405" cy="1572637"/>
          </a:xfrm>
          <a:prstGeom prst="ellipse">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24,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
        <p:nvSpPr>
          <p:cNvPr id="5" name="Rectangle 4"/>
          <p:cNvSpPr/>
          <p:nvPr/>
        </p:nvSpPr>
        <p:spPr>
          <a:xfrm>
            <a:off x="727362" y="359630"/>
            <a:ext cx="16521545" cy="8058937"/>
          </a:xfrm>
          <a:prstGeom prst="rect">
            <a:avLst/>
          </a:prstGeom>
        </p:spPr>
        <p:txBody>
          <a:bodyPr wrap="square">
            <a:spAutoFit/>
          </a:bodyPr>
          <a:lstStyle/>
          <a:p>
            <a:pPr>
              <a:lnSpc>
                <a:spcPct val="150000"/>
              </a:lnSpc>
            </a:pPr>
            <a:r>
              <a:rPr lang="en-IN" sz="3600" b="1" dirty="0">
                <a:latin typeface="Times New Roman" panose="02020603050405020304" pitchFamily="18" charset="0"/>
                <a:cs typeface="Times New Roman" panose="02020603050405020304" pitchFamily="18" charset="0"/>
              </a:rPr>
              <a:t>OVERVIEW </a:t>
            </a:r>
          </a:p>
          <a:p>
            <a:pPr lvl="1">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ABSTRACT</a:t>
            </a:r>
          </a:p>
          <a:p>
            <a:pPr lvl="1">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OBJECTIVE</a:t>
            </a:r>
          </a:p>
          <a:p>
            <a:pPr lvl="1">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INTRODUCTION</a:t>
            </a:r>
          </a:p>
          <a:p>
            <a:pPr lvl="1">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LITERATURE REVIEW (SOFT COPY OF PAPERS TO BE LINKED AS HYPERLINK)</a:t>
            </a:r>
          </a:p>
          <a:p>
            <a:pPr lvl="1">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DESIGN AND METHODOLOGIES</a:t>
            </a:r>
          </a:p>
          <a:p>
            <a:pPr lvl="1">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IMPLEMENTATION</a:t>
            </a:r>
          </a:p>
          <a:p>
            <a:pPr lvl="1">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TESTING</a:t>
            </a:r>
          </a:p>
          <a:p>
            <a:pPr lvl="1">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RESULT</a:t>
            </a:r>
          </a:p>
          <a:p>
            <a:pPr lvl="1">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PROJECT EXECUTION  DEMO VIDEO(Complete Implementation of Project)</a:t>
            </a:r>
          </a:p>
          <a:p>
            <a:pPr lvl="1">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CONCLUSION</a:t>
            </a:r>
          </a:p>
          <a:p>
            <a:pPr lvl="1">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WEB REFERENCES LINK (TILL REVIEW DATE ALL LINKS TO BE INCLUDED DAY WISE)</a:t>
            </a:r>
          </a:p>
          <a:p>
            <a:pPr lvl="1">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PLAGIARISM REPORT OF PPT</a:t>
            </a:r>
          </a:p>
          <a:p>
            <a:pPr lvl="1">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24,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5" name="Rectangle 4"/>
          <p:cNvSpPr/>
          <p:nvPr/>
        </p:nvSpPr>
        <p:spPr>
          <a:xfrm>
            <a:off x="885559" y="389205"/>
            <a:ext cx="15469732" cy="2969531"/>
          </a:xfrm>
          <a:prstGeom prst="rect">
            <a:avLst/>
          </a:prstGeom>
        </p:spPr>
        <p:txBody>
          <a:bodyPr wrap="square">
            <a:spAutoFit/>
          </a:bodyPr>
          <a:lstStyle/>
          <a:p>
            <a:pPr lvl="1" algn="ctr">
              <a:lnSpc>
                <a:spcPct val="150000"/>
              </a:lnSpc>
            </a:pPr>
            <a:r>
              <a:rPr lang="en-IN" sz="3600" b="1" dirty="0">
                <a:latin typeface="Times New Roman" panose="02020603050405020304" pitchFamily="18" charset="0"/>
                <a:cs typeface="Times New Roman" panose="02020603050405020304" pitchFamily="18" charset="0"/>
              </a:rPr>
              <a:t>ABSTRACT</a:t>
            </a:r>
          </a:p>
          <a:p>
            <a:pPr lvl="1">
              <a:lnSpc>
                <a:spcPct val="150000"/>
              </a:lnSpc>
            </a:pPr>
            <a:endParaRPr lang="en-IN" sz="3200" b="1" dirty="0">
              <a:latin typeface="Times New Roman" panose="02020603050405020304" pitchFamily="18" charset="0"/>
              <a:cs typeface="Times New Roman" panose="02020603050405020304" pitchFamily="18" charset="0"/>
            </a:endParaRPr>
          </a:p>
          <a:p>
            <a:pPr lvl="1">
              <a:lnSpc>
                <a:spcPct val="150000"/>
              </a:lnSpc>
            </a:pPr>
            <a:endParaRPr lang="en-IN" sz="3200" b="1" dirty="0">
              <a:latin typeface="Times New Roman" panose="02020603050405020304" pitchFamily="18" charset="0"/>
              <a:cs typeface="Times New Roman" panose="02020603050405020304" pitchFamily="18" charset="0"/>
            </a:endParaRPr>
          </a:p>
          <a:p>
            <a:pPr lvl="1">
              <a:lnSpc>
                <a:spcPct val="150000"/>
              </a:lnSpc>
            </a:pPr>
            <a:endParaRPr lang="en-IN" sz="2800" b="1" dirty="0">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2684E170-5F92-5EF7-F938-37A030E84E8B}"/>
              </a:ext>
            </a:extLst>
          </p:cNvPr>
          <p:cNvSpPr>
            <a:spLocks noChangeArrowheads="1"/>
          </p:cNvSpPr>
          <p:nvPr/>
        </p:nvSpPr>
        <p:spPr bwMode="auto">
          <a:xfrm>
            <a:off x="1378857" y="1873970"/>
            <a:ext cx="11533927"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Improves students’ placement chances using AI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Analyzes academic performance, skills, and domain interests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Predicts placement readiness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Includes AI-driven assessment module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Generates domain-specific tests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Identifies strengths and weaknesses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Provides personalized feedback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Recommends relevant learning resources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Creates a day-wise improvement roadmap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Uses test performance and input data for analysis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24,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
        <p:nvSpPr>
          <p:cNvPr id="5" name="Rectangle 4"/>
          <p:cNvSpPr/>
          <p:nvPr/>
        </p:nvSpPr>
        <p:spPr>
          <a:xfrm>
            <a:off x="806898" y="451550"/>
            <a:ext cx="16940775" cy="823752"/>
          </a:xfrm>
          <a:prstGeom prst="rect">
            <a:avLst/>
          </a:prstGeom>
        </p:spPr>
        <p:txBody>
          <a:bodyPr wrap="square">
            <a:spAutoFit/>
          </a:bodyPr>
          <a:lstStyle/>
          <a:p>
            <a:pPr lvl="1" algn="ctr">
              <a:lnSpc>
                <a:spcPct val="150000"/>
              </a:lnSpc>
            </a:pPr>
            <a:r>
              <a:rPr lang="en-IN" sz="3600" b="1" dirty="0">
                <a:latin typeface="Times New Roman" panose="02020603050405020304" pitchFamily="18" charset="0"/>
                <a:cs typeface="Times New Roman" panose="02020603050405020304" pitchFamily="18" charset="0"/>
              </a:rPr>
              <a:t>OBJECTIVES</a:t>
            </a:r>
            <a:r>
              <a:rPr lang="en-IN" sz="2400" b="1" dirty="0">
                <a:latin typeface="Times New Roman" panose="02020603050405020304" pitchFamily="18" charset="0"/>
                <a:cs typeface="Times New Roman" panose="02020603050405020304" pitchFamily="18" charset="0"/>
              </a:rPr>
              <a:t>(</a:t>
            </a:r>
            <a:endParaRPr lang="en-IN" sz="36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8D6A0AB-9E2B-81B8-6CFB-D07BCDC04850}"/>
              </a:ext>
            </a:extLst>
          </p:cNvPr>
          <p:cNvSpPr txBox="1"/>
          <p:nvPr/>
        </p:nvSpPr>
        <p:spPr>
          <a:xfrm>
            <a:off x="1181084" y="1466006"/>
            <a:ext cx="11582400" cy="2677656"/>
          </a:xfrm>
          <a:prstGeom prst="rect">
            <a:avLst/>
          </a:prstGeom>
          <a:noFill/>
        </p:spPr>
        <p:txBody>
          <a:bodyPr wrap="square">
            <a:spAutoFit/>
          </a:bodyPr>
          <a:lstStyle/>
          <a:p>
            <a:pPr>
              <a:buNone/>
            </a:pPr>
            <a:r>
              <a:rPr lang="en-US" sz="2800" b="1" dirty="0"/>
              <a:t>Aim of the Project</a:t>
            </a:r>
          </a:p>
          <a:p>
            <a:pPr>
              <a:buFont typeface="Arial" panose="020B0604020202020204" pitchFamily="34" charset="0"/>
              <a:buChar char="•"/>
            </a:pPr>
            <a:r>
              <a:rPr lang="en-US" sz="2800" dirty="0"/>
              <a:t>To develop an AI-based system for predicting student placement readiness </a:t>
            </a:r>
          </a:p>
          <a:p>
            <a:pPr>
              <a:buFont typeface="Arial" panose="020B0604020202020204" pitchFamily="34" charset="0"/>
              <a:buChar char="•"/>
            </a:pPr>
            <a:r>
              <a:rPr lang="en-US" sz="2800" dirty="0"/>
              <a:t>To analyze academic performance, skills, and domain interests </a:t>
            </a:r>
          </a:p>
          <a:p>
            <a:pPr>
              <a:buFont typeface="Arial" panose="020B0604020202020204" pitchFamily="34" charset="0"/>
              <a:buChar char="•"/>
            </a:pPr>
            <a:r>
              <a:rPr lang="en-US" sz="2800" dirty="0"/>
              <a:t>To assess students using AI-generated domain-specific tests </a:t>
            </a:r>
          </a:p>
          <a:p>
            <a:pPr>
              <a:buFont typeface="Arial" panose="020B0604020202020204" pitchFamily="34" charset="0"/>
              <a:buChar char="•"/>
            </a:pPr>
            <a:r>
              <a:rPr lang="en-US" sz="2800" dirty="0"/>
              <a:t>To identify strengths and weaknesses of students </a:t>
            </a:r>
          </a:p>
          <a:p>
            <a:pPr>
              <a:buFont typeface="Arial" panose="020B0604020202020204" pitchFamily="34" charset="0"/>
              <a:buChar char="•"/>
            </a:pPr>
            <a:r>
              <a:rPr lang="en-US" sz="2800" dirty="0"/>
              <a:t>To provide personalized feedback and improvement strategies</a:t>
            </a:r>
          </a:p>
        </p:txBody>
      </p:sp>
      <p:sp>
        <p:nvSpPr>
          <p:cNvPr id="10" name="TextBox 9">
            <a:extLst>
              <a:ext uri="{FF2B5EF4-FFF2-40B4-BE49-F238E27FC236}">
                <a16:creationId xmlns:a16="http://schemas.microsoft.com/office/drawing/2014/main" id="{1C2D20A0-E5DD-3DAD-6479-D0E10D0A2C0B}"/>
              </a:ext>
            </a:extLst>
          </p:cNvPr>
          <p:cNvSpPr txBox="1"/>
          <p:nvPr/>
        </p:nvSpPr>
        <p:spPr>
          <a:xfrm>
            <a:off x="1181084" y="4804511"/>
            <a:ext cx="11016343" cy="2677656"/>
          </a:xfrm>
          <a:prstGeom prst="rect">
            <a:avLst/>
          </a:prstGeom>
          <a:noFill/>
        </p:spPr>
        <p:txBody>
          <a:bodyPr wrap="square">
            <a:spAutoFit/>
          </a:bodyPr>
          <a:lstStyle/>
          <a:p>
            <a:pPr>
              <a:buNone/>
            </a:pPr>
            <a:r>
              <a:rPr lang="en-US" sz="2800" b="1" dirty="0"/>
              <a:t>Scope of the Project</a:t>
            </a:r>
          </a:p>
          <a:p>
            <a:pPr>
              <a:buFont typeface="Arial" panose="020B0604020202020204" pitchFamily="34" charset="0"/>
              <a:buChar char="•"/>
            </a:pPr>
            <a:r>
              <a:rPr lang="en-US" sz="2800" dirty="0"/>
              <a:t>Applicable for students preparing for campus placements </a:t>
            </a:r>
          </a:p>
          <a:p>
            <a:pPr>
              <a:buFont typeface="Arial" panose="020B0604020202020204" pitchFamily="34" charset="0"/>
              <a:buChar char="•"/>
            </a:pPr>
            <a:r>
              <a:rPr lang="en-US" sz="2800" dirty="0"/>
              <a:t>Can be used by colleges and training institutions </a:t>
            </a:r>
          </a:p>
          <a:p>
            <a:pPr>
              <a:buFont typeface="Arial" panose="020B0604020202020204" pitchFamily="34" charset="0"/>
              <a:buChar char="•"/>
            </a:pPr>
            <a:r>
              <a:rPr lang="en-US" sz="2800" dirty="0"/>
              <a:t>Supports multiple domains (IT, core, etc.) </a:t>
            </a:r>
          </a:p>
          <a:p>
            <a:pPr>
              <a:buFont typeface="Arial" panose="020B0604020202020204" pitchFamily="34" charset="0"/>
              <a:buChar char="•"/>
            </a:pPr>
            <a:r>
              <a:rPr lang="en-US" sz="2800" dirty="0"/>
              <a:t>Provides real-time performance analysis and prediction </a:t>
            </a:r>
          </a:p>
          <a:p>
            <a:pPr>
              <a:buFont typeface="Arial" panose="020B0604020202020204" pitchFamily="34" charset="0"/>
              <a:buChar char="•"/>
            </a:pPr>
            <a:r>
              <a:rPr lang="en-US" sz="2800" dirty="0"/>
              <a:t>Helps in continuous skill assessment and improvement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24,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
        <p:nvSpPr>
          <p:cNvPr id="8" name="Rectangle 7"/>
          <p:cNvSpPr/>
          <p:nvPr/>
        </p:nvSpPr>
        <p:spPr>
          <a:xfrm>
            <a:off x="5563955" y="698561"/>
            <a:ext cx="6635343" cy="646331"/>
          </a:xfrm>
          <a:prstGeom prst="rect">
            <a:avLst/>
          </a:prstGeom>
        </p:spPr>
        <p:txBody>
          <a:bodyPr wrap="none">
            <a:spAutoFit/>
          </a:bodyPr>
          <a:lstStyle/>
          <a:p>
            <a:r>
              <a:rPr lang="en-IN" sz="3600" b="1" dirty="0">
                <a:latin typeface="Times New Roman" panose="02020603050405020304" pitchFamily="18" charset="0"/>
                <a:cs typeface="Times New Roman" panose="02020603050405020304" pitchFamily="18" charset="0"/>
              </a:rPr>
              <a:t>TIMELINE OF THE PROJECT</a:t>
            </a:r>
            <a:endParaRPr lang="en-IN" sz="3600" dirty="0"/>
          </a:p>
        </p:txBody>
      </p:sp>
      <p:pic>
        <p:nvPicPr>
          <p:cNvPr id="5" name="table">
            <a:extLst>
              <a:ext uri="{FF2B5EF4-FFF2-40B4-BE49-F238E27FC236}">
                <a16:creationId xmlns:a16="http://schemas.microsoft.com/office/drawing/2014/main" id="{5E68E2F3-15E9-8B8A-3E56-3B1DAE35D933}"/>
              </a:ext>
            </a:extLst>
          </p:cNvPr>
          <p:cNvPicPr>
            <a:picLocks noChangeAspect="1"/>
          </p:cNvPicPr>
          <p:nvPr/>
        </p:nvPicPr>
        <p:blipFill>
          <a:blip r:embed="rId3"/>
          <a:stretch>
            <a:fillRect/>
          </a:stretch>
        </p:blipFill>
        <p:spPr>
          <a:xfrm>
            <a:off x="3333240" y="2552744"/>
            <a:ext cx="10643653" cy="518151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24,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
        <p:nvSpPr>
          <p:cNvPr id="5" name="Rectangle 4"/>
          <p:cNvSpPr/>
          <p:nvPr/>
        </p:nvSpPr>
        <p:spPr>
          <a:xfrm>
            <a:off x="257755" y="347641"/>
            <a:ext cx="17739300" cy="823752"/>
          </a:xfrm>
          <a:prstGeom prst="rect">
            <a:avLst/>
          </a:prstGeom>
        </p:spPr>
        <p:txBody>
          <a:bodyPr wrap="square">
            <a:spAutoFit/>
          </a:bodyPr>
          <a:lstStyle/>
          <a:p>
            <a:pPr lvl="1" algn="ctr">
              <a:lnSpc>
                <a:spcPct val="150000"/>
              </a:lnSpc>
            </a:pPr>
            <a:r>
              <a:rPr lang="en-IN" sz="3600" b="1" dirty="0">
                <a:latin typeface="Times New Roman" panose="02020603050405020304" pitchFamily="18" charset="0"/>
                <a:cs typeface="Times New Roman" panose="02020603050405020304" pitchFamily="18" charset="0"/>
              </a:rPr>
              <a:t>INTRODUCTION</a:t>
            </a:r>
          </a:p>
        </p:txBody>
      </p:sp>
      <p:sp>
        <p:nvSpPr>
          <p:cNvPr id="7" name="Rectangle 1">
            <a:extLst>
              <a:ext uri="{FF2B5EF4-FFF2-40B4-BE49-F238E27FC236}">
                <a16:creationId xmlns:a16="http://schemas.microsoft.com/office/drawing/2014/main" id="{044738DA-D576-9B71-E598-49D5C76C2064}"/>
              </a:ext>
            </a:extLst>
          </p:cNvPr>
          <p:cNvSpPr>
            <a:spLocks noChangeArrowheads="1"/>
          </p:cNvSpPr>
          <p:nvPr/>
        </p:nvSpPr>
        <p:spPr bwMode="auto">
          <a:xfrm>
            <a:off x="731784" y="2440472"/>
            <a:ext cx="17556216"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“What if an AI system could predict your placement success and guide you step-by-step to achieve it?”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The project focuses on building an </a:t>
            </a:r>
            <a:r>
              <a:rPr kumimoji="0" lang="en-US" altLang="en-US" sz="2400" b="1" i="0" u="none" strike="noStrike" cap="none" normalizeH="0" baseline="0" dirty="0">
                <a:ln>
                  <a:noFill/>
                </a:ln>
                <a:solidFill>
                  <a:schemeClr val="tx1"/>
                </a:solidFill>
                <a:effectLst/>
                <a:latin typeface="Arial" panose="020B0604020202020204" pitchFamily="34" charset="0"/>
              </a:rPr>
              <a:t>AI-Powered Student Performance and Placement Readiness System</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Designed to bridge the gap between </a:t>
            </a:r>
            <a:r>
              <a:rPr kumimoji="0" lang="en-US" altLang="en-US" sz="2400" b="1" i="0" u="none" strike="noStrike" cap="none" normalizeH="0" baseline="0" dirty="0">
                <a:ln>
                  <a:noFill/>
                </a:ln>
                <a:solidFill>
                  <a:schemeClr val="tx1"/>
                </a:solidFill>
                <a:effectLst/>
                <a:latin typeface="Arial" panose="020B0604020202020204" pitchFamily="34" charset="0"/>
              </a:rPr>
              <a:t>academic learning and industry requirements</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Traditional systems only evaluate marks, but this system goes further by analyzing </a:t>
            </a:r>
            <a:r>
              <a:rPr kumimoji="0" lang="en-US" altLang="en-US" sz="2400" b="1" i="0" u="none" strike="noStrike" cap="none" normalizeH="0" baseline="0" dirty="0">
                <a:ln>
                  <a:noFill/>
                </a:ln>
                <a:solidFill>
                  <a:schemeClr val="tx1"/>
                </a:solidFill>
                <a:effectLst/>
                <a:latin typeface="Arial" panose="020B0604020202020204" pitchFamily="34" charset="0"/>
              </a:rPr>
              <a:t>skills, interests, and practical knowledge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Uses AI to generate </a:t>
            </a:r>
            <a:r>
              <a:rPr kumimoji="0" lang="en-US" altLang="en-US" sz="2400" b="1" i="0" u="none" strike="noStrike" cap="none" normalizeH="0" baseline="0" dirty="0">
                <a:ln>
                  <a:noFill/>
                </a:ln>
                <a:solidFill>
                  <a:schemeClr val="tx1"/>
                </a:solidFill>
                <a:effectLst/>
                <a:latin typeface="Arial" panose="020B0604020202020204" pitchFamily="34" charset="0"/>
              </a:rPr>
              <a:t>domain-specific tests</a:t>
            </a:r>
            <a:r>
              <a:rPr kumimoji="0" lang="en-US" altLang="en-US" sz="2400" b="0" i="0" u="none" strike="noStrike" cap="none" normalizeH="0" baseline="0" dirty="0">
                <a:ln>
                  <a:noFill/>
                </a:ln>
                <a:solidFill>
                  <a:schemeClr val="tx1"/>
                </a:solidFill>
                <a:effectLst/>
                <a:latin typeface="Arial" panose="020B0604020202020204" pitchFamily="34" charset="0"/>
              </a:rPr>
              <a:t> to assess real understanding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Provides </a:t>
            </a:r>
            <a:r>
              <a:rPr kumimoji="0" lang="en-US" altLang="en-US" sz="2400" b="1" i="0" u="none" strike="noStrike" cap="none" normalizeH="0" baseline="0" dirty="0">
                <a:ln>
                  <a:noFill/>
                </a:ln>
                <a:solidFill>
                  <a:schemeClr val="tx1"/>
                </a:solidFill>
                <a:effectLst/>
                <a:latin typeface="Arial" panose="020B0604020202020204" pitchFamily="34" charset="0"/>
              </a:rPr>
              <a:t>personalized feedback</a:t>
            </a:r>
            <a:r>
              <a:rPr kumimoji="0" lang="en-US" altLang="en-US" sz="2400" b="0" i="0" u="none" strike="noStrike" cap="none" normalizeH="0" baseline="0" dirty="0">
                <a:ln>
                  <a:noFill/>
                </a:ln>
                <a:solidFill>
                  <a:schemeClr val="tx1"/>
                </a:solidFill>
                <a:effectLst/>
                <a:latin typeface="Arial" panose="020B0604020202020204" pitchFamily="34" charset="0"/>
              </a:rPr>
              <a:t> instead of generic evaluation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24,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
        <p:nvSpPr>
          <p:cNvPr id="5" name="Rectangle 4"/>
          <p:cNvSpPr/>
          <p:nvPr/>
        </p:nvSpPr>
        <p:spPr>
          <a:xfrm>
            <a:off x="553667" y="576241"/>
            <a:ext cx="16861497" cy="823752"/>
          </a:xfrm>
          <a:prstGeom prst="rect">
            <a:avLst/>
          </a:prstGeom>
        </p:spPr>
        <p:txBody>
          <a:bodyPr wrap="square">
            <a:spAutoFit/>
          </a:bodyPr>
          <a:lstStyle/>
          <a:p>
            <a:pPr lvl="1" algn="ctr">
              <a:lnSpc>
                <a:spcPct val="150000"/>
              </a:lnSpc>
            </a:pPr>
            <a:r>
              <a:rPr lang="en-IN" sz="3600" b="1" dirty="0">
                <a:latin typeface="Times New Roman" panose="02020603050405020304" pitchFamily="18" charset="0"/>
                <a:cs typeface="Times New Roman" panose="02020603050405020304" pitchFamily="18" charset="0"/>
              </a:rPr>
              <a:t>LITERATURE REVIEW</a:t>
            </a:r>
          </a:p>
        </p:txBody>
      </p:sp>
      <p:graphicFrame>
        <p:nvGraphicFramePr>
          <p:cNvPr id="9" name="Table 8"/>
          <p:cNvGraphicFramePr>
            <a:graphicFrameLocks noGrp="1"/>
          </p:cNvGraphicFramePr>
          <p:nvPr>
            <p:extLst>
              <p:ext uri="{D42A27DB-BD31-4B8C-83A1-F6EECF244321}">
                <p14:modId xmlns:p14="http://schemas.microsoft.com/office/powerpoint/2010/main" val="2411312402"/>
              </p:ext>
            </p:extLst>
          </p:nvPr>
        </p:nvGraphicFramePr>
        <p:xfrm>
          <a:off x="457199" y="1760349"/>
          <a:ext cx="16957965" cy="6445151"/>
        </p:xfrm>
        <a:graphic>
          <a:graphicData uri="http://schemas.openxmlformats.org/drawingml/2006/table">
            <a:tbl>
              <a:tblPr firstRow="1" bandRow="1">
                <a:tableStyleId>{5C22544A-7EE6-4342-B048-85BDC9FD1C3A}</a:tableStyleId>
              </a:tblPr>
              <a:tblGrid>
                <a:gridCol w="1143002">
                  <a:extLst>
                    <a:ext uri="{9D8B030D-6E8A-4147-A177-3AD203B41FA5}">
                      <a16:colId xmlns:a16="http://schemas.microsoft.com/office/drawing/2014/main" val="20000"/>
                    </a:ext>
                  </a:extLst>
                </a:gridCol>
                <a:gridCol w="5640184">
                  <a:extLst>
                    <a:ext uri="{9D8B030D-6E8A-4147-A177-3AD203B41FA5}">
                      <a16:colId xmlns:a16="http://schemas.microsoft.com/office/drawing/2014/main" val="20001"/>
                    </a:ext>
                  </a:extLst>
                </a:gridCol>
                <a:gridCol w="3391593">
                  <a:extLst>
                    <a:ext uri="{9D8B030D-6E8A-4147-A177-3AD203B41FA5}">
                      <a16:colId xmlns:a16="http://schemas.microsoft.com/office/drawing/2014/main" val="20002"/>
                    </a:ext>
                  </a:extLst>
                </a:gridCol>
                <a:gridCol w="3391593">
                  <a:extLst>
                    <a:ext uri="{9D8B030D-6E8A-4147-A177-3AD203B41FA5}">
                      <a16:colId xmlns:a16="http://schemas.microsoft.com/office/drawing/2014/main" val="20003"/>
                    </a:ext>
                  </a:extLst>
                </a:gridCol>
                <a:gridCol w="3391593">
                  <a:extLst>
                    <a:ext uri="{9D8B030D-6E8A-4147-A177-3AD203B41FA5}">
                      <a16:colId xmlns:a16="http://schemas.microsoft.com/office/drawing/2014/main" val="20004"/>
                    </a:ext>
                  </a:extLst>
                </a:gridCol>
              </a:tblGrid>
              <a:tr h="1735991">
                <a:tc>
                  <a:txBody>
                    <a:bodyPr/>
                    <a:lstStyle/>
                    <a:p>
                      <a:pPr algn="ctr"/>
                      <a:r>
                        <a:rPr lang="en-IN" sz="3200" dirty="0" err="1"/>
                        <a:t>Sl.No</a:t>
                      </a:r>
                      <a:endParaRPr lang="en-IN" sz="3200" dirty="0"/>
                    </a:p>
                  </a:txBody>
                  <a:tcPr/>
                </a:tc>
                <a:tc>
                  <a:txBody>
                    <a:bodyPr/>
                    <a:lstStyle/>
                    <a:p>
                      <a:pPr algn="ctr"/>
                      <a:r>
                        <a:rPr lang="en-IN" sz="3200" dirty="0"/>
                        <a:t>Author’s Name</a:t>
                      </a:r>
                    </a:p>
                  </a:txBody>
                  <a:tcPr/>
                </a:tc>
                <a:tc>
                  <a:txBody>
                    <a:bodyPr/>
                    <a:lstStyle/>
                    <a:p>
                      <a:pPr algn="ctr"/>
                      <a:r>
                        <a:rPr lang="en-IN" sz="3200" dirty="0"/>
                        <a:t>Paper name and</a:t>
                      </a:r>
                      <a:r>
                        <a:rPr lang="en-IN" sz="3200" baseline="0" dirty="0"/>
                        <a:t> publication details</a:t>
                      </a:r>
                      <a:endParaRPr lang="en-IN" sz="3200" dirty="0"/>
                    </a:p>
                  </a:txBody>
                  <a:tcPr/>
                </a:tc>
                <a:tc>
                  <a:txBody>
                    <a:bodyPr/>
                    <a:lstStyle/>
                    <a:p>
                      <a:pPr algn="ctr"/>
                      <a:r>
                        <a:rPr lang="en-IN" sz="3200" dirty="0"/>
                        <a:t>Year </a:t>
                      </a:r>
                      <a:r>
                        <a:rPr lang="en-IN" sz="3200" baseline="0" dirty="0"/>
                        <a:t> of publication</a:t>
                      </a:r>
                      <a:endParaRPr lang="en-IN" sz="3200" dirty="0"/>
                    </a:p>
                  </a:txBody>
                  <a:tcPr/>
                </a:tc>
                <a:tc>
                  <a:txBody>
                    <a:bodyPr/>
                    <a:lstStyle/>
                    <a:p>
                      <a:pPr algn="ctr"/>
                      <a:r>
                        <a:rPr lang="en-IN" sz="3200" dirty="0"/>
                        <a:t>Main content of the paper</a:t>
                      </a:r>
                    </a:p>
                  </a:txBody>
                  <a:tcPr/>
                </a:tc>
                <a:extLst>
                  <a:ext uri="{0D108BD9-81ED-4DB2-BD59-A6C34878D82A}">
                    <a16:rowId xmlns:a16="http://schemas.microsoft.com/office/drawing/2014/main" val="10000"/>
                  </a:ext>
                </a:extLst>
              </a:tr>
              <a:tr h="818396">
                <a:tc>
                  <a:txBody>
                    <a:bodyPr/>
                    <a:lstStyle/>
                    <a:p>
                      <a:r>
                        <a:rPr lang="en-IN" dirty="0"/>
                        <a:t>1</a:t>
                      </a:r>
                    </a:p>
                  </a:txBody>
                  <a:tcPr/>
                </a:tc>
                <a:tc>
                  <a:txBody>
                    <a:bodyPr/>
                    <a:lstStyle/>
                    <a:p>
                      <a:r>
                        <a:rPr lang="en-US" dirty="0"/>
                        <a:t>A. Kumar, R. Singh</a:t>
                      </a:r>
                      <a:endParaRPr lang="en-IN" dirty="0"/>
                    </a:p>
                  </a:txBody>
                  <a:tcPr/>
                </a:tc>
                <a:tc>
                  <a:txBody>
                    <a:bodyPr/>
                    <a:lstStyle/>
                    <a:p>
                      <a:r>
                        <a:rPr lang="en-US" i="1" dirty="0"/>
                        <a:t>Student Performance Prediction Using Machine Learning</a:t>
                      </a:r>
                      <a:r>
                        <a:rPr lang="en-US" dirty="0"/>
                        <a:t>, IEEE Conference on AI &amp; Data Science</a:t>
                      </a:r>
                      <a:endParaRPr lang="en-IN" dirty="0"/>
                    </a:p>
                  </a:txBody>
                  <a:tcPr/>
                </a:tc>
                <a:tc>
                  <a:txBody>
                    <a:bodyPr/>
                    <a:lstStyle/>
                    <a:p>
                      <a:r>
                        <a:rPr lang="en-US" dirty="0"/>
                        <a:t>2019</a:t>
                      </a:r>
                      <a:endParaRPr lang="en-IN" dirty="0"/>
                    </a:p>
                  </a:txBody>
                  <a:tcPr/>
                </a:tc>
                <a:tc>
                  <a:txBody>
                    <a:bodyPr/>
                    <a:lstStyle/>
                    <a:p>
                      <a:r>
                        <a:rPr lang="en-US" dirty="0"/>
                        <a:t>Uses ML algorithms to predict student academic performance based on past data</a:t>
                      </a:r>
                      <a:endParaRPr lang="en-IN" dirty="0"/>
                    </a:p>
                  </a:txBody>
                  <a:tcPr/>
                </a:tc>
                <a:extLst>
                  <a:ext uri="{0D108BD9-81ED-4DB2-BD59-A6C34878D82A}">
                    <a16:rowId xmlns:a16="http://schemas.microsoft.com/office/drawing/2014/main" val="10001"/>
                  </a:ext>
                </a:extLst>
              </a:tr>
              <a:tr h="818396">
                <a:tc>
                  <a:txBody>
                    <a:bodyPr/>
                    <a:lstStyle/>
                    <a:p>
                      <a:r>
                        <a:rPr lang="en-IN" dirty="0"/>
                        <a:t>2</a:t>
                      </a:r>
                    </a:p>
                  </a:txBody>
                  <a:tcPr/>
                </a:tc>
                <a:tc>
                  <a:txBody>
                    <a:bodyPr/>
                    <a:lstStyle/>
                    <a:p>
                      <a:pPr>
                        <a:buNone/>
                      </a:pPr>
                      <a:r>
                        <a:rPr lang="en-US" dirty="0"/>
                        <a:t>S. Patel, M. Shah</a:t>
                      </a:r>
                    </a:p>
                  </a:txBody>
                  <a:tcPr anchor="ctr"/>
                </a:tc>
                <a:tc>
                  <a:txBody>
                    <a:bodyPr/>
                    <a:lstStyle/>
                    <a:p>
                      <a:r>
                        <a:rPr lang="en-US" i="1" dirty="0"/>
                        <a:t>An Intelligent System for Placement Prediction</a:t>
                      </a:r>
                      <a:r>
                        <a:rPr lang="en-US" dirty="0"/>
                        <a:t>, IEEE International Conference on Computing</a:t>
                      </a:r>
                      <a:endParaRPr lang="en-IN" dirty="0"/>
                    </a:p>
                  </a:txBody>
                  <a:tcPr/>
                </a:tc>
                <a:tc>
                  <a:txBody>
                    <a:bodyPr/>
                    <a:lstStyle/>
                    <a:p>
                      <a:r>
                        <a:rPr lang="en-US" dirty="0"/>
                        <a:t>2020</a:t>
                      </a:r>
                      <a:endParaRPr lang="en-IN" dirty="0"/>
                    </a:p>
                  </a:txBody>
                  <a:tcPr/>
                </a:tc>
                <a:tc>
                  <a:txBody>
                    <a:bodyPr/>
                    <a:lstStyle/>
                    <a:p>
                      <a:r>
                        <a:rPr lang="en-US" dirty="0"/>
                        <a:t>Predicts placement chances using student skills, grades, and aptitude scores</a:t>
                      </a:r>
                      <a:endParaRPr lang="en-IN" dirty="0"/>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308263-5782-0D57-BDBD-DA7AA87ED351}"/>
              </a:ext>
            </a:extLst>
          </p:cNvPr>
          <p:cNvSpPr>
            <a:spLocks noGrp="1"/>
          </p:cNvSpPr>
          <p:nvPr>
            <p:ph type="dt" sz="half" idx="10"/>
          </p:nvPr>
        </p:nvSpPr>
        <p:spPr/>
        <p:txBody>
          <a:bodyPr/>
          <a:lstStyle/>
          <a:p>
            <a:fld id="{84B1D917-16EA-4D69-8845-9832B0C2F6AA}" type="datetime4">
              <a:rPr lang="en-US" smtClean="0"/>
              <a:t>April 24, 2026</a:t>
            </a:fld>
            <a:endParaRPr lang="en-US"/>
          </a:p>
        </p:txBody>
      </p:sp>
      <p:sp>
        <p:nvSpPr>
          <p:cNvPr id="3" name="Footer Placeholder 2">
            <a:extLst>
              <a:ext uri="{FF2B5EF4-FFF2-40B4-BE49-F238E27FC236}">
                <a16:creationId xmlns:a16="http://schemas.microsoft.com/office/drawing/2014/main" id="{30EB6876-03E5-3BE5-685F-F0B1362C9792}"/>
              </a:ext>
            </a:extLst>
          </p:cNvPr>
          <p:cNvSpPr>
            <a:spLocks noGrp="1"/>
          </p:cNvSpPr>
          <p:nvPr>
            <p:ph type="ftr" sz="quarter" idx="11"/>
          </p:nvPr>
        </p:nvSpPr>
        <p:spPr/>
        <p:txBody>
          <a:bodyPr/>
          <a:lstStyle/>
          <a:p>
            <a:r>
              <a:rPr lang="en-IN"/>
              <a:t>DEPARTMENT OF COMPUTER SCIENCE &amp; ENGINEERING   / PROJECT TITLE</a:t>
            </a:r>
          </a:p>
        </p:txBody>
      </p:sp>
      <p:sp>
        <p:nvSpPr>
          <p:cNvPr id="4" name="Slide Number Placeholder 3">
            <a:extLst>
              <a:ext uri="{FF2B5EF4-FFF2-40B4-BE49-F238E27FC236}">
                <a16:creationId xmlns:a16="http://schemas.microsoft.com/office/drawing/2014/main" id="{BF3E61CA-D11D-8D1E-A151-20D31866BDC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graphicFrame>
        <p:nvGraphicFramePr>
          <p:cNvPr id="5" name="Table 4">
            <a:extLst>
              <a:ext uri="{FF2B5EF4-FFF2-40B4-BE49-F238E27FC236}">
                <a16:creationId xmlns:a16="http://schemas.microsoft.com/office/drawing/2014/main" id="{CFB7EAA3-3D51-E9C9-B631-C5F5A709E14D}"/>
              </a:ext>
            </a:extLst>
          </p:cNvPr>
          <p:cNvGraphicFramePr>
            <a:graphicFrameLocks noGrp="1"/>
          </p:cNvGraphicFramePr>
          <p:nvPr>
            <p:extLst>
              <p:ext uri="{D42A27DB-BD31-4B8C-83A1-F6EECF244321}">
                <p14:modId xmlns:p14="http://schemas.microsoft.com/office/powerpoint/2010/main" val="4138228883"/>
              </p:ext>
            </p:extLst>
          </p:nvPr>
        </p:nvGraphicFramePr>
        <p:xfrm>
          <a:off x="457199" y="1760349"/>
          <a:ext cx="16957965" cy="5622191"/>
        </p:xfrm>
        <a:graphic>
          <a:graphicData uri="http://schemas.openxmlformats.org/drawingml/2006/table">
            <a:tbl>
              <a:tblPr firstRow="1" bandRow="1">
                <a:tableStyleId>{5C22544A-7EE6-4342-B048-85BDC9FD1C3A}</a:tableStyleId>
              </a:tblPr>
              <a:tblGrid>
                <a:gridCol w="1143002">
                  <a:extLst>
                    <a:ext uri="{9D8B030D-6E8A-4147-A177-3AD203B41FA5}">
                      <a16:colId xmlns:a16="http://schemas.microsoft.com/office/drawing/2014/main" val="20000"/>
                    </a:ext>
                  </a:extLst>
                </a:gridCol>
                <a:gridCol w="5640184">
                  <a:extLst>
                    <a:ext uri="{9D8B030D-6E8A-4147-A177-3AD203B41FA5}">
                      <a16:colId xmlns:a16="http://schemas.microsoft.com/office/drawing/2014/main" val="20001"/>
                    </a:ext>
                  </a:extLst>
                </a:gridCol>
                <a:gridCol w="3391593">
                  <a:extLst>
                    <a:ext uri="{9D8B030D-6E8A-4147-A177-3AD203B41FA5}">
                      <a16:colId xmlns:a16="http://schemas.microsoft.com/office/drawing/2014/main" val="20002"/>
                    </a:ext>
                  </a:extLst>
                </a:gridCol>
                <a:gridCol w="3391593">
                  <a:extLst>
                    <a:ext uri="{9D8B030D-6E8A-4147-A177-3AD203B41FA5}">
                      <a16:colId xmlns:a16="http://schemas.microsoft.com/office/drawing/2014/main" val="20003"/>
                    </a:ext>
                  </a:extLst>
                </a:gridCol>
                <a:gridCol w="3391593">
                  <a:extLst>
                    <a:ext uri="{9D8B030D-6E8A-4147-A177-3AD203B41FA5}">
                      <a16:colId xmlns:a16="http://schemas.microsoft.com/office/drawing/2014/main" val="20004"/>
                    </a:ext>
                  </a:extLst>
                </a:gridCol>
              </a:tblGrid>
              <a:tr h="1735991">
                <a:tc>
                  <a:txBody>
                    <a:bodyPr/>
                    <a:lstStyle/>
                    <a:p>
                      <a:pPr algn="ctr"/>
                      <a:r>
                        <a:rPr lang="en-IN" sz="3200" dirty="0" err="1"/>
                        <a:t>Sl.No</a:t>
                      </a:r>
                      <a:endParaRPr lang="en-IN" sz="3200" dirty="0"/>
                    </a:p>
                  </a:txBody>
                  <a:tcPr/>
                </a:tc>
                <a:tc>
                  <a:txBody>
                    <a:bodyPr/>
                    <a:lstStyle/>
                    <a:p>
                      <a:pPr algn="ctr"/>
                      <a:r>
                        <a:rPr lang="en-IN" sz="3200" dirty="0"/>
                        <a:t>Author’s Name</a:t>
                      </a:r>
                    </a:p>
                  </a:txBody>
                  <a:tcPr/>
                </a:tc>
                <a:tc>
                  <a:txBody>
                    <a:bodyPr/>
                    <a:lstStyle/>
                    <a:p>
                      <a:pPr algn="ctr"/>
                      <a:r>
                        <a:rPr lang="en-IN" sz="3200" dirty="0"/>
                        <a:t>Paper name and</a:t>
                      </a:r>
                      <a:r>
                        <a:rPr lang="en-IN" sz="3200" baseline="0" dirty="0"/>
                        <a:t> publication details</a:t>
                      </a:r>
                      <a:endParaRPr lang="en-IN" sz="3200" dirty="0"/>
                    </a:p>
                  </a:txBody>
                  <a:tcPr/>
                </a:tc>
                <a:tc>
                  <a:txBody>
                    <a:bodyPr/>
                    <a:lstStyle/>
                    <a:p>
                      <a:pPr algn="ctr"/>
                      <a:r>
                        <a:rPr lang="en-IN" sz="3200" dirty="0"/>
                        <a:t>Year </a:t>
                      </a:r>
                      <a:r>
                        <a:rPr lang="en-IN" sz="3200" baseline="0" dirty="0"/>
                        <a:t> of publication</a:t>
                      </a:r>
                      <a:endParaRPr lang="en-IN" sz="3200" dirty="0"/>
                    </a:p>
                  </a:txBody>
                  <a:tcPr/>
                </a:tc>
                <a:tc>
                  <a:txBody>
                    <a:bodyPr/>
                    <a:lstStyle/>
                    <a:p>
                      <a:pPr algn="ctr"/>
                      <a:r>
                        <a:rPr lang="en-IN" sz="3200" dirty="0"/>
                        <a:t>Main content of the paper</a:t>
                      </a:r>
                    </a:p>
                  </a:txBody>
                  <a:tcPr/>
                </a:tc>
                <a:extLst>
                  <a:ext uri="{0D108BD9-81ED-4DB2-BD59-A6C34878D82A}">
                    <a16:rowId xmlns:a16="http://schemas.microsoft.com/office/drawing/2014/main" val="10000"/>
                  </a:ext>
                </a:extLst>
              </a:tr>
              <a:tr h="818396">
                <a:tc>
                  <a:txBody>
                    <a:bodyPr/>
                    <a:lstStyle/>
                    <a:p>
                      <a:r>
                        <a:rPr lang="en-IN" dirty="0"/>
                        <a:t>3</a:t>
                      </a:r>
                    </a:p>
                  </a:txBody>
                  <a:tcPr/>
                </a:tc>
                <a:tc>
                  <a:txBody>
                    <a:bodyPr/>
                    <a:lstStyle/>
                    <a:p>
                      <a:r>
                        <a:rPr lang="en-US" dirty="0"/>
                        <a:t>J. Lee, K. Park</a:t>
                      </a:r>
                      <a:endParaRPr lang="en-IN" dirty="0"/>
                    </a:p>
                  </a:txBody>
                  <a:tcPr/>
                </a:tc>
                <a:tc>
                  <a:txBody>
                    <a:bodyPr/>
                    <a:lstStyle/>
                    <a:p>
                      <a:r>
                        <a:rPr lang="en-US" i="1" dirty="0"/>
                        <a:t>AI-Based Adaptive Learning and Assessment System</a:t>
                      </a:r>
                      <a:r>
                        <a:rPr lang="en-US" dirty="0"/>
                        <a:t>, IEEE Access Journal</a:t>
                      </a:r>
                      <a:endParaRPr lang="en-IN" dirty="0"/>
                    </a:p>
                  </a:txBody>
                  <a:tcPr/>
                </a:tc>
                <a:tc>
                  <a:txBody>
                    <a:bodyPr/>
                    <a:lstStyle/>
                    <a:p>
                      <a:r>
                        <a:rPr lang="en-US" dirty="0"/>
                        <a:t>2021</a:t>
                      </a:r>
                      <a:endParaRPr lang="en-IN" dirty="0"/>
                    </a:p>
                  </a:txBody>
                  <a:tcPr/>
                </a:tc>
                <a:tc>
                  <a:txBody>
                    <a:bodyPr/>
                    <a:lstStyle/>
                    <a:p>
                      <a:r>
                        <a:rPr lang="en-US" dirty="0"/>
                        <a:t>Introduces AI-driven tests and personalized learning recommendations</a:t>
                      </a:r>
                      <a:endParaRPr lang="en-IN" dirty="0"/>
                    </a:p>
                  </a:txBody>
                  <a:tcPr/>
                </a:tc>
                <a:extLst>
                  <a:ext uri="{0D108BD9-81ED-4DB2-BD59-A6C34878D82A}">
                    <a16:rowId xmlns:a16="http://schemas.microsoft.com/office/drawing/2014/main" val="10001"/>
                  </a:ext>
                </a:extLst>
              </a:tr>
              <a:tr h="818396">
                <a:tc>
                  <a:txBody>
                    <a:bodyPr/>
                    <a:lstStyle/>
                    <a:p>
                      <a:r>
                        <a:rPr lang="en-IN" dirty="0"/>
                        <a:t>4</a:t>
                      </a:r>
                    </a:p>
                  </a:txBody>
                  <a:tcPr/>
                </a:tc>
                <a:tc>
                  <a:txBody>
                    <a:bodyPr/>
                    <a:lstStyle/>
                    <a:p>
                      <a:pPr>
                        <a:buNone/>
                      </a:pPr>
                      <a:r>
                        <a:rPr lang="en-US" dirty="0"/>
                        <a:t>P. Verma, S. Gupta</a:t>
                      </a:r>
                    </a:p>
                  </a:txBody>
                  <a:tcPr anchor="ctr"/>
                </a:tc>
                <a:tc>
                  <a:txBody>
                    <a:bodyPr/>
                    <a:lstStyle/>
                    <a:p>
                      <a:r>
                        <a:rPr lang="en-US" i="1" dirty="0"/>
                        <a:t>Cloud-Based Student Analytics System for Career Guidance</a:t>
                      </a:r>
                      <a:r>
                        <a:rPr lang="en-US" dirty="0"/>
                        <a:t>, IEEE Cloud Computing Conference</a:t>
                      </a:r>
                      <a:endParaRPr lang="en-IN" dirty="0"/>
                    </a:p>
                  </a:txBody>
                  <a:tcPr/>
                </a:tc>
                <a:tc>
                  <a:txBody>
                    <a:bodyPr/>
                    <a:lstStyle/>
                    <a:p>
                      <a:r>
                        <a:rPr lang="en-US" dirty="0"/>
                        <a:t>2023</a:t>
                      </a:r>
                      <a:endParaRPr lang="en-IN" dirty="0"/>
                    </a:p>
                  </a:txBody>
                  <a:tcPr/>
                </a:tc>
                <a:tc>
                  <a:txBody>
                    <a:bodyPr/>
                    <a:lstStyle/>
                    <a:p>
                      <a:r>
                        <a:rPr lang="en-US" dirty="0"/>
                        <a:t>Uses cloud storage and analytics to track student progress and suggest career paths</a:t>
                      </a:r>
                      <a:endParaRPr lang="en-IN"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874620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24,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
        <p:nvSpPr>
          <p:cNvPr id="6" name="Rectangle 5"/>
          <p:cNvSpPr/>
          <p:nvPr/>
        </p:nvSpPr>
        <p:spPr>
          <a:xfrm>
            <a:off x="801060" y="698561"/>
            <a:ext cx="16988176" cy="2985433"/>
          </a:xfrm>
          <a:prstGeom prst="rect">
            <a:avLst/>
          </a:prstGeom>
        </p:spPr>
        <p:txBody>
          <a:bodyPr wrap="square">
            <a:spAutoFit/>
          </a:bodyPr>
          <a:lstStyle/>
          <a:p>
            <a:r>
              <a:rPr lang="en-US" sz="3600" b="1" dirty="0">
                <a:latin typeface="Times New Roman" panose="02020603050405020304" pitchFamily="18" charset="0"/>
                <a:cs typeface="Times New Roman" panose="02020603050405020304" pitchFamily="18" charset="0"/>
              </a:rPr>
              <a:t>                MODULE 1</a:t>
            </a:r>
            <a:r>
              <a:rPr lang="en-US" sz="4400" b="1" dirty="0">
                <a:latin typeface="Times New Roman" panose="02020603050405020304" pitchFamily="18" charset="0"/>
                <a:cs typeface="Times New Roman" panose="02020603050405020304" pitchFamily="18" charset="0"/>
              </a:rPr>
              <a:t>:</a:t>
            </a:r>
            <a:r>
              <a:rPr lang="en-US" sz="3200" b="1" dirty="0"/>
              <a:t> Student Input and Test Module </a:t>
            </a:r>
            <a:endParaRPr lang="en-US" b="1"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EB0A85F-1817-9D35-EAC7-52F5F97EF971}"/>
              </a:ext>
            </a:extLst>
          </p:cNvPr>
          <p:cNvSpPr txBox="1"/>
          <p:nvPr/>
        </p:nvSpPr>
        <p:spPr>
          <a:xfrm>
            <a:off x="1645921" y="2511910"/>
            <a:ext cx="15597050" cy="3539430"/>
          </a:xfrm>
          <a:prstGeom prst="rect">
            <a:avLst/>
          </a:prstGeom>
          <a:noFill/>
        </p:spPr>
        <p:txBody>
          <a:bodyPr wrap="square">
            <a:spAutoFit/>
          </a:bodyPr>
          <a:lstStyle/>
          <a:p>
            <a:r>
              <a:rPr lang="en-US" sz="2800" dirty="0"/>
              <a:t>This module is responsible for collecting student information and conducting assessment tests. </a:t>
            </a:r>
            <a:r>
              <a:rPr lang="en-US" sz="2800" dirty="0" err="1"/>
              <a:t>Itprovides</a:t>
            </a:r>
            <a:r>
              <a:rPr lang="en-US" sz="2800" dirty="0"/>
              <a:t> an interactive interface where students can enter their personal details, academic </a:t>
            </a:r>
            <a:r>
              <a:rPr lang="en-US" sz="2800" dirty="0" err="1"/>
              <a:t>background,skills</a:t>
            </a:r>
            <a:r>
              <a:rPr lang="en-US" sz="2800" dirty="0"/>
              <a:t>, and domain of interest. The module ensures proper validation of input data to maintain </a:t>
            </a:r>
            <a:r>
              <a:rPr lang="en-US" sz="2800" dirty="0" err="1"/>
              <a:t>accuracyand</a:t>
            </a:r>
            <a:r>
              <a:rPr lang="en-US" sz="2800" dirty="0"/>
              <a:t> </a:t>
            </a:r>
            <a:r>
              <a:rPr lang="en-US" sz="2800" dirty="0" err="1"/>
              <a:t>consistency.Once</a:t>
            </a:r>
            <a:r>
              <a:rPr lang="en-US" sz="2800" dirty="0"/>
              <a:t> the input is collected, the module interacts with the AI engine to generate domain-specific </a:t>
            </a:r>
            <a:r>
              <a:rPr lang="en-US" sz="2800" dirty="0" err="1"/>
              <a:t>testquestions</a:t>
            </a:r>
            <a:r>
              <a:rPr lang="en-US" sz="2800" dirty="0"/>
              <a:t>. These questions are displayed to the student in a structured format. The module </a:t>
            </a:r>
            <a:r>
              <a:rPr lang="en-US" sz="2800" dirty="0" err="1"/>
              <a:t>alsohandles</a:t>
            </a:r>
            <a:r>
              <a:rPr lang="en-US" sz="2800" dirty="0"/>
              <a:t> user interactions during the test, such as selecting answers and submitting </a:t>
            </a:r>
            <a:r>
              <a:rPr lang="en-US" sz="2800" dirty="0" err="1"/>
              <a:t>responses.The</a:t>
            </a:r>
            <a:r>
              <a:rPr lang="en-US" sz="2800" dirty="0"/>
              <a:t> design of this module focuses on usability and responsiveness, ensuring a smooth user </a:t>
            </a:r>
            <a:r>
              <a:rPr lang="en-US" sz="2800" dirty="0" err="1"/>
              <a:t>experience.It</a:t>
            </a:r>
            <a:r>
              <a:rPr lang="en-US" sz="2800" dirty="0"/>
              <a:t> acts as the entry point of the system and plays a crucial role in data collection and test execution.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24,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
        <p:nvSpPr>
          <p:cNvPr id="5" name="TextBox 4"/>
          <p:cNvSpPr txBox="1"/>
          <p:nvPr/>
        </p:nvSpPr>
        <p:spPr>
          <a:xfrm>
            <a:off x="789709" y="457200"/>
            <a:ext cx="16895618" cy="523220"/>
          </a:xfrm>
          <a:prstGeom prst="rect">
            <a:avLst/>
          </a:prstGeom>
          <a:noFill/>
        </p:spPr>
        <p:txBody>
          <a:bodyPr wrap="square" rtlCol="0">
            <a:spAutoFit/>
          </a:bodyPr>
          <a:lstStyle/>
          <a:p>
            <a:r>
              <a:rPr lang="en-IN" sz="2800" b="1" dirty="0"/>
              <a:t>                                                            Module 2- Evaluation and Analysis Module</a:t>
            </a:r>
            <a:endParaRPr lang="en-IN" dirty="0"/>
          </a:p>
        </p:txBody>
      </p:sp>
      <p:sp>
        <p:nvSpPr>
          <p:cNvPr id="7" name="TextBox 6">
            <a:extLst>
              <a:ext uri="{FF2B5EF4-FFF2-40B4-BE49-F238E27FC236}">
                <a16:creationId xmlns:a16="http://schemas.microsoft.com/office/drawing/2014/main" id="{1C729707-489F-BC57-0531-1B56095D4402}"/>
              </a:ext>
            </a:extLst>
          </p:cNvPr>
          <p:cNvSpPr txBox="1"/>
          <p:nvPr/>
        </p:nvSpPr>
        <p:spPr>
          <a:xfrm>
            <a:off x="1814285" y="2149065"/>
            <a:ext cx="12859657" cy="3539430"/>
          </a:xfrm>
          <a:prstGeom prst="rect">
            <a:avLst/>
          </a:prstGeom>
          <a:noFill/>
        </p:spPr>
        <p:txBody>
          <a:bodyPr wrap="square">
            <a:spAutoFit/>
          </a:bodyPr>
          <a:lstStyle/>
          <a:p>
            <a:r>
              <a:rPr lang="en-US" sz="3200" dirty="0"/>
              <a:t>This module is responsible for evaluating student responses and analyzing performance. It </a:t>
            </a:r>
            <a:r>
              <a:rPr lang="en-US" sz="3200" dirty="0" err="1"/>
              <a:t>processesthe</a:t>
            </a:r>
            <a:r>
              <a:rPr lang="en-US" sz="3200" dirty="0"/>
              <a:t> submitted answers and calculates the score based on the number of correct responses. The </a:t>
            </a:r>
            <a:r>
              <a:rPr lang="en-US" sz="3200" dirty="0" err="1"/>
              <a:t>evalu-ation</a:t>
            </a:r>
            <a:r>
              <a:rPr lang="en-US" sz="3200" dirty="0"/>
              <a:t> logic ensures accuracy and consistency in </a:t>
            </a:r>
            <a:r>
              <a:rPr lang="en-US" sz="3200" dirty="0" err="1"/>
              <a:t>scoring.After</a:t>
            </a:r>
            <a:r>
              <a:rPr lang="en-US" sz="3200" dirty="0"/>
              <a:t> calculating the score, the module sends the data to the AI engine for further analysis. The </a:t>
            </a:r>
            <a:r>
              <a:rPr lang="en-US" sz="3200" dirty="0" err="1"/>
              <a:t>AIengine</a:t>
            </a:r>
            <a:r>
              <a:rPr lang="en-US" sz="3200" dirty="0"/>
              <a:t> identifies weak areas and strengths by analyzing the performance data. This module plays acritical role in transforming raw data into meaningful insights.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24,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
        <p:nvSpPr>
          <p:cNvPr id="5" name="Rectangle 4"/>
          <p:cNvSpPr/>
          <p:nvPr/>
        </p:nvSpPr>
        <p:spPr>
          <a:xfrm>
            <a:off x="498764" y="768927"/>
            <a:ext cx="16521545" cy="646331"/>
          </a:xfrm>
          <a:prstGeom prst="rect">
            <a:avLst/>
          </a:prstGeom>
        </p:spPr>
        <p:txBody>
          <a:bodyPr wrap="square">
            <a:spAutoFit/>
          </a:bodyPr>
          <a:lstStyle/>
          <a:p>
            <a:r>
              <a:rPr lang="en-US" sz="3600" b="1" dirty="0">
                <a:latin typeface="Times New Roman" panose="02020603050405020304" pitchFamily="18" charset="0"/>
                <a:cs typeface="Times New Roman" panose="02020603050405020304" pitchFamily="18" charset="0"/>
              </a:rPr>
              <a:t>                                                 Architecture Diagram</a:t>
            </a:r>
          </a:p>
        </p:txBody>
      </p:sp>
      <p:pic>
        <p:nvPicPr>
          <p:cNvPr id="9" name="Picture 8">
            <a:extLst>
              <a:ext uri="{FF2B5EF4-FFF2-40B4-BE49-F238E27FC236}">
                <a16:creationId xmlns:a16="http://schemas.microsoft.com/office/drawing/2014/main" id="{EC567230-E277-B788-FC0F-72770EAE9D42}"/>
              </a:ext>
            </a:extLst>
          </p:cNvPr>
          <p:cNvPicPr>
            <a:picLocks noChangeAspect="1"/>
          </p:cNvPicPr>
          <p:nvPr/>
        </p:nvPicPr>
        <p:blipFill>
          <a:blip r:embed="rId2"/>
          <a:stretch>
            <a:fillRect/>
          </a:stretch>
        </p:blipFill>
        <p:spPr>
          <a:xfrm>
            <a:off x="5971860" y="2110823"/>
            <a:ext cx="5877224" cy="621200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24,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
        <p:nvSpPr>
          <p:cNvPr id="5" name="Rectangle 4"/>
          <p:cNvSpPr/>
          <p:nvPr/>
        </p:nvSpPr>
        <p:spPr>
          <a:xfrm>
            <a:off x="774378" y="594652"/>
            <a:ext cx="17014857" cy="646331"/>
          </a:xfrm>
          <a:prstGeom prst="rect">
            <a:avLst/>
          </a:prstGeom>
        </p:spPr>
        <p:txBody>
          <a:bodyPr wrap="square">
            <a:spAutoFit/>
          </a:bodyPr>
          <a:lstStyle/>
          <a:p>
            <a:r>
              <a:rPr lang="en-US" sz="3600" b="1" dirty="0">
                <a:latin typeface="Times New Roman" panose="02020603050405020304" pitchFamily="18" charset="0"/>
                <a:cs typeface="Times New Roman" panose="02020603050405020304" pitchFamily="18" charset="0"/>
              </a:rPr>
              <a:t>                                                  Data –Flow Diagram</a:t>
            </a:r>
          </a:p>
        </p:txBody>
      </p:sp>
      <p:pic>
        <p:nvPicPr>
          <p:cNvPr id="10" name="Picture 9">
            <a:extLst>
              <a:ext uri="{FF2B5EF4-FFF2-40B4-BE49-F238E27FC236}">
                <a16:creationId xmlns:a16="http://schemas.microsoft.com/office/drawing/2014/main" id="{D4D4F831-4B86-8463-3B92-46EC4615BC66}"/>
              </a:ext>
            </a:extLst>
          </p:cNvPr>
          <p:cNvPicPr>
            <a:picLocks noChangeAspect="1"/>
          </p:cNvPicPr>
          <p:nvPr/>
        </p:nvPicPr>
        <p:blipFill>
          <a:blip r:embed="rId2"/>
          <a:stretch>
            <a:fillRect/>
          </a:stretch>
        </p:blipFill>
        <p:spPr>
          <a:xfrm>
            <a:off x="7362576" y="2290364"/>
            <a:ext cx="3562847" cy="570627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24,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
        <p:nvSpPr>
          <p:cNvPr id="5" name="Rectangle 4"/>
          <p:cNvSpPr/>
          <p:nvPr/>
        </p:nvSpPr>
        <p:spPr>
          <a:xfrm>
            <a:off x="5881254" y="407892"/>
            <a:ext cx="9144000" cy="646331"/>
          </a:xfrm>
          <a:prstGeom prst="rect">
            <a:avLst/>
          </a:prstGeom>
        </p:spPr>
        <p:txBody>
          <a:bodyPr>
            <a:spAutoFit/>
          </a:bodyPr>
          <a:lstStyle/>
          <a:p>
            <a:r>
              <a:rPr lang="en-US" sz="3600" b="1" dirty="0">
                <a:latin typeface="Times New Roman" panose="02020603050405020304" pitchFamily="18" charset="0"/>
                <a:cs typeface="Times New Roman" panose="02020603050405020304" pitchFamily="18" charset="0"/>
              </a:rPr>
              <a:t>Use Case Diagram</a:t>
            </a:r>
          </a:p>
        </p:txBody>
      </p:sp>
      <p:pic>
        <p:nvPicPr>
          <p:cNvPr id="9" name="Picture 8">
            <a:extLst>
              <a:ext uri="{FF2B5EF4-FFF2-40B4-BE49-F238E27FC236}">
                <a16:creationId xmlns:a16="http://schemas.microsoft.com/office/drawing/2014/main" id="{B0F74D5A-1A85-0E27-A96E-F4CD2ADA56E4}"/>
              </a:ext>
            </a:extLst>
          </p:cNvPr>
          <p:cNvPicPr>
            <a:picLocks noChangeAspect="1"/>
          </p:cNvPicPr>
          <p:nvPr/>
        </p:nvPicPr>
        <p:blipFill>
          <a:blip r:embed="rId2"/>
          <a:stretch>
            <a:fillRect/>
          </a:stretch>
        </p:blipFill>
        <p:spPr>
          <a:xfrm>
            <a:off x="4775200" y="1693867"/>
            <a:ext cx="7747639" cy="689926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24,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
        <p:nvSpPr>
          <p:cNvPr id="5" name="Rectangle 4"/>
          <p:cNvSpPr/>
          <p:nvPr/>
        </p:nvSpPr>
        <p:spPr>
          <a:xfrm>
            <a:off x="5382491" y="414727"/>
            <a:ext cx="9144000" cy="646331"/>
          </a:xfrm>
          <a:prstGeom prst="rect">
            <a:avLst/>
          </a:prstGeom>
        </p:spPr>
        <p:txBody>
          <a:bodyPr>
            <a:spAutoFit/>
          </a:bodyPr>
          <a:lstStyle/>
          <a:p>
            <a:r>
              <a:rPr lang="en-US" sz="3600" b="1" dirty="0">
                <a:latin typeface="Times New Roman" panose="02020603050405020304" pitchFamily="18" charset="0"/>
                <a:cs typeface="Times New Roman" panose="02020603050405020304" pitchFamily="18" charset="0"/>
              </a:rPr>
              <a:t>Class Diagram</a:t>
            </a:r>
          </a:p>
        </p:txBody>
      </p:sp>
      <p:pic>
        <p:nvPicPr>
          <p:cNvPr id="9" name="Picture 8">
            <a:extLst>
              <a:ext uri="{FF2B5EF4-FFF2-40B4-BE49-F238E27FC236}">
                <a16:creationId xmlns:a16="http://schemas.microsoft.com/office/drawing/2014/main" id="{935CC5B9-10D1-D9B3-062E-9360CF1C1985}"/>
              </a:ext>
            </a:extLst>
          </p:cNvPr>
          <p:cNvPicPr>
            <a:picLocks noChangeAspect="1"/>
          </p:cNvPicPr>
          <p:nvPr/>
        </p:nvPicPr>
        <p:blipFill>
          <a:blip r:embed="rId2"/>
          <a:stretch>
            <a:fillRect/>
          </a:stretch>
        </p:blipFill>
        <p:spPr>
          <a:xfrm>
            <a:off x="4630057" y="1854683"/>
            <a:ext cx="7624289" cy="648006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24,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
        <p:nvSpPr>
          <p:cNvPr id="5" name="Rectangle 4"/>
          <p:cNvSpPr/>
          <p:nvPr/>
        </p:nvSpPr>
        <p:spPr>
          <a:xfrm>
            <a:off x="5049982" y="532445"/>
            <a:ext cx="9144000" cy="646331"/>
          </a:xfrm>
          <a:prstGeom prst="rect">
            <a:avLst/>
          </a:prstGeom>
        </p:spPr>
        <p:txBody>
          <a:bodyPr>
            <a:spAutoFit/>
          </a:bodyPr>
          <a:lstStyle/>
          <a:p>
            <a:r>
              <a:rPr lang="en-US" sz="3600" b="1" dirty="0">
                <a:latin typeface="Times New Roman" panose="02020603050405020304" pitchFamily="18" charset="0"/>
                <a:cs typeface="Times New Roman" panose="02020603050405020304" pitchFamily="18" charset="0"/>
              </a:rPr>
              <a:t>Activity Diagram</a:t>
            </a:r>
          </a:p>
        </p:txBody>
      </p:sp>
      <p:pic>
        <p:nvPicPr>
          <p:cNvPr id="9" name="Picture 8">
            <a:extLst>
              <a:ext uri="{FF2B5EF4-FFF2-40B4-BE49-F238E27FC236}">
                <a16:creationId xmlns:a16="http://schemas.microsoft.com/office/drawing/2014/main" id="{D169E5D9-4AFE-70A8-8C5B-5EC250548AB7}"/>
              </a:ext>
            </a:extLst>
          </p:cNvPr>
          <p:cNvPicPr>
            <a:picLocks noChangeAspect="1"/>
          </p:cNvPicPr>
          <p:nvPr/>
        </p:nvPicPr>
        <p:blipFill>
          <a:blip r:embed="rId2"/>
          <a:stretch>
            <a:fillRect/>
          </a:stretch>
        </p:blipFill>
        <p:spPr>
          <a:xfrm>
            <a:off x="5049982" y="2061185"/>
            <a:ext cx="7856733" cy="532538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24,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
        <p:nvSpPr>
          <p:cNvPr id="5" name="Rectangle 4"/>
          <p:cNvSpPr/>
          <p:nvPr/>
        </p:nvSpPr>
        <p:spPr>
          <a:xfrm>
            <a:off x="4405745" y="525472"/>
            <a:ext cx="9144000" cy="646331"/>
          </a:xfrm>
          <a:prstGeom prst="rect">
            <a:avLst/>
          </a:prstGeom>
        </p:spPr>
        <p:txBody>
          <a:bodyPr>
            <a:spAutoFit/>
          </a:bodyPr>
          <a:lstStyle/>
          <a:p>
            <a:r>
              <a:rPr lang="en-US" sz="3600" b="1" dirty="0">
                <a:latin typeface="Times New Roman" panose="02020603050405020304" pitchFamily="18" charset="0"/>
                <a:cs typeface="Times New Roman" panose="02020603050405020304" pitchFamily="18" charset="0"/>
              </a:rPr>
              <a:t>Sequence Diagram</a:t>
            </a:r>
          </a:p>
        </p:txBody>
      </p:sp>
      <p:pic>
        <p:nvPicPr>
          <p:cNvPr id="9" name="Picture 8">
            <a:extLst>
              <a:ext uri="{FF2B5EF4-FFF2-40B4-BE49-F238E27FC236}">
                <a16:creationId xmlns:a16="http://schemas.microsoft.com/office/drawing/2014/main" id="{62E99744-2E38-84F5-0B48-47D70B29974A}"/>
              </a:ext>
            </a:extLst>
          </p:cNvPr>
          <p:cNvPicPr>
            <a:picLocks noChangeAspect="1"/>
          </p:cNvPicPr>
          <p:nvPr/>
        </p:nvPicPr>
        <p:blipFill>
          <a:blip r:embed="rId2"/>
          <a:stretch>
            <a:fillRect/>
          </a:stretch>
        </p:blipFill>
        <p:spPr>
          <a:xfrm>
            <a:off x="4014016" y="2351314"/>
            <a:ext cx="8840489" cy="481176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24,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sp>
        <p:nvSpPr>
          <p:cNvPr id="5" name="Rectangle 4"/>
          <p:cNvSpPr/>
          <p:nvPr/>
        </p:nvSpPr>
        <p:spPr>
          <a:xfrm>
            <a:off x="4426527" y="539280"/>
            <a:ext cx="9144000" cy="646331"/>
          </a:xfrm>
          <a:prstGeom prst="rect">
            <a:avLst/>
          </a:prstGeom>
        </p:spPr>
        <p:txBody>
          <a:bodyPr>
            <a:spAutoFit/>
          </a:bodyPr>
          <a:lstStyle/>
          <a:p>
            <a:r>
              <a:rPr lang="en-US" sz="3600" b="1" dirty="0">
                <a:latin typeface="Times New Roman" panose="02020603050405020304" pitchFamily="18" charset="0"/>
                <a:cs typeface="Times New Roman" panose="02020603050405020304" pitchFamily="18" charset="0"/>
              </a:rPr>
              <a:t>Collaboration Diagram(If applicable)</a:t>
            </a:r>
          </a:p>
        </p:txBody>
      </p:sp>
      <p:pic>
        <p:nvPicPr>
          <p:cNvPr id="9" name="Picture 8">
            <a:extLst>
              <a:ext uri="{FF2B5EF4-FFF2-40B4-BE49-F238E27FC236}">
                <a16:creationId xmlns:a16="http://schemas.microsoft.com/office/drawing/2014/main" id="{353B38A0-6455-5AB4-C4EE-C97612ABA15D}"/>
              </a:ext>
            </a:extLst>
          </p:cNvPr>
          <p:cNvPicPr>
            <a:picLocks noChangeAspect="1"/>
          </p:cNvPicPr>
          <p:nvPr/>
        </p:nvPicPr>
        <p:blipFill>
          <a:blip r:embed="rId2"/>
          <a:stretch>
            <a:fillRect/>
          </a:stretch>
        </p:blipFill>
        <p:spPr>
          <a:xfrm>
            <a:off x="5471600" y="3200129"/>
            <a:ext cx="7344800" cy="388674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24,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sp>
        <p:nvSpPr>
          <p:cNvPr id="5" name="Rectangle 4"/>
          <p:cNvSpPr/>
          <p:nvPr/>
        </p:nvSpPr>
        <p:spPr>
          <a:xfrm>
            <a:off x="5910548" y="319886"/>
            <a:ext cx="3951082" cy="646331"/>
          </a:xfrm>
          <a:prstGeom prst="rect">
            <a:avLst/>
          </a:prstGeom>
        </p:spPr>
        <p:txBody>
          <a:bodyPr wrap="none">
            <a:spAutoFit/>
          </a:bodyPr>
          <a:lstStyle/>
          <a:p>
            <a:pPr lvl="1"/>
            <a:r>
              <a:rPr lang="en-US" sz="3600" b="1" dirty="0">
                <a:latin typeface="Times New Roman" panose="02020603050405020304" pitchFamily="18" charset="0"/>
                <a:cs typeface="Times New Roman" panose="02020603050405020304" pitchFamily="18" charset="0"/>
              </a:rPr>
              <a:t>UNIT TESTING</a:t>
            </a:r>
            <a:endParaRPr lang="en-IN" sz="3600" b="1" i="1" dirty="0">
              <a:latin typeface="Times New Roman" panose="02020603050405020304" pitchFamily="18" charset="0"/>
              <a:cs typeface="Times New Roman" panose="02020603050405020304" pitchFamily="18" charset="0"/>
            </a:endParaRPr>
          </a:p>
        </p:txBody>
      </p:sp>
      <p:sp>
        <p:nvSpPr>
          <p:cNvPr id="6" name="Rectangle 5"/>
          <p:cNvSpPr/>
          <p:nvPr/>
        </p:nvSpPr>
        <p:spPr>
          <a:xfrm>
            <a:off x="394853" y="1211271"/>
            <a:ext cx="17560637" cy="1938992"/>
          </a:xfrm>
          <a:prstGeom prst="rect">
            <a:avLst/>
          </a:prstGeom>
        </p:spPr>
        <p:txBody>
          <a:bodyPr wrap="square">
            <a:spAutoFit/>
          </a:bodyPr>
          <a:lstStyle/>
          <a:p>
            <a:pPr marL="342900" indent="-342900" algn="jus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Unit testing involves testing individual components or modules of the system separately to ensure that each unit works correctly. In this project, unit testing is applied to functions such as data preprocessing, feature selection, and prediction modules.</a:t>
            </a:r>
          </a:p>
          <a:p>
            <a:pPr marL="342900" indent="-342900" algn="just">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 Each function is tested with different inputs to verify that it produces the expected output. This helps in identifying errors at an early stage and ensures the reliability of individual parts of the system</a:t>
            </a:r>
          </a:p>
        </p:txBody>
      </p:sp>
      <p:sp>
        <p:nvSpPr>
          <p:cNvPr id="7" name="Rectangle 6"/>
          <p:cNvSpPr/>
          <p:nvPr/>
        </p:nvSpPr>
        <p:spPr>
          <a:xfrm>
            <a:off x="5872604" y="4226868"/>
            <a:ext cx="6105261" cy="646331"/>
          </a:xfrm>
          <a:prstGeom prst="rect">
            <a:avLst/>
          </a:prstGeom>
        </p:spPr>
        <p:txBody>
          <a:bodyPr wrap="none">
            <a:spAutoFit/>
          </a:bodyPr>
          <a:lstStyle/>
          <a:p>
            <a:pPr lvl="1"/>
            <a:r>
              <a:rPr lang="en-US" sz="3600" b="1" dirty="0">
                <a:latin typeface="Times New Roman" panose="02020603050405020304" pitchFamily="18" charset="0"/>
                <a:cs typeface="Times New Roman" panose="02020603050405020304" pitchFamily="18" charset="0"/>
              </a:rPr>
              <a:t>INTEGRATION TESTING</a:t>
            </a:r>
          </a:p>
        </p:txBody>
      </p:sp>
      <p:sp>
        <p:nvSpPr>
          <p:cNvPr id="8" name="Rectangle 7"/>
          <p:cNvSpPr/>
          <p:nvPr/>
        </p:nvSpPr>
        <p:spPr>
          <a:xfrm>
            <a:off x="581891" y="5526917"/>
            <a:ext cx="17394382" cy="2308324"/>
          </a:xfrm>
          <a:prstGeom prst="rect">
            <a:avLst/>
          </a:prstGeom>
        </p:spPr>
        <p:txBody>
          <a:bodyPr wrap="square">
            <a:spAutoFit/>
          </a:bodyPr>
          <a:lstStyle/>
          <a:p>
            <a:pPr marL="342900" indent="-342900" algn="jus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Integration testing is performed after unit testing to verify that different modules of the system work together correctly. In this project, modules like data preprocessing, model training, and prediction are integrated and tested.</a:t>
            </a:r>
          </a:p>
          <a:p>
            <a:pPr marL="342900" indent="-342900" algn="just">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 The main objective is to ensure smooth data flow between modules and to identify any issues arising due to module interaction. This testing ensures that the combined system functions as expected.</a:t>
            </a:r>
          </a:p>
          <a:p>
            <a:pPr algn="just"/>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24,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sp>
        <p:nvSpPr>
          <p:cNvPr id="5" name="Rectangle 4"/>
          <p:cNvSpPr/>
          <p:nvPr/>
        </p:nvSpPr>
        <p:spPr>
          <a:xfrm>
            <a:off x="6270215" y="490743"/>
            <a:ext cx="4228722" cy="646331"/>
          </a:xfrm>
          <a:prstGeom prst="rect">
            <a:avLst/>
          </a:prstGeom>
        </p:spPr>
        <p:txBody>
          <a:bodyPr wrap="none">
            <a:spAutoFit/>
          </a:bodyPr>
          <a:lstStyle/>
          <a:p>
            <a:pPr marL="355600" indent="-343535">
              <a:lnSpc>
                <a:spcPct val="100000"/>
              </a:lnSpc>
              <a:spcBef>
                <a:spcPts val="100"/>
              </a:spcBef>
              <a:buSzPct val="83000"/>
              <a:tabLst>
                <a:tab pos="355600" algn="l"/>
                <a:tab pos="356235" algn="l"/>
              </a:tabLst>
            </a:pPr>
            <a:r>
              <a:rPr lang="en-IN" sz="3600" b="1" spc="-5" dirty="0">
                <a:latin typeface="Times New Roman" panose="02020603050405020304"/>
                <a:cs typeface="Times New Roman" panose="02020603050405020304"/>
              </a:rPr>
              <a:t>SYSTEM</a:t>
            </a:r>
            <a:r>
              <a:rPr lang="en-IN" sz="3600" b="1" spc="10" dirty="0">
                <a:latin typeface="Times New Roman" panose="02020603050405020304"/>
                <a:cs typeface="Times New Roman" panose="02020603050405020304"/>
              </a:rPr>
              <a:t> </a:t>
            </a:r>
            <a:r>
              <a:rPr lang="en-IN" sz="3600" b="1" spc="-25" dirty="0">
                <a:latin typeface="Times New Roman" panose="02020603050405020304"/>
                <a:cs typeface="Times New Roman" panose="02020603050405020304"/>
              </a:rPr>
              <a:t>TESTING</a:t>
            </a:r>
            <a:endParaRPr lang="en-IN" sz="3600" dirty="0">
              <a:latin typeface="Times New Roman" panose="02020603050405020304"/>
              <a:cs typeface="Times New Roman" panose="02020603050405020304"/>
            </a:endParaRPr>
          </a:p>
        </p:txBody>
      </p:sp>
      <p:sp>
        <p:nvSpPr>
          <p:cNvPr id="6" name="Rectangle 5"/>
          <p:cNvSpPr/>
          <p:nvPr/>
        </p:nvSpPr>
        <p:spPr>
          <a:xfrm>
            <a:off x="935020" y="1675307"/>
            <a:ext cx="16874998" cy="2677656"/>
          </a:xfrm>
          <a:prstGeom prst="rect">
            <a:avLst/>
          </a:prstGeom>
        </p:spPr>
        <p:txBody>
          <a:bodyPr wrap="square">
            <a:spAutoFit/>
          </a:bodyPr>
          <a:lstStyle/>
          <a:p>
            <a:pPr algn="just"/>
            <a:r>
              <a:rPr lang="en-US" altLang="en-US" sz="2400" dirty="0">
                <a:latin typeface="Times New Roman" panose="02020603050405020304" pitchFamily="18" charset="0"/>
                <a:cs typeface="Times New Roman" panose="02020603050405020304" pitchFamily="18" charset="0"/>
              </a:rPr>
              <a:t>System testing is performed on the complete and fully integrated system to evaluate whether it meets the specified requirements. In this project, system testing involves testing the entire loan </a:t>
            </a:r>
            <a:r>
              <a:rPr lang="en-US" altLang="en-US" sz="2400" dirty="0" err="1">
                <a:latin typeface="Times New Roman" panose="02020603050405020304" pitchFamily="18" charset="0"/>
                <a:cs typeface="Times New Roman" panose="02020603050405020304" pitchFamily="18" charset="0"/>
              </a:rPr>
              <a:t>elegibility</a:t>
            </a:r>
            <a:r>
              <a:rPr lang="en-US" altLang="en-US" sz="2400" dirty="0">
                <a:latin typeface="Times New Roman" panose="02020603050405020304" pitchFamily="18" charset="0"/>
                <a:cs typeface="Times New Roman" panose="02020603050405020304" pitchFamily="18" charset="0"/>
              </a:rPr>
              <a:t> prediction intention prediction system, including data input, preprocessing, model prediction, and output display. </a:t>
            </a:r>
          </a:p>
          <a:p>
            <a:pPr algn="just"/>
            <a:endParaRPr lang="en-US" altLang="en-US" sz="2400" dirty="0">
              <a:latin typeface="Times New Roman" panose="02020603050405020304" pitchFamily="18" charset="0"/>
              <a:cs typeface="Times New Roman" panose="02020603050405020304" pitchFamily="18" charset="0"/>
            </a:endParaRPr>
          </a:p>
          <a:p>
            <a:pPr algn="just"/>
            <a:r>
              <a:rPr lang="en-US" altLang="en-US" sz="2400" dirty="0">
                <a:latin typeface="Times New Roman" panose="02020603050405020304" pitchFamily="18" charset="0"/>
                <a:cs typeface="Times New Roman" panose="02020603050405020304" pitchFamily="18" charset="0"/>
              </a:rPr>
              <a:t>The goal is to ensure that all components work together correctly as a whole system. It checks overall performance, accuracy, reliability, and system behavior under different conditions. This testing confirms that the system meets user requirements and works efficiently in a real-world environment.</a:t>
            </a:r>
          </a:p>
        </p:txBody>
      </p:sp>
      <p:sp>
        <p:nvSpPr>
          <p:cNvPr id="7" name="Rectangle 6"/>
          <p:cNvSpPr/>
          <p:nvPr/>
        </p:nvSpPr>
        <p:spPr>
          <a:xfrm>
            <a:off x="6250202" y="4917271"/>
            <a:ext cx="5399107" cy="646331"/>
          </a:xfrm>
          <a:prstGeom prst="rect">
            <a:avLst/>
          </a:prstGeom>
        </p:spPr>
        <p:txBody>
          <a:bodyPr wrap="none">
            <a:spAutoFit/>
          </a:bodyPr>
          <a:lstStyle/>
          <a:p>
            <a:pPr marL="355600" indent="-343535">
              <a:lnSpc>
                <a:spcPct val="100000"/>
              </a:lnSpc>
              <a:buSzPct val="83000"/>
              <a:tabLst>
                <a:tab pos="355600" algn="l"/>
                <a:tab pos="356235" algn="l"/>
              </a:tabLst>
            </a:pPr>
            <a:r>
              <a:rPr lang="en-IN" sz="3600" b="1" spc="-15" dirty="0">
                <a:latin typeface="Times New Roman" panose="02020603050405020304"/>
                <a:cs typeface="Times New Roman" panose="02020603050405020304"/>
              </a:rPr>
              <a:t>FUNCTIONAL</a:t>
            </a:r>
            <a:r>
              <a:rPr lang="en-IN" sz="3600" b="1" spc="90" dirty="0">
                <a:latin typeface="Times New Roman" panose="02020603050405020304"/>
                <a:cs typeface="Times New Roman" panose="02020603050405020304"/>
              </a:rPr>
              <a:t> </a:t>
            </a:r>
            <a:r>
              <a:rPr lang="en-IN" sz="3600" b="1" spc="-30" dirty="0">
                <a:latin typeface="Times New Roman" panose="02020603050405020304"/>
                <a:cs typeface="Times New Roman" panose="02020603050405020304"/>
              </a:rPr>
              <a:t>TESTING</a:t>
            </a:r>
            <a:endParaRPr lang="en-IN" sz="3600" b="1" dirty="0">
              <a:latin typeface="Times New Roman" panose="02020603050405020304"/>
              <a:cs typeface="Times New Roman" panose="02020603050405020304"/>
            </a:endParaRPr>
          </a:p>
        </p:txBody>
      </p:sp>
      <p:sp>
        <p:nvSpPr>
          <p:cNvPr id="8" name="Rectangle 7"/>
          <p:cNvSpPr/>
          <p:nvPr/>
        </p:nvSpPr>
        <p:spPr>
          <a:xfrm>
            <a:off x="935181" y="6545226"/>
            <a:ext cx="16604673" cy="2308324"/>
          </a:xfrm>
          <a:prstGeom prst="rect">
            <a:avLst/>
          </a:prstGeom>
        </p:spPr>
        <p:txBody>
          <a:bodyPr wrap="square">
            <a:spAutoFit/>
          </a:bodyPr>
          <a:lstStyle/>
          <a:p>
            <a:pPr algn="just"/>
            <a:r>
              <a:rPr lang="en-US" altLang="en-US" sz="2400" dirty="0">
                <a:latin typeface="Times New Roman" panose="02020603050405020304" pitchFamily="18" charset="0"/>
                <a:cs typeface="Times New Roman" panose="02020603050405020304" pitchFamily="18" charset="0"/>
              </a:rPr>
              <a:t>Function testing, also known as functional testing, focuses on verifying that each function of the system operates according to the specified requirements. In this project, it ensures that all functionalities such as data input, preprocessing, model training, and prediction are working correctly.</a:t>
            </a:r>
          </a:p>
          <a:p>
            <a:pPr algn="just"/>
            <a:endParaRPr lang="en-US" altLang="en-US" sz="2400" dirty="0">
              <a:latin typeface="Times New Roman" panose="02020603050405020304" pitchFamily="18" charset="0"/>
              <a:cs typeface="Times New Roman" panose="02020603050405020304" pitchFamily="18" charset="0"/>
            </a:endParaRPr>
          </a:p>
          <a:p>
            <a:pPr algn="just"/>
            <a:r>
              <a:rPr lang="en-US" altLang="en-US" sz="2400" dirty="0">
                <a:latin typeface="Times New Roman" panose="02020603050405020304" pitchFamily="18" charset="0"/>
                <a:cs typeface="Times New Roman" panose="02020603050405020304" pitchFamily="18" charset="0"/>
              </a:rPr>
              <a:t> It checks whether the system produces accurate results for given inputs and whether all features perform their intended tasks. Functional testing helps ensure that the system behaves correctly from the user’s perspective and meets all functional requirements.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24,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sp>
        <p:nvSpPr>
          <p:cNvPr id="5" name="Rectangle 4"/>
          <p:cNvSpPr/>
          <p:nvPr/>
        </p:nvSpPr>
        <p:spPr>
          <a:xfrm>
            <a:off x="5166020" y="361793"/>
            <a:ext cx="7597464" cy="646331"/>
          </a:xfrm>
          <a:prstGeom prst="rect">
            <a:avLst/>
          </a:prstGeom>
        </p:spPr>
        <p:txBody>
          <a:bodyPr wrap="none">
            <a:spAutoFit/>
          </a:bodyPr>
          <a:lstStyle/>
          <a:p>
            <a:r>
              <a:rPr lang="en-IN" sz="3600" b="1" dirty="0">
                <a:latin typeface="Times New Roman" panose="02020603050405020304" pitchFamily="18" charset="0"/>
                <a:cs typeface="Times New Roman" panose="02020603050405020304" pitchFamily="18" charset="0"/>
              </a:rPr>
              <a:t>RESULTS AND DEMONSTRATION</a:t>
            </a:r>
          </a:p>
        </p:txBody>
      </p:sp>
      <p:sp>
        <p:nvSpPr>
          <p:cNvPr id="9" name="TextBox 8">
            <a:extLst>
              <a:ext uri="{FF2B5EF4-FFF2-40B4-BE49-F238E27FC236}">
                <a16:creationId xmlns:a16="http://schemas.microsoft.com/office/drawing/2014/main" id="{F58AC513-4104-B87C-7DA2-0071AD012A95}"/>
              </a:ext>
            </a:extLst>
          </p:cNvPr>
          <p:cNvSpPr txBox="1"/>
          <p:nvPr/>
        </p:nvSpPr>
        <p:spPr>
          <a:xfrm>
            <a:off x="1190170" y="1332417"/>
            <a:ext cx="11103429" cy="1938992"/>
          </a:xfrm>
          <a:prstGeom prst="rect">
            <a:avLst/>
          </a:prstGeom>
          <a:noFill/>
        </p:spPr>
        <p:txBody>
          <a:bodyPr wrap="square">
            <a:spAutoFit/>
          </a:bodyPr>
          <a:lstStyle/>
          <a:p>
            <a:pPr>
              <a:buNone/>
            </a:pPr>
            <a:r>
              <a:rPr lang="en-US" sz="2400" b="1" dirty="0"/>
              <a:t>Results</a:t>
            </a:r>
          </a:p>
          <a:p>
            <a:pPr>
              <a:buFont typeface="Arial" panose="020B0604020202020204" pitchFamily="34" charset="0"/>
              <a:buChar char="•"/>
            </a:pPr>
            <a:r>
              <a:rPr lang="en-US" sz="2400" dirty="0"/>
              <a:t>The system successfully analyzes </a:t>
            </a:r>
            <a:r>
              <a:rPr lang="en-US" sz="2400" b="1" dirty="0"/>
              <a:t>student academic data, skills, and interests</a:t>
            </a:r>
            <a:r>
              <a:rPr lang="en-US" sz="2400" dirty="0"/>
              <a:t> </a:t>
            </a:r>
          </a:p>
          <a:p>
            <a:pPr>
              <a:buFont typeface="Arial" panose="020B0604020202020204" pitchFamily="34" charset="0"/>
              <a:buChar char="•"/>
            </a:pPr>
            <a:r>
              <a:rPr lang="en-US" sz="2400" dirty="0"/>
              <a:t>Accurately predicts </a:t>
            </a:r>
            <a:r>
              <a:rPr lang="en-US" sz="2400" b="1" dirty="0"/>
              <a:t>placement readiness level</a:t>
            </a:r>
            <a:r>
              <a:rPr lang="en-US" sz="2400" dirty="0"/>
              <a:t> (e.g., Ready / Needs Improvement) </a:t>
            </a:r>
          </a:p>
          <a:p>
            <a:pPr>
              <a:buFont typeface="Arial" panose="020B0604020202020204" pitchFamily="34" charset="0"/>
              <a:buChar char="•"/>
            </a:pPr>
            <a:r>
              <a:rPr lang="en-US" sz="2400" dirty="0"/>
              <a:t>AI-based tests effectively identify </a:t>
            </a:r>
            <a:r>
              <a:rPr lang="en-US" sz="2400" b="1" dirty="0"/>
              <a:t>strengths and weak areas</a:t>
            </a:r>
            <a:r>
              <a:rPr lang="en-US" sz="2400" dirty="0"/>
              <a:t> </a:t>
            </a:r>
          </a:p>
          <a:p>
            <a:pPr>
              <a:buFont typeface="Arial" panose="020B0604020202020204" pitchFamily="34" charset="0"/>
              <a:buChar char="•"/>
            </a:pPr>
            <a:r>
              <a:rPr lang="en-US" sz="2400" dirty="0"/>
              <a:t>Personalized feedback improves </a:t>
            </a:r>
            <a:r>
              <a:rPr lang="en-US" sz="2400" b="1" dirty="0"/>
              <a:t>student performance over time</a:t>
            </a:r>
            <a:r>
              <a:rPr lang="en-US" sz="2400" dirty="0"/>
              <a:t> </a:t>
            </a:r>
          </a:p>
        </p:txBody>
      </p:sp>
      <p:sp>
        <p:nvSpPr>
          <p:cNvPr id="11" name="TextBox 10">
            <a:extLst>
              <a:ext uri="{FF2B5EF4-FFF2-40B4-BE49-F238E27FC236}">
                <a16:creationId xmlns:a16="http://schemas.microsoft.com/office/drawing/2014/main" id="{4141A4CC-F609-1E06-909B-A20EAAD7D224}"/>
              </a:ext>
            </a:extLst>
          </p:cNvPr>
          <p:cNvSpPr txBox="1"/>
          <p:nvPr/>
        </p:nvSpPr>
        <p:spPr>
          <a:xfrm>
            <a:off x="1190170" y="3595702"/>
            <a:ext cx="9144000" cy="5262979"/>
          </a:xfrm>
          <a:prstGeom prst="rect">
            <a:avLst/>
          </a:prstGeom>
          <a:noFill/>
        </p:spPr>
        <p:txBody>
          <a:bodyPr wrap="square">
            <a:spAutoFit/>
          </a:bodyPr>
          <a:lstStyle/>
          <a:p>
            <a:pPr>
              <a:buNone/>
            </a:pPr>
            <a:r>
              <a:rPr lang="en-US" sz="2400" b="1" dirty="0"/>
              <a:t>Demonstration</a:t>
            </a:r>
          </a:p>
          <a:p>
            <a:pPr>
              <a:buFont typeface="Arial" panose="020B0604020202020204" pitchFamily="34" charset="0"/>
              <a:buChar char="•"/>
            </a:pPr>
            <a:r>
              <a:rPr lang="en-US" sz="2400" dirty="0"/>
              <a:t>User (student) logs into the system </a:t>
            </a:r>
          </a:p>
          <a:p>
            <a:pPr>
              <a:buFont typeface="Arial" panose="020B0604020202020204" pitchFamily="34" charset="0"/>
              <a:buChar char="•"/>
            </a:pPr>
            <a:r>
              <a:rPr lang="en-US" sz="2400" dirty="0"/>
              <a:t>Enters details: </a:t>
            </a:r>
            <a:r>
              <a:rPr lang="en-US" sz="2400" b="1" dirty="0"/>
              <a:t>marks, skills, domain interest</a:t>
            </a:r>
            <a:r>
              <a:rPr lang="en-US" sz="2400" dirty="0"/>
              <a:t> </a:t>
            </a:r>
          </a:p>
          <a:p>
            <a:pPr>
              <a:buFont typeface="Arial" panose="020B0604020202020204" pitchFamily="34" charset="0"/>
              <a:buChar char="•"/>
            </a:pPr>
            <a:r>
              <a:rPr lang="en-US" sz="2400" dirty="0"/>
              <a:t>System generates </a:t>
            </a:r>
            <a:r>
              <a:rPr lang="en-US" sz="2400" b="1" dirty="0"/>
              <a:t>AI-based domain-specific test</a:t>
            </a:r>
            <a:r>
              <a:rPr lang="en-US" sz="2400" dirty="0"/>
              <a:t> </a:t>
            </a:r>
          </a:p>
          <a:p>
            <a:pPr>
              <a:buFont typeface="Arial" panose="020B0604020202020204" pitchFamily="34" charset="0"/>
              <a:buChar char="•"/>
            </a:pPr>
            <a:r>
              <a:rPr lang="en-US" sz="2400" dirty="0"/>
              <a:t>Student completes the test online </a:t>
            </a:r>
          </a:p>
          <a:p>
            <a:pPr>
              <a:buFont typeface="Arial" panose="020B0604020202020204" pitchFamily="34" charset="0"/>
              <a:buChar char="•"/>
            </a:pPr>
            <a:r>
              <a:rPr lang="en-US" sz="2400" dirty="0"/>
              <a:t>System evaluates answers instantly </a:t>
            </a:r>
          </a:p>
          <a:p>
            <a:pPr>
              <a:buFont typeface="Arial" panose="020B0604020202020204" pitchFamily="34" charset="0"/>
              <a:buChar char="•"/>
            </a:pPr>
            <a:r>
              <a:rPr lang="en-US" sz="2400" dirty="0"/>
              <a:t>Displays: </a:t>
            </a:r>
          </a:p>
          <a:p>
            <a:pPr marL="742950" lvl="1" indent="-285750">
              <a:buFont typeface="Arial" panose="020B0604020202020204" pitchFamily="34" charset="0"/>
              <a:buChar char="•"/>
            </a:pPr>
            <a:r>
              <a:rPr lang="en-US" sz="2400" b="1" dirty="0"/>
              <a:t>Placement readiness score</a:t>
            </a:r>
            <a:r>
              <a:rPr lang="en-US" sz="2400" dirty="0"/>
              <a:t> </a:t>
            </a:r>
          </a:p>
          <a:p>
            <a:pPr marL="742950" lvl="1" indent="-285750">
              <a:buFont typeface="Arial" panose="020B0604020202020204" pitchFamily="34" charset="0"/>
              <a:buChar char="•"/>
            </a:pPr>
            <a:r>
              <a:rPr lang="en-US" sz="2400" b="1" dirty="0"/>
              <a:t>Strengths and weaknesses</a:t>
            </a:r>
            <a:r>
              <a:rPr lang="en-US" sz="2400" dirty="0"/>
              <a:t> </a:t>
            </a:r>
          </a:p>
          <a:p>
            <a:pPr>
              <a:buFont typeface="Arial" panose="020B0604020202020204" pitchFamily="34" charset="0"/>
              <a:buChar char="•"/>
            </a:pPr>
            <a:r>
              <a:rPr lang="en-US" sz="2400" dirty="0"/>
              <a:t>Provides: </a:t>
            </a:r>
          </a:p>
          <a:p>
            <a:pPr marL="742950" lvl="1" indent="-285750">
              <a:buFont typeface="Arial" panose="020B0604020202020204" pitchFamily="34" charset="0"/>
              <a:buChar char="•"/>
            </a:pPr>
            <a:r>
              <a:rPr lang="en-US" sz="2400" b="1" dirty="0"/>
              <a:t>Personalized feedback</a:t>
            </a:r>
            <a:r>
              <a:rPr lang="en-US" sz="2400" dirty="0"/>
              <a:t> </a:t>
            </a:r>
          </a:p>
          <a:p>
            <a:pPr marL="742950" lvl="1" indent="-285750">
              <a:buFont typeface="Arial" panose="020B0604020202020204" pitchFamily="34" charset="0"/>
              <a:buChar char="•"/>
            </a:pPr>
            <a:r>
              <a:rPr lang="en-US" sz="2400" b="1" dirty="0"/>
              <a:t>Recommended resources (videos/articles)</a:t>
            </a:r>
            <a:r>
              <a:rPr lang="en-US" sz="2400" dirty="0"/>
              <a:t> </a:t>
            </a:r>
          </a:p>
          <a:p>
            <a:pPr marL="742950" lvl="1" indent="-285750">
              <a:buFont typeface="Arial" panose="020B0604020202020204" pitchFamily="34" charset="0"/>
              <a:buChar char="•"/>
            </a:pPr>
            <a:r>
              <a:rPr lang="en-US" sz="2400" b="1" dirty="0"/>
              <a:t>Day-wise improvement roadmap</a:t>
            </a:r>
            <a:r>
              <a:rPr lang="en-US" sz="2400" dirty="0"/>
              <a:t> </a:t>
            </a:r>
          </a:p>
          <a:p>
            <a:pPr>
              <a:buFont typeface="Arial" panose="020B0604020202020204" pitchFamily="34" charset="0"/>
              <a:buChar char="•"/>
            </a:pPr>
            <a:r>
              <a:rPr lang="en-US" sz="2400" dirty="0"/>
              <a:t>Admin/college can monitor </a:t>
            </a:r>
            <a:r>
              <a:rPr lang="en-US" sz="2400" b="1" dirty="0"/>
              <a:t>student progress via dashboard</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24,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
        <p:nvSpPr>
          <p:cNvPr id="5" name="Rectangle 4"/>
          <p:cNvSpPr/>
          <p:nvPr/>
        </p:nvSpPr>
        <p:spPr>
          <a:xfrm>
            <a:off x="6430022" y="469961"/>
            <a:ext cx="3546484" cy="646331"/>
          </a:xfrm>
          <a:prstGeom prst="rect">
            <a:avLst/>
          </a:prstGeom>
        </p:spPr>
        <p:txBody>
          <a:bodyPr wrap="none">
            <a:spAutoFit/>
          </a:bodyPr>
          <a:lstStyle/>
          <a:p>
            <a:r>
              <a:rPr lang="en-IN" sz="3600" b="1" dirty="0">
                <a:latin typeface="Times New Roman" panose="02020603050405020304"/>
                <a:cs typeface="Times New Roman" panose="02020603050405020304"/>
              </a:rPr>
              <a:t>SOURCE</a:t>
            </a:r>
            <a:r>
              <a:rPr lang="en-IN" sz="3600" b="1" spc="-65" dirty="0">
                <a:latin typeface="Times New Roman" panose="02020603050405020304"/>
                <a:cs typeface="Times New Roman" panose="02020603050405020304"/>
              </a:rPr>
              <a:t> </a:t>
            </a:r>
            <a:r>
              <a:rPr lang="en-IN" sz="3600" b="1" spc="-5" dirty="0">
                <a:latin typeface="Times New Roman" panose="02020603050405020304"/>
                <a:cs typeface="Times New Roman" panose="02020603050405020304"/>
              </a:rPr>
              <a:t>CODE</a:t>
            </a:r>
            <a:endParaRPr lang="en-IN" sz="3600" b="1" dirty="0"/>
          </a:p>
        </p:txBody>
      </p:sp>
      <p:pic>
        <p:nvPicPr>
          <p:cNvPr id="10" name="Picture 9">
            <a:extLst>
              <a:ext uri="{FF2B5EF4-FFF2-40B4-BE49-F238E27FC236}">
                <a16:creationId xmlns:a16="http://schemas.microsoft.com/office/drawing/2014/main" id="{9BBFEA85-11E2-9E5B-CCF6-AB35DA0A0C13}"/>
              </a:ext>
            </a:extLst>
          </p:cNvPr>
          <p:cNvPicPr>
            <a:picLocks noChangeAspect="1"/>
          </p:cNvPicPr>
          <p:nvPr/>
        </p:nvPicPr>
        <p:blipFill>
          <a:blip r:embed="rId2"/>
          <a:stretch>
            <a:fillRect/>
          </a:stretch>
        </p:blipFill>
        <p:spPr>
          <a:xfrm>
            <a:off x="3864874" y="2104571"/>
            <a:ext cx="10312251" cy="579829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24,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sp>
        <p:nvSpPr>
          <p:cNvPr id="6" name="TextBox 5"/>
          <p:cNvSpPr txBox="1"/>
          <p:nvPr/>
        </p:nvSpPr>
        <p:spPr>
          <a:xfrm>
            <a:off x="6317673" y="457200"/>
            <a:ext cx="2930236" cy="646331"/>
          </a:xfrm>
          <a:prstGeom prst="rect">
            <a:avLst/>
          </a:prstGeom>
          <a:noFill/>
        </p:spPr>
        <p:txBody>
          <a:bodyPr wrap="square" rtlCol="0">
            <a:spAutoFit/>
          </a:bodyPr>
          <a:lstStyle/>
          <a:p>
            <a:r>
              <a:rPr lang="en-IN" sz="3600" b="1" dirty="0">
                <a:latin typeface="Times New Roman" panose="02020603050405020304" pitchFamily="18" charset="0"/>
                <a:cs typeface="Times New Roman" panose="02020603050405020304" pitchFamily="18" charset="0"/>
              </a:rPr>
              <a:t>OUTPUT</a:t>
            </a:r>
          </a:p>
        </p:txBody>
      </p:sp>
      <p:pic>
        <p:nvPicPr>
          <p:cNvPr id="10" name="Picture 9">
            <a:extLst>
              <a:ext uri="{FF2B5EF4-FFF2-40B4-BE49-F238E27FC236}">
                <a16:creationId xmlns:a16="http://schemas.microsoft.com/office/drawing/2014/main" id="{4193F948-0AED-83A5-98C3-2C10B9683ED5}"/>
              </a:ext>
            </a:extLst>
          </p:cNvPr>
          <p:cNvPicPr>
            <a:picLocks noChangeAspect="1"/>
          </p:cNvPicPr>
          <p:nvPr/>
        </p:nvPicPr>
        <p:blipFill>
          <a:blip r:embed="rId2"/>
          <a:stretch>
            <a:fillRect/>
          </a:stretch>
        </p:blipFill>
        <p:spPr>
          <a:xfrm>
            <a:off x="4628988" y="2418052"/>
            <a:ext cx="9030023" cy="5202217"/>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24,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sp>
        <p:nvSpPr>
          <p:cNvPr id="5" name="Rectangle 4"/>
          <p:cNvSpPr/>
          <p:nvPr/>
        </p:nvSpPr>
        <p:spPr>
          <a:xfrm>
            <a:off x="6120916" y="532307"/>
            <a:ext cx="3288080" cy="646331"/>
          </a:xfrm>
          <a:prstGeom prst="rect">
            <a:avLst/>
          </a:prstGeom>
        </p:spPr>
        <p:txBody>
          <a:bodyPr wrap="none">
            <a:spAutoFit/>
          </a:bodyPr>
          <a:lstStyle/>
          <a:p>
            <a:r>
              <a:rPr lang="en-IN" sz="3600" b="1" spc="-20" dirty="0">
                <a:latin typeface="Times New Roman" panose="02020603050405020304"/>
                <a:cs typeface="Times New Roman" panose="02020603050405020304"/>
              </a:rPr>
              <a:t>CONCLUSION</a:t>
            </a:r>
            <a:endParaRPr lang="en-IN" sz="3600" b="1" dirty="0"/>
          </a:p>
        </p:txBody>
      </p:sp>
      <p:sp>
        <p:nvSpPr>
          <p:cNvPr id="7" name="Rectangle 1">
            <a:extLst>
              <a:ext uri="{FF2B5EF4-FFF2-40B4-BE49-F238E27FC236}">
                <a16:creationId xmlns:a16="http://schemas.microsoft.com/office/drawing/2014/main" id="{899E3055-4421-55F1-19BF-6D50F6400F04}"/>
              </a:ext>
            </a:extLst>
          </p:cNvPr>
          <p:cNvSpPr>
            <a:spLocks noChangeArrowheads="1"/>
          </p:cNvSpPr>
          <p:nvPr/>
        </p:nvSpPr>
        <p:spPr bwMode="auto">
          <a:xfrm>
            <a:off x="1645921" y="2270322"/>
            <a:ext cx="14892218"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The project successfully develops an </a:t>
            </a:r>
            <a:r>
              <a:rPr kumimoji="0" lang="en-US" altLang="en-US" sz="2400" b="1" i="0" u="none" strike="noStrike" cap="none" normalizeH="0" baseline="0" dirty="0">
                <a:ln>
                  <a:noFill/>
                </a:ln>
                <a:solidFill>
                  <a:schemeClr val="tx1"/>
                </a:solidFill>
                <a:effectLst/>
                <a:latin typeface="Arial" panose="020B0604020202020204" pitchFamily="34" charset="0"/>
              </a:rPr>
              <a:t>AI-powered system</a:t>
            </a:r>
            <a:r>
              <a:rPr kumimoji="0" lang="en-US" altLang="en-US" sz="2400" b="0" i="0" u="none" strike="noStrike" cap="none" normalizeH="0" baseline="0" dirty="0">
                <a:ln>
                  <a:noFill/>
                </a:ln>
                <a:solidFill>
                  <a:schemeClr val="tx1"/>
                </a:solidFill>
                <a:effectLst/>
                <a:latin typeface="Arial" panose="020B0604020202020204" pitchFamily="34" charset="0"/>
              </a:rPr>
              <a:t> for student performance analysis and placement</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Arial" panose="020B0604020202020204" pitchFamily="34" charset="0"/>
              </a:rPr>
              <a:t>     readiness prediction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It goes beyond traditional methods by combining </a:t>
            </a:r>
            <a:r>
              <a:rPr kumimoji="0" lang="en-US" altLang="en-US" sz="2400" b="1" i="0" u="none" strike="noStrike" cap="none" normalizeH="0" baseline="0" dirty="0">
                <a:ln>
                  <a:noFill/>
                </a:ln>
                <a:solidFill>
                  <a:schemeClr val="tx1"/>
                </a:solidFill>
                <a:effectLst/>
                <a:latin typeface="Arial" panose="020B0604020202020204" pitchFamily="34" charset="0"/>
              </a:rPr>
              <a:t>prediction, assessment, and personalized guidance</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The AI-based tests effectively identify </a:t>
            </a:r>
            <a:r>
              <a:rPr kumimoji="0" lang="en-US" altLang="en-US" sz="2400" b="1" i="0" u="none" strike="noStrike" cap="none" normalizeH="0" baseline="0" dirty="0">
                <a:ln>
                  <a:noFill/>
                </a:ln>
                <a:solidFill>
                  <a:schemeClr val="tx1"/>
                </a:solidFill>
                <a:effectLst/>
                <a:latin typeface="Arial" panose="020B0604020202020204" pitchFamily="34" charset="0"/>
              </a:rPr>
              <a:t>student strengths and weaknesses</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Personalized feedback and roadmap help students </a:t>
            </a:r>
            <a:r>
              <a:rPr kumimoji="0" lang="en-US" altLang="en-US" sz="2400" b="1" i="0" u="none" strike="noStrike" cap="none" normalizeH="0" baseline="0" dirty="0">
                <a:ln>
                  <a:noFill/>
                </a:ln>
                <a:solidFill>
                  <a:schemeClr val="tx1"/>
                </a:solidFill>
                <a:effectLst/>
                <a:latin typeface="Arial" panose="020B0604020202020204" pitchFamily="34" charset="0"/>
              </a:rPr>
              <a:t>improve in targeted areas</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The system enables </a:t>
            </a:r>
            <a:r>
              <a:rPr kumimoji="0" lang="en-US" altLang="en-US" sz="2400" b="1" i="0" u="none" strike="noStrike" cap="none" normalizeH="0" baseline="0" dirty="0">
                <a:ln>
                  <a:noFill/>
                </a:ln>
                <a:solidFill>
                  <a:schemeClr val="tx1"/>
                </a:solidFill>
                <a:effectLst/>
                <a:latin typeface="Arial" panose="020B0604020202020204" pitchFamily="34" charset="0"/>
              </a:rPr>
              <a:t>data-driven decision-making</a:t>
            </a:r>
            <a:r>
              <a:rPr kumimoji="0" lang="en-US" altLang="en-US" sz="2400" b="0" i="0" u="none" strike="noStrike" cap="none" normalizeH="0" baseline="0" dirty="0">
                <a:ln>
                  <a:noFill/>
                </a:ln>
                <a:solidFill>
                  <a:schemeClr val="tx1"/>
                </a:solidFill>
                <a:effectLst/>
                <a:latin typeface="Arial" panose="020B0604020202020204" pitchFamily="34" charset="0"/>
              </a:rPr>
              <a:t> for both students and institutions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Cloud integration ensures </a:t>
            </a:r>
            <a:r>
              <a:rPr kumimoji="0" lang="en-US" altLang="en-US" sz="2400" b="1" i="0" u="none" strike="noStrike" cap="none" normalizeH="0" baseline="0" dirty="0">
                <a:ln>
                  <a:noFill/>
                </a:ln>
                <a:solidFill>
                  <a:schemeClr val="tx1"/>
                </a:solidFill>
                <a:effectLst/>
                <a:latin typeface="Arial" panose="020B0604020202020204" pitchFamily="34" charset="0"/>
              </a:rPr>
              <a:t>efficient data management and scalability</a:t>
            </a:r>
            <a:r>
              <a:rPr kumimoji="0" lang="en-US" altLang="en-US" sz="2400" b="0" i="0" u="none" strike="noStrike" cap="none" normalizeH="0" baseline="0" dirty="0">
                <a:ln>
                  <a:noFill/>
                </a:ln>
                <a:solidFill>
                  <a:schemeClr val="tx1"/>
                </a:solidFill>
                <a:effectLst/>
                <a:latin typeface="Arial" panose="020B0604020202020204" pitchFamily="34" charset="0"/>
              </a:rPr>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24,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sp>
        <p:nvSpPr>
          <p:cNvPr id="5" name="Rectangle 4"/>
          <p:cNvSpPr/>
          <p:nvPr/>
        </p:nvSpPr>
        <p:spPr>
          <a:xfrm>
            <a:off x="4763686" y="469961"/>
            <a:ext cx="9575769" cy="646331"/>
          </a:xfrm>
          <a:prstGeom prst="rect">
            <a:avLst/>
          </a:prstGeom>
        </p:spPr>
        <p:txBody>
          <a:bodyPr wrap="square">
            <a:spAutoFit/>
          </a:bodyPr>
          <a:lstStyle/>
          <a:p>
            <a:r>
              <a:rPr lang="en-IN" sz="3600" b="1" dirty="0">
                <a:latin typeface="Times New Roman" panose="02020603050405020304" pitchFamily="18" charset="0"/>
                <a:cs typeface="Times New Roman" panose="02020603050405020304" pitchFamily="18" charset="0"/>
              </a:rPr>
              <a:t>REFERENCES</a:t>
            </a:r>
            <a:endParaRPr lang="en-IN" sz="3600" b="1" dirty="0"/>
          </a:p>
        </p:txBody>
      </p:sp>
      <p:sp>
        <p:nvSpPr>
          <p:cNvPr id="8" name="Rectangle 1">
            <a:extLst>
              <a:ext uri="{FF2B5EF4-FFF2-40B4-BE49-F238E27FC236}">
                <a16:creationId xmlns:a16="http://schemas.microsoft.com/office/drawing/2014/main" id="{D6D21BD7-DFBA-8B1E-C2C1-EDB1D00ABFA1}"/>
              </a:ext>
            </a:extLst>
          </p:cNvPr>
          <p:cNvSpPr>
            <a:spLocks noChangeArrowheads="1"/>
          </p:cNvSpPr>
          <p:nvPr/>
        </p:nvSpPr>
        <p:spPr bwMode="auto">
          <a:xfrm>
            <a:off x="530037" y="2542073"/>
            <a:ext cx="17462281"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A. Kumar, R. Singh, “Student Performance Prediction Using Machine Learning,” </a:t>
            </a:r>
            <a:r>
              <a:rPr kumimoji="0" lang="en-US" altLang="en-US" sz="2400" b="0" i="1" u="none" strike="noStrike" cap="none" normalizeH="0" baseline="0" dirty="0">
                <a:ln>
                  <a:noFill/>
                </a:ln>
                <a:solidFill>
                  <a:schemeClr val="tx1"/>
                </a:solidFill>
                <a:effectLst/>
                <a:latin typeface="Arial" panose="020B0604020202020204" pitchFamily="34" charset="0"/>
              </a:rPr>
              <a:t>IEEE Conference on AI &amp; Data Science</a:t>
            </a:r>
            <a:r>
              <a:rPr kumimoji="0" lang="en-US" altLang="en-US" sz="2400" b="0" i="0" u="none" strike="noStrike" cap="none" normalizeH="0" baseline="0" dirty="0">
                <a:ln>
                  <a:noFill/>
                </a:ln>
                <a:solidFill>
                  <a:schemeClr val="tx1"/>
                </a:solidFill>
                <a:effectLst/>
                <a:latin typeface="Arial" panose="020B0604020202020204" pitchFamily="34" charset="0"/>
              </a:rPr>
              <a:t>, 2019</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S. Patel, M. Shah, “An Intelligent System for Placement Prediction,” </a:t>
            </a:r>
            <a:r>
              <a:rPr kumimoji="0" lang="en-US" altLang="en-US" sz="2400" b="0" i="1" u="none" strike="noStrike" cap="none" normalizeH="0" baseline="0" dirty="0">
                <a:ln>
                  <a:noFill/>
                </a:ln>
                <a:solidFill>
                  <a:schemeClr val="tx1"/>
                </a:solidFill>
                <a:effectLst/>
                <a:latin typeface="Arial" panose="020B0604020202020204" pitchFamily="34" charset="0"/>
              </a:rPr>
              <a:t>IEEE International Conference on Computing</a:t>
            </a:r>
            <a:r>
              <a:rPr kumimoji="0" lang="en-US" altLang="en-US" sz="2400" b="0" i="0" u="none" strike="noStrike" cap="none" normalizeH="0" baseline="0" dirty="0">
                <a:ln>
                  <a:noFill/>
                </a:ln>
                <a:solidFill>
                  <a:schemeClr val="tx1"/>
                </a:solidFill>
                <a:effectLst/>
                <a:latin typeface="Arial" panose="020B0604020202020204" pitchFamily="34" charset="0"/>
              </a:rPr>
              <a:t>, 2020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J. Lee, K. Park, “AI-Based Adaptive Learning and Assessment System,” </a:t>
            </a:r>
            <a:r>
              <a:rPr kumimoji="0" lang="en-US" altLang="en-US" sz="2400" b="0" i="1" u="none" strike="noStrike" cap="none" normalizeH="0" baseline="0" dirty="0">
                <a:ln>
                  <a:noFill/>
                </a:ln>
                <a:solidFill>
                  <a:schemeClr val="tx1"/>
                </a:solidFill>
                <a:effectLst/>
                <a:latin typeface="Arial" panose="020B0604020202020204" pitchFamily="34" charset="0"/>
              </a:rPr>
              <a:t>IEEE Access</a:t>
            </a:r>
            <a:r>
              <a:rPr kumimoji="0" lang="en-US" altLang="en-US" sz="2400" b="0" i="0" u="none" strike="noStrike" cap="none" normalizeH="0" baseline="0" dirty="0">
                <a:ln>
                  <a:noFill/>
                </a:ln>
                <a:solidFill>
                  <a:schemeClr val="tx1"/>
                </a:solidFill>
                <a:effectLst/>
                <a:latin typeface="Arial" panose="020B0604020202020204" pitchFamily="34" charset="0"/>
              </a:rPr>
              <a:t>, 2021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P. Verma, S. Gupta, “Cloud-Based Student Analytics System for Career Guidance,” </a:t>
            </a:r>
            <a:r>
              <a:rPr kumimoji="0" lang="en-US" altLang="en-US" sz="2400" b="0" i="1" u="none" strike="noStrike" cap="none" normalizeH="0" baseline="0" dirty="0">
                <a:ln>
                  <a:noFill/>
                </a:ln>
                <a:solidFill>
                  <a:schemeClr val="tx1"/>
                </a:solidFill>
                <a:effectLst/>
                <a:latin typeface="Arial" panose="020B0604020202020204" pitchFamily="34" charset="0"/>
              </a:rPr>
              <a:t>IEEE Cloud Computing Conference</a:t>
            </a:r>
            <a:r>
              <a:rPr kumimoji="0" lang="en-US" altLang="en-US" sz="2400" b="0" i="0" u="none" strike="noStrike" cap="none" normalizeH="0" baseline="0" dirty="0">
                <a:ln>
                  <a:noFill/>
                </a:ln>
                <a:solidFill>
                  <a:schemeClr val="tx1"/>
                </a:solidFill>
                <a:effectLst/>
                <a:latin typeface="Arial" panose="020B0604020202020204" pitchFamily="34" charset="0"/>
              </a:rPr>
              <a:t>, 2023</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I. Goodfellow, Y. Bengio, A. Courville, </a:t>
            </a:r>
            <a:r>
              <a:rPr kumimoji="0" lang="en-US" altLang="en-US" sz="2400" b="0" i="1" u="none" strike="noStrike" cap="none" normalizeH="0" baseline="0" dirty="0">
                <a:ln>
                  <a:noFill/>
                </a:ln>
                <a:solidFill>
                  <a:schemeClr val="tx1"/>
                </a:solidFill>
                <a:effectLst/>
                <a:latin typeface="Arial" panose="020B0604020202020204" pitchFamily="34" charset="0"/>
              </a:rPr>
              <a:t>Deep Learning</a:t>
            </a:r>
            <a:r>
              <a:rPr kumimoji="0" lang="en-US" altLang="en-US" sz="2400" b="0" i="0" u="none" strike="noStrike" cap="none" normalizeH="0" baseline="0" dirty="0">
                <a:ln>
                  <a:noFill/>
                </a:ln>
                <a:solidFill>
                  <a:schemeClr val="tx1"/>
                </a:solidFill>
                <a:effectLst/>
                <a:latin typeface="Arial" panose="020B0604020202020204" pitchFamily="34" charset="0"/>
              </a:rPr>
              <a:t>, MIT Press, 2016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 Hastie, R. </a:t>
            </a:r>
            <a:r>
              <a:rPr kumimoji="0" lang="en-US" altLang="en-US" sz="2400" b="0" i="0" u="none" strike="noStrike" cap="none" normalizeH="0" baseline="0" dirty="0" err="1">
                <a:ln>
                  <a:noFill/>
                </a:ln>
                <a:solidFill>
                  <a:schemeClr val="tx1"/>
                </a:solidFill>
                <a:effectLst/>
                <a:latin typeface="Arial" panose="020B0604020202020204" pitchFamily="34" charset="0"/>
              </a:rPr>
              <a:t>Tibshirani</a:t>
            </a:r>
            <a:r>
              <a:rPr kumimoji="0" lang="en-US" altLang="en-US" sz="2400" b="0" i="0" u="none" strike="noStrike" cap="none" normalizeH="0" baseline="0" dirty="0">
                <a:ln>
                  <a:noFill/>
                </a:ln>
                <a:solidFill>
                  <a:schemeClr val="tx1"/>
                </a:solidFill>
                <a:effectLst/>
                <a:latin typeface="Arial" panose="020B0604020202020204" pitchFamily="34" charset="0"/>
              </a:rPr>
              <a:t>, J. Friedman, </a:t>
            </a:r>
            <a:r>
              <a:rPr kumimoji="0" lang="en-US" altLang="en-US" sz="2400" b="0" i="1" u="none" strike="noStrike" cap="none" normalizeH="0" baseline="0" dirty="0">
                <a:ln>
                  <a:noFill/>
                </a:ln>
                <a:solidFill>
                  <a:schemeClr val="tx1"/>
                </a:solidFill>
                <a:effectLst/>
                <a:latin typeface="Arial" panose="020B0604020202020204" pitchFamily="34" charset="0"/>
              </a:rPr>
              <a:t>The Elements of Statistical Learning</a:t>
            </a:r>
            <a:r>
              <a:rPr kumimoji="0" lang="en-US" altLang="en-US" sz="2400" b="0" i="0" u="none" strike="noStrike" cap="none" normalizeH="0" baseline="0" dirty="0">
                <a:ln>
                  <a:noFill/>
                </a:ln>
                <a:solidFill>
                  <a:schemeClr val="tx1"/>
                </a:solidFill>
                <a:effectLst/>
                <a:latin typeface="Arial" panose="020B0604020202020204" pitchFamily="34" charset="0"/>
              </a:rPr>
              <a:t>, Springer, 2009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234547" y="3345873"/>
            <a:ext cx="4592782" cy="92333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en-IN" sz="5400" b="1" spc="50" dirty="0">
                <a:ln w="11430"/>
                <a:solidFill>
                  <a:srgbClr val="002060"/>
                </a:solidFill>
                <a:effectLst>
                  <a:outerShdw blurRad="76200" dist="50800" dir="5400000" algn="tl" rotWithShape="0">
                    <a:srgbClr val="000000">
                      <a:alpha val="65000"/>
                    </a:srgbClr>
                  </a:outerShdw>
                </a:effectLst>
                <a:latin typeface="Times New Roman" panose="02020603050405020304" pitchFamily="18" charset="0"/>
                <a:cs typeface="Times New Roman" panose="02020603050405020304" pitchFamily="18" charset="0"/>
              </a:rPr>
              <a:t>THANK YOU</a:t>
            </a:r>
          </a:p>
        </p:txBody>
      </p:sp>
      <p:pic>
        <p:nvPicPr>
          <p:cNvPr id="6" name="Picture 3" descr="C:\Users\Sharad\Desktop\download veltech.png"/>
          <p:cNvPicPr>
            <a:picLocks noChangeAspect="1" noChangeArrowheads="1"/>
          </p:cNvPicPr>
          <p:nvPr/>
        </p:nvPicPr>
        <p:blipFill>
          <a:blip r:embed="rId2"/>
          <a:srcRect/>
          <a:stretch>
            <a:fillRect/>
          </a:stretch>
        </p:blipFill>
        <p:spPr bwMode="auto">
          <a:xfrm>
            <a:off x="11668264" y="6982691"/>
            <a:ext cx="4295554" cy="1438275"/>
          </a:xfrm>
          <a:prstGeom prst="rect">
            <a:avLst/>
          </a:prstGeom>
          <a:noFill/>
        </p:spPr>
      </p:pic>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sp>
        <p:nvSpPr>
          <p:cNvPr id="10" name="Footer Placeholder 9"/>
          <p:cNvSpPr>
            <a:spLocks noGrp="1"/>
          </p:cNvSpPr>
          <p:nvPr>
            <p:ph type="ftr" sz="quarter" idx="11"/>
          </p:nvPr>
        </p:nvSpPr>
        <p:spPr/>
        <p:txBody>
          <a:bodyPr/>
          <a:lstStyle/>
          <a:p>
            <a:r>
              <a:rPr lang="en-IN" dirty="0"/>
              <a:t>DEPARTMENT OF artificial intelligence and machine learning   / PROJECT TITLE</a:t>
            </a:r>
          </a:p>
        </p:txBody>
      </p:sp>
      <p:sp>
        <p:nvSpPr>
          <p:cNvPr id="11" name="Date Placeholder 10"/>
          <p:cNvSpPr>
            <a:spLocks noGrp="1"/>
          </p:cNvSpPr>
          <p:nvPr>
            <p:ph type="dt" sz="half" idx="10"/>
          </p:nvPr>
        </p:nvSpPr>
        <p:spPr/>
        <p:txBody>
          <a:bodyPr/>
          <a:lstStyle/>
          <a:p>
            <a:fld id="{FC19F4A3-E32D-4520-B9BC-6787D8D72445}" type="datetime4">
              <a:rPr lang="en-US" smtClean="0"/>
              <a:t>April 24, 2026</a:t>
            </a:fld>
            <a:endParaRPr lang="en-US"/>
          </a:p>
        </p:txBody>
      </p:sp>
      <p:pic>
        <p:nvPicPr>
          <p:cNvPr id="12" name="Picture 2" descr="C:\Users\Sharad\Desktop\Logo-Final-A veltech.png"/>
          <p:cNvPicPr>
            <a:picLocks noChangeAspect="1" noChangeArrowheads="1"/>
          </p:cNvPicPr>
          <p:nvPr/>
        </p:nvPicPr>
        <p:blipFill>
          <a:blip r:embed="rId3"/>
          <a:srcRect/>
          <a:stretch>
            <a:fillRect/>
          </a:stretch>
        </p:blipFill>
        <p:spPr bwMode="auto">
          <a:xfrm>
            <a:off x="16449323" y="7193392"/>
            <a:ext cx="1160907" cy="1223246"/>
          </a:xfrm>
          <a:prstGeom prst="rect">
            <a:avLst/>
          </a:prstGeom>
          <a:noFill/>
        </p:spPr>
      </p:pic>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56</TotalTime>
  <Words>1727</Words>
  <Application>Microsoft Office PowerPoint</Application>
  <PresentationFormat>Custom</PresentationFormat>
  <Paragraphs>259</Paragraphs>
  <Slides>25</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Times New Roman</vt:lpstr>
      <vt:lpstr>Calibri Light</vt:lpstr>
      <vt:lpstr>Wingdings</vt:lpstr>
      <vt:lpstr>Calibri</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Sharad</dc:creator>
  <cp:lastModifiedBy>eswar venkat</cp:lastModifiedBy>
  <cp:revision>32</cp:revision>
  <dcterms:created xsi:type="dcterms:W3CDTF">2024-04-12T11:56:45Z</dcterms:created>
  <dcterms:modified xsi:type="dcterms:W3CDTF">2026-04-24T13:43:20Z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B6ED9B7EF4064E06A959ADD44F089808_12</vt:lpwstr>
  </property>
  <property fmtid="{D5CDD505-2E9C-101B-9397-08002B2CF9AE}" pid="3" name="KSOProductBuildVer">
    <vt:lpwstr>1033-12.2.0.13489</vt:lpwstr>
  </property>
</Properties>
</file>