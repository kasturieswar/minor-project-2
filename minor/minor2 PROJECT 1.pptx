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4046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8" r:id="rId11"/>
    <p:sldId id="263" r:id="rId12"/>
    <p:sldId id="269" r:id="rId13"/>
    <p:sldId id="270" r:id="rId14"/>
    <p:sldId id="271" r:id="rId15"/>
  </p:sldIdLst>
  <p:sldSz cx="9144000" cy="5143500" type="screen16x9"/>
  <p:notesSz cx="6797675" cy="9926638"/>
  <p:defaultTextStyle>
    <a:defPPr lvl="0">
      <a:defRPr lang="en-US"/>
    </a:defPPr>
    <a:lvl1pPr lvl="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lvl="1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lvl="2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lvl="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lvl="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061F6FC2-9645-479A-A309-27B8F5654211}" type="datetimeFigureOut">
              <a:rPr lang="en-US"/>
              <a:pPr>
                <a:defRPr/>
              </a:pPr>
              <a:t>2/27/2026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71" tIns="47786" rIns="95571" bIns="47786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5638"/>
          </a:xfrm>
          <a:prstGeom prst="rect">
            <a:avLst/>
          </a:prstGeom>
        </p:spPr>
        <p:txBody>
          <a:bodyPr vert="horz" lIns="95571" tIns="47786" rIns="95571" bIns="4778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>
                <a:latin typeface="Calibri" pitchFamily="34" charset="0"/>
              </a:defRPr>
            </a:lvl1pPr>
          </a:lstStyle>
          <a:p>
            <a:pPr>
              <a:defRPr/>
            </a:pPr>
            <a:fld id="{F2D8CC3F-ADB2-4AF7-880C-111F7E6C7F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83742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7CB6598-6B20-4959-AEAD-7269146248E2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A0B9A4-208B-4E16-B555-2A51F0BFB952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8E10E-36D1-42AB-939C-34BEB33CD9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931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9E9B86-2CF4-48B1-B6D7-BAFE5AD3290E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426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39A8A3-5E40-4D37-96BF-4D03983E50A4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E0AD74-942B-45F6-8EEE-203197083F5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922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D3C294-6E8C-44B4-98BA-B71F441E11DA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54FDC-F986-4516-81A3-5CBC9634E9C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744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2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2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5EB36B-7579-4E22-A75C-1F345D5742FF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A63921-D0A8-45BD-ADF0-24CC5F135FE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012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9CF55F-6193-48A8-A7F6-3FEF82D24804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540F1-D866-4735-9E65-A1952EADD0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9019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01020D-54A8-4FFB-A1CA-FD4B919658D9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71F5BB-190B-45BA-B754-2541F8CA6F4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19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3D5D28-C9FF-4D3A-BB99-C138B6E9F587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3D1EAA-7E8D-49EA-BCBB-3C5BA424400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58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8681E7-1AF9-42CC-BEC0-592AA2C12F55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93E55C-A662-4067-BE20-A4D82E579A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750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2E4B7A-DF25-4C56-B396-6170996E16F8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0C11DA-FA02-4E33-93FC-C378FAF95FB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842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3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3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0D5A71-0894-4150-92A8-237524E8F949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085C4-C07B-4C80-B337-90438D59D3C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046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0B68EF4-4A93-4254-93FA-70D1F2A755E3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BATCH NO:          DEPARTMENT OF COMPUTER SCIENCE &amp; ENGINEERING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78D2778-B29C-49DB-A26C-44F5760A33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5312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49" r:id="rId3"/>
    <p:sldLayoutId id="2147484050" r:id="rId4"/>
    <p:sldLayoutId id="2147484051" r:id="rId5"/>
    <p:sldLayoutId id="2147484052" r:id="rId6"/>
    <p:sldLayoutId id="2147484053" r:id="rId7"/>
    <p:sldLayoutId id="2147484054" r:id="rId8"/>
    <p:sldLayoutId id="2147484055" r:id="rId9"/>
    <p:sldLayoutId id="2147484056" r:id="rId10"/>
    <p:sldLayoutId id="2147484057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82436" y="1729220"/>
            <a:ext cx="6792884" cy="1057275"/>
          </a:xfrm>
        </p:spPr>
        <p:txBody>
          <a:bodyPr/>
          <a:lstStyle/>
          <a:p>
            <a:pPr marL="12065" marR="5080" algn="ctr">
              <a:lnSpc>
                <a:spcPct val="120000"/>
              </a:lnSpc>
              <a:spcBef>
                <a:spcPts val="70"/>
              </a:spcBef>
            </a:pPr>
            <a:r>
              <a:rPr lang="en-IN" sz="1400" b="1" dirty="0">
                <a:solidFill>
                  <a:srgbClr val="051D40"/>
                </a:solidFill>
                <a:latin typeface="Times New Roman" pitchFamily="18" charset="0"/>
                <a:cs typeface="Times New Roman" pitchFamily="18" charset="0"/>
              </a:rPr>
              <a:t>DEPARTMENT OF ARTIFICIAL INTELLIGENCE &amp; MACHINE LEARNING</a:t>
            </a:r>
          </a:p>
          <a:p>
            <a:pPr algn="ctr">
              <a:lnSpc>
                <a:spcPct val="120000"/>
              </a:lnSpc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SCHOOL OF COMPUTING</a:t>
            </a:r>
          </a:p>
          <a:p>
            <a:pPr algn="ctr">
              <a:lnSpc>
                <a:spcPct val="120000"/>
              </a:lnSpc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10214AM602- MINOR PROJECT – II</a:t>
            </a:r>
          </a:p>
          <a:p>
            <a:pPr algn="ctr">
              <a:lnSpc>
                <a:spcPct val="120000"/>
              </a:lnSpc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ea typeface="Open Sans Extra Bold"/>
                <a:cs typeface="Times New Roman" pitchFamily="18" charset="0"/>
                <a:sym typeface="Open Sans Extra Bold"/>
              </a:rPr>
              <a:t>ACADEMIC YEAR – 2025-2025 (WINTER SEMESTER)</a:t>
            </a:r>
          </a:p>
          <a:p>
            <a:pPr>
              <a:lnSpc>
                <a:spcPct val="120000"/>
              </a:lnSpc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cs typeface="Times New Roman" pitchFamily="18" charset="0"/>
              </a:rPr>
              <a:t>REVIEW - I</a:t>
            </a:r>
            <a:endParaRPr lang="en-IN" sz="1400" b="1" dirty="0">
              <a:solidFill>
                <a:srgbClr val="051D4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defRPr/>
            </a:pPr>
            <a:endParaRPr lang="en-US" sz="1400" b="1" dirty="0">
              <a:solidFill>
                <a:srgbClr val="051D40"/>
              </a:solidFill>
              <a:latin typeface="Times New Roman" pitchFamily="18" charset="0"/>
              <a:ea typeface="Open Sans Extra Bold"/>
              <a:cs typeface="Times New Roman" pitchFamily="18" charset="0"/>
              <a:sym typeface="Open Sans Extra Bold"/>
            </a:endParaRPr>
          </a:p>
          <a:p>
            <a:pPr algn="ctr">
              <a:defRPr/>
            </a:pPr>
            <a:endParaRPr lang="en-US" sz="1400" b="1" dirty="0">
              <a:solidFill>
                <a:srgbClr val="051D4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algn="ctr">
              <a:defRPr/>
            </a:pPr>
            <a:r>
              <a:rPr lang="en-US" sz="1400" b="1" dirty="0">
                <a:solidFill>
                  <a:srgbClr val="051D40"/>
                </a:solidFill>
                <a:latin typeface="Times New Roman" pitchFamily="18" charset="0"/>
                <a:cs typeface="Times New Roman" pitchFamily="18" charset="0"/>
                <a:sym typeface="Open Sans Extra Bold"/>
              </a:rPr>
              <a:t> </a:t>
            </a:r>
            <a:endParaRPr lang="en-US" sz="1400" b="1" dirty="0">
              <a:solidFill>
                <a:srgbClr val="051D4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7" name="TextBox 6"/>
          <p:cNvSpPr txBox="1">
            <a:spLocks noChangeArrowheads="1"/>
          </p:cNvSpPr>
          <p:nvPr/>
        </p:nvSpPr>
        <p:spPr bwMode="auto">
          <a:xfrm flipH="1">
            <a:off x="180110" y="3416878"/>
            <a:ext cx="457477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12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PRESENTED BY</a:t>
            </a:r>
          </a:p>
          <a:p>
            <a:pPr marL="228600" indent="-228600" eaLnBrk="1" fontAlgn="auto" hangingPunct="1">
              <a:spcAft>
                <a:spcPts val="0"/>
              </a:spcAft>
              <a:buAutoNum type="arabicPeriod"/>
              <a:defRPr/>
            </a:pPr>
            <a:r>
              <a:rPr lang="en-US" sz="12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Sri Deekshitha </a:t>
            </a:r>
            <a:r>
              <a:rPr lang="en-US" sz="1200" b="1" dirty="0" err="1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Gumalla</a:t>
            </a:r>
            <a:r>
              <a:rPr lang="en-US" sz="12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(VTU 28350)(23UEAM2008)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1200" b="1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2. Eswar Venkat Kasturi (VTU 28351)(23UEAM2003)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3516" y="3075059"/>
            <a:ext cx="3567546" cy="1510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385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spc="-55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SUPERVISED BY</a:t>
            </a:r>
          </a:p>
          <a:p>
            <a:pPr eaLnBrk="1" fontAlgn="auto" hangingPunct="1">
              <a:lnSpc>
                <a:spcPts val="385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spc="-55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                          </a:t>
            </a:r>
            <a:r>
              <a:rPr lang="en-US" sz="1200" b="1" spc="-55" dirty="0" err="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Dr.S.Alex</a:t>
            </a:r>
            <a:r>
              <a:rPr lang="en-US" sz="1200" b="1" spc="-55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 David</a:t>
            </a:r>
          </a:p>
          <a:p>
            <a:pPr eaLnBrk="1" fontAlgn="auto" hangingPunct="1">
              <a:lnSpc>
                <a:spcPts val="385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spc="-55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 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29DAF8-A0B3-F6FD-62BC-8B203C5B0C1D}"/>
              </a:ext>
            </a:extLst>
          </p:cNvPr>
          <p:cNvSpPr/>
          <p:nvPr/>
        </p:nvSpPr>
        <p:spPr>
          <a:xfrm>
            <a:off x="955929" y="2571750"/>
            <a:ext cx="78488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STUDENT PERFORMANCE PREDICTION SYSTEM</a:t>
            </a:r>
            <a:endParaRPr lang="en-IN" sz="1400" b="1" dirty="0">
              <a:solidFill>
                <a:srgbClr val="051D4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D07D00-A87A-6DDA-7C8E-B8F2F0984771}"/>
              </a:ext>
            </a:extLst>
          </p:cNvPr>
          <p:cNvSpPr/>
          <p:nvPr/>
        </p:nvSpPr>
        <p:spPr>
          <a:xfrm>
            <a:off x="-2915356" y="2998107"/>
            <a:ext cx="78488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solidFill>
                  <a:srgbClr val="051D40"/>
                </a:solidFill>
                <a:latin typeface="Times New Roman" pitchFamily="18" charset="0"/>
                <a:cs typeface="Times New Roman" pitchFamily="18" charset="0"/>
              </a:rPr>
              <a:t>BATCH NO :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36FE1D-BA81-D54B-5A9D-42B0434FF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3D882B-C7CB-438B-9D16-36506C8E5A9D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28B28020-4CFE-84AD-E107-DD8BA8306E25}"/>
              </a:ext>
            </a:extLst>
          </p:cNvPr>
          <p:cNvSpPr txBox="1">
            <a:spLocks/>
          </p:cNvSpPr>
          <p:nvPr/>
        </p:nvSpPr>
        <p:spPr>
          <a:xfrm>
            <a:off x="2914333" y="4876410"/>
            <a:ext cx="603986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lvl="0"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lvl="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lvl="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lvl="3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lvl="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lvl="5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lvl="6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lvl="7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lvl="8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 dirty="0"/>
              <a:t>DEPARTMENT </a:t>
            </a:r>
            <a:r>
              <a:rPr lang="en-IN" dirty="0"/>
              <a:t>ARTIFICIAL INTELLIGENCE &amp; MACHINE LEARNING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36D884-4CEA-9E1B-997D-2F65EA31F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01" y="95406"/>
            <a:ext cx="8191500" cy="11144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/>
          </p:cNvSpPr>
          <p:nvPr>
            <p:ph type="title"/>
          </p:nvPr>
        </p:nvSpPr>
        <p:spPr>
          <a:xfrm>
            <a:off x="0" y="114300"/>
            <a:ext cx="8991600" cy="938297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Project Title </a:t>
            </a:r>
            <a:endParaRPr lang="en-US" sz="2400" dirty="0">
              <a:solidFill>
                <a:schemeClr val="accent1">
                  <a:satMod val="1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4C9F69-8D19-4DDA-90DF-98A742B56BDA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9219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</a:pPr>
            <a:fld id="{089DB55B-AF57-424A-AA3C-DDAA088D3F76}" type="slidenum">
              <a:rPr lang="en-US" altLang="en-US" sz="1100"/>
              <a:pPr>
                <a:lnSpc>
                  <a:spcPct val="90000"/>
                </a:lnSpc>
              </a:pPr>
              <a:t>2</a:t>
            </a:fld>
            <a:endParaRPr lang="en-US" altLang="en-US" sz="1100"/>
          </a:p>
        </p:txBody>
      </p:sp>
      <p:sp>
        <p:nvSpPr>
          <p:cNvPr id="2" name="Rectangle 1"/>
          <p:cNvSpPr/>
          <p:nvPr/>
        </p:nvSpPr>
        <p:spPr>
          <a:xfrm>
            <a:off x="640585" y="1389557"/>
            <a:ext cx="3837333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AGENDA</a:t>
            </a:r>
          </a:p>
          <a:p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Introduction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Literature Survey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Problem Statement	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Proposed Methodology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Proposed System Architecture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Implementation Plan/Timeline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Conclusion and Future Work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References</a:t>
            </a:r>
          </a:p>
          <a:p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endParaRPr lang="en-IN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5C7CBDB-3999-F03C-0C6B-A9B0875727CA}"/>
              </a:ext>
            </a:extLst>
          </p:cNvPr>
          <p:cNvSpPr txBox="1">
            <a:spLocks/>
          </p:cNvSpPr>
          <p:nvPr/>
        </p:nvSpPr>
        <p:spPr>
          <a:xfrm>
            <a:off x="2914333" y="4876410"/>
            <a:ext cx="603986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lvl="0"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lvl="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lvl="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lvl="3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lvl="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lvl="5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lvl="6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lvl="7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lvl="8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 dirty="0"/>
              <a:t>DEPARTMENT </a:t>
            </a:r>
            <a:r>
              <a:rPr lang="en-IN" dirty="0"/>
              <a:t>ARTIFICIAL INTELLIGENCE &amp; MACHINE LEARNING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>
                <a:solidFill>
                  <a:srgbClr val="FFC000"/>
                </a:solidFill>
              </a:rPr>
              <a:t>Introduction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457200" y="1123950"/>
            <a:ext cx="8229600" cy="3468687"/>
          </a:xfrm>
        </p:spPr>
        <p:txBody>
          <a:bodyPr/>
          <a:lstStyle/>
          <a:p>
            <a:pPr>
              <a:buNone/>
            </a:pPr>
            <a:endParaRPr lang="en-US" sz="2400" dirty="0"/>
          </a:p>
          <a:p>
            <a:pPr marL="119062" indent="0">
              <a:buNone/>
            </a:pPr>
            <a:r>
              <a:rPr lang="en-US" sz="2400" dirty="0"/>
              <a:t> </a:t>
            </a:r>
          </a:p>
          <a:p>
            <a:endParaRPr lang="en-US" altLang="en-US" sz="2400" dirty="0">
              <a:solidFill>
                <a:srgbClr val="0000FF"/>
              </a:solidFill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045F47-43EB-4CFA-85B8-57EC616EA918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3317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16E5D142-761C-4AC0-BD20-EECEB6996668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564995" y="996177"/>
            <a:ext cx="783799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Problem Statement: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Identifying weak students early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Improving academic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Providing personalized support</a:t>
            </a:r>
          </a:p>
          <a:p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Project Goal:</a:t>
            </a:r>
          </a:p>
          <a:p>
            <a:r>
              <a:rPr lang="en-US" dirty="0"/>
              <a:t>To develop a </a:t>
            </a:r>
            <a:r>
              <a:rPr lang="en-US" b="1" dirty="0"/>
              <a:t>Machine Learning based system</a:t>
            </a:r>
            <a:r>
              <a:rPr lang="en-US" dirty="0"/>
              <a:t> that predicts student </a:t>
            </a:r>
          </a:p>
          <a:p>
            <a:r>
              <a:rPr lang="en-US" dirty="0"/>
              <a:t>performance based on academic, behavioral, and demographic factors</a:t>
            </a:r>
          </a:p>
          <a:p>
            <a:r>
              <a:rPr lang="en-US" dirty="0"/>
              <a:t>.</a:t>
            </a:r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Brief Overview: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Analyze</a:t>
            </a:r>
            <a:r>
              <a:rPr lang="en-IN" dirty="0"/>
              <a:t> student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 final grades or pass/fail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 institutions take early intervention steps</a:t>
            </a:r>
            <a:endParaRPr lang="en-IN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63FA2EE-B278-8954-8C5C-6D2ADCEFB239}"/>
              </a:ext>
            </a:extLst>
          </p:cNvPr>
          <p:cNvSpPr txBox="1">
            <a:spLocks/>
          </p:cNvSpPr>
          <p:nvPr/>
        </p:nvSpPr>
        <p:spPr>
          <a:xfrm>
            <a:off x="2914333" y="4876410"/>
            <a:ext cx="603986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lvl="0"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lvl="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lvl="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lvl="3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lvl="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lvl="5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lvl="6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lvl="7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lvl="8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 dirty="0"/>
              <a:t>DEPARTMENT </a:t>
            </a:r>
            <a:r>
              <a:rPr lang="en-IN" dirty="0"/>
              <a:t>ARTIFICIAL INTELLIGENCE &amp; MACHINE LEARNING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>
                <a:solidFill>
                  <a:srgbClr val="FFC000"/>
                </a:solidFill>
              </a:rPr>
              <a:t>Literature Survey 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457200" y="1123950"/>
            <a:ext cx="8229600" cy="3468687"/>
          </a:xfrm>
        </p:spPr>
        <p:txBody>
          <a:bodyPr/>
          <a:lstStyle/>
          <a:p>
            <a:pPr>
              <a:buNone/>
            </a:pPr>
            <a:endParaRPr lang="en-US" sz="2400" dirty="0"/>
          </a:p>
          <a:p>
            <a:endParaRPr lang="en-US" altLang="en-US" sz="2400" dirty="0">
              <a:solidFill>
                <a:srgbClr val="0000FF"/>
              </a:solidFill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357140-C9D4-4989-A73C-42BDB9E92689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3317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16E5D142-761C-4AC0-BD20-EECEB6996668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594732" y="1011045"/>
            <a:ext cx="8359461" cy="4020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ts val="3079"/>
              </a:lnSpc>
              <a:spcAft>
                <a:spcPts val="0"/>
              </a:spcAft>
              <a:defRPr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Existing Systems and Related Works:</a:t>
            </a:r>
          </a:p>
          <a:p>
            <a:pPr marL="285750" indent="-285750" eaLnBrk="1" fontAlgn="auto" hangingPunct="1">
              <a:lnSpc>
                <a:spcPts val="3079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Manual performance analysis by teachers</a:t>
            </a:r>
          </a:p>
          <a:p>
            <a:pPr marL="285750" indent="-285750" eaLnBrk="1" fontAlgn="auto" hangingPunct="1">
              <a:lnSpc>
                <a:spcPts val="3079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IN" dirty="0"/>
              <a:t>Percentage-based evaluation systems</a:t>
            </a:r>
          </a:p>
          <a:p>
            <a:pPr marL="285750" indent="-285750" eaLnBrk="1" fontAlgn="auto" hangingPunct="1">
              <a:lnSpc>
                <a:spcPts val="3079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IN" dirty="0"/>
              <a:t>Simple statistical analysis methods</a:t>
            </a:r>
          </a:p>
          <a:p>
            <a:pPr eaLnBrk="1" fontAlgn="auto" hangingPunct="1">
              <a:lnSpc>
                <a:spcPts val="3079"/>
              </a:lnSpc>
              <a:spcAft>
                <a:spcPts val="0"/>
              </a:spcAft>
              <a:defRPr/>
            </a:pPr>
            <a:r>
              <a:rPr lang="en-IN" b="1" dirty="0" err="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Reasearch</a:t>
            </a:r>
            <a:r>
              <a:rPr lang="en-IN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Insights:</a:t>
            </a:r>
          </a:p>
          <a:p>
            <a:pPr marL="285750" indent="-285750" eaLnBrk="1" fontAlgn="auto" hangingPunct="1">
              <a:lnSpc>
                <a:spcPts val="3079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Machine Learning improves prediction accuracy</a:t>
            </a:r>
          </a:p>
          <a:p>
            <a:pPr marL="285750" indent="-285750" eaLnBrk="1" fontAlgn="auto" hangingPunct="1">
              <a:lnSpc>
                <a:spcPts val="3079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Decision Trees &amp; Random Forest give strong results</a:t>
            </a:r>
          </a:p>
          <a:p>
            <a:pPr marL="285750" indent="-285750" eaLnBrk="1" fontAlgn="auto" hangingPunct="1">
              <a:lnSpc>
                <a:spcPts val="3079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Early prediction reduces dropout rates</a:t>
            </a:r>
          </a:p>
          <a:p>
            <a:pPr marL="285750" indent="-285750" eaLnBrk="1" fontAlgn="auto" hangingPunct="1">
              <a:lnSpc>
                <a:spcPts val="3079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Feature selection improves model performance</a:t>
            </a:r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eaLnBrk="1" fontAlgn="auto" hangingPunct="1">
              <a:lnSpc>
                <a:spcPts val="3079"/>
              </a:lnSpc>
              <a:spcAft>
                <a:spcPts val="0"/>
              </a:spcAft>
              <a:defRPr/>
            </a:pPr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9C8A92CF-EDE3-7D33-A2E2-9D04DCF25148}"/>
              </a:ext>
            </a:extLst>
          </p:cNvPr>
          <p:cNvSpPr txBox="1">
            <a:spLocks/>
          </p:cNvSpPr>
          <p:nvPr/>
        </p:nvSpPr>
        <p:spPr>
          <a:xfrm>
            <a:off x="2914333" y="4876410"/>
            <a:ext cx="603986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lvl="0"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lvl="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lvl="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lvl="3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lvl="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lvl="5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lvl="6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lvl="7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lvl="8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 dirty="0"/>
              <a:t>DEPARTMENT </a:t>
            </a:r>
            <a:r>
              <a:rPr lang="en-IN" dirty="0"/>
              <a:t>ARTIFICIAL INTELLIGENCE &amp; MACHINE LEARNING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>
                <a:solidFill>
                  <a:srgbClr val="FFC000"/>
                </a:solidFill>
              </a:rPr>
              <a:t>Problem Statement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57200" y="1331913"/>
            <a:ext cx="8229600" cy="3297237"/>
          </a:xfrm>
        </p:spPr>
        <p:txBody>
          <a:bodyPr/>
          <a:lstStyle/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ACBBD2-2467-438D-92B5-6E0AEE3BCC72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6" name="Rectangle 5"/>
          <p:cNvSpPr/>
          <p:nvPr/>
        </p:nvSpPr>
        <p:spPr>
          <a:xfrm>
            <a:off x="696176" y="1424193"/>
            <a:ext cx="4794902" cy="25853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Predicting student performance accurately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Identifying at-risk students early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Reducing dropout rates</a:t>
            </a:r>
          </a:p>
          <a:p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Limitations of Existing Solutions: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Manual evaluation is time-consuming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 early warning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Lack of data-driven decision making</a:t>
            </a:r>
            <a:endParaRPr lang="en-IN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15CD20B-74CE-9B56-4EF3-547F68B6D873}"/>
              </a:ext>
            </a:extLst>
          </p:cNvPr>
          <p:cNvSpPr txBox="1">
            <a:spLocks/>
          </p:cNvSpPr>
          <p:nvPr/>
        </p:nvSpPr>
        <p:spPr>
          <a:xfrm>
            <a:off x="2914333" y="4876410"/>
            <a:ext cx="603986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lvl="0"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lvl="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lvl="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lvl="3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lvl="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lvl="5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lvl="6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lvl="7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lvl="8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 dirty="0"/>
              <a:t>DEPARTMENT </a:t>
            </a:r>
            <a:r>
              <a:rPr lang="en-IN" dirty="0"/>
              <a:t>ARTIFICIAL INTELLIGENCE &amp; MACHINE LEARNING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sz="3700" dirty="0">
                <a:solidFill>
                  <a:srgbClr val="FFC000"/>
                </a:solidFill>
              </a:rPr>
              <a:t>Proposed Methodology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192881" y="1331913"/>
            <a:ext cx="8493919" cy="3297237"/>
          </a:xfrm>
        </p:spPr>
        <p:txBody>
          <a:bodyPr/>
          <a:lstStyle/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119062" indent="0">
              <a:buNone/>
            </a:pPr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769019-FB0F-4A75-9CAB-E3ABAFEBEF9F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364273" y="1391629"/>
            <a:ext cx="5496031" cy="2430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fontAlgn="auto" hangingPunct="1">
              <a:lnSpc>
                <a:spcPts val="3079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Steps Involved :</a:t>
            </a:r>
          </a:p>
          <a:p>
            <a:pPr marL="285750" indent="-285750" eaLnBrk="1" fontAlgn="auto" hangingPunct="1">
              <a:lnSpc>
                <a:spcPts val="3079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dirty="0"/>
              <a:t>Data Collection</a:t>
            </a:r>
          </a:p>
          <a:p>
            <a:pPr marL="285750" indent="-285750" eaLnBrk="1" fontAlgn="auto" hangingPunct="1">
              <a:lnSpc>
                <a:spcPts val="3079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dirty="0"/>
              <a:t>Data Preprocessing</a:t>
            </a:r>
          </a:p>
          <a:p>
            <a:pPr marL="285750" indent="-285750" eaLnBrk="1" fontAlgn="auto" hangingPunct="1">
              <a:lnSpc>
                <a:spcPts val="3079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dirty="0"/>
              <a:t>Exploratory Data Analysis</a:t>
            </a:r>
          </a:p>
          <a:p>
            <a:pPr marL="285750" indent="-285750" eaLnBrk="1" fontAlgn="auto" hangingPunct="1">
              <a:lnSpc>
                <a:spcPts val="3079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dirty="0"/>
              <a:t>Model Training</a:t>
            </a:r>
          </a:p>
          <a:p>
            <a:pPr marL="285750" indent="-285750" eaLnBrk="1" fontAlgn="auto" hangingPunct="1">
              <a:lnSpc>
                <a:spcPts val="3079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dirty="0"/>
              <a:t>Model Evaluation</a:t>
            </a:r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827962A-5400-A944-CC89-A95E27D79209}"/>
              </a:ext>
            </a:extLst>
          </p:cNvPr>
          <p:cNvSpPr txBox="1">
            <a:spLocks/>
          </p:cNvSpPr>
          <p:nvPr/>
        </p:nvSpPr>
        <p:spPr>
          <a:xfrm>
            <a:off x="2914333" y="4876410"/>
            <a:ext cx="603986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lvl="0"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lvl="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lvl="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lvl="3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lvl="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lvl="5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lvl="6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lvl="7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lvl="8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 dirty="0"/>
              <a:t>DEPARTMENT </a:t>
            </a:r>
            <a:r>
              <a:rPr lang="en-IN" dirty="0"/>
              <a:t>ARTIFICIAL INTELLIGENCE &amp; MACHINE LEARNING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0138"/>
            <a:ext cx="8229600" cy="85725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>
                <a:solidFill>
                  <a:srgbClr val="FFC000"/>
                </a:solidFill>
              </a:rPr>
              <a:t>Proposed System Architecture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692727" y="1449677"/>
            <a:ext cx="8229600" cy="3297237"/>
          </a:xfrm>
        </p:spPr>
        <p:txBody>
          <a:bodyPr/>
          <a:lstStyle/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7BE6DF-541C-4495-BC6C-4CB756F946FF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6D1FF9B-42BC-E175-6A57-66F90F3C85F7}"/>
              </a:ext>
            </a:extLst>
          </p:cNvPr>
          <p:cNvSpPr txBox="1">
            <a:spLocks/>
          </p:cNvSpPr>
          <p:nvPr/>
        </p:nvSpPr>
        <p:spPr>
          <a:xfrm>
            <a:off x="2914333" y="4876410"/>
            <a:ext cx="603986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lvl="0"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lvl="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lvl="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lvl="3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lvl="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lvl="5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lvl="6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lvl="7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lvl="8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 dirty="0"/>
              <a:t>DEPARTMENT </a:t>
            </a:r>
            <a:r>
              <a:rPr lang="en-IN" dirty="0"/>
              <a:t>ARTIFICIAL INTELLIGENCE &amp; MACHINE LEARNING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F13343-D636-2DFA-AE29-08E7B8F90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949" y="713825"/>
            <a:ext cx="2755280" cy="41036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</a:rPr>
              <a:t>Summary of Module -1  &amp; 2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57200" y="973873"/>
            <a:ext cx="8229600" cy="3655277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33DD6B-0B28-491A-A486-1BACEB1B935B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E87B922-7171-3A6B-9656-D36A505EB622}"/>
              </a:ext>
            </a:extLst>
          </p:cNvPr>
          <p:cNvSpPr txBox="1">
            <a:spLocks/>
          </p:cNvSpPr>
          <p:nvPr/>
        </p:nvSpPr>
        <p:spPr>
          <a:xfrm>
            <a:off x="2914333" y="4876410"/>
            <a:ext cx="603986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lvl="0"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lvl="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lvl="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lvl="3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lvl="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lvl="5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lvl="6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lvl="7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lvl="8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 dirty="0"/>
              <a:t>DEPARTMENT </a:t>
            </a:r>
            <a:r>
              <a:rPr lang="en-IN" dirty="0"/>
              <a:t>ARTIFICIAL INTELLIGENCE &amp; MACHINE LEARNING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D31B4F-6759-8E28-109E-13D2A2CD1DC3}"/>
              </a:ext>
            </a:extLst>
          </p:cNvPr>
          <p:cNvSpPr txBox="1"/>
          <p:nvPr/>
        </p:nvSpPr>
        <p:spPr>
          <a:xfrm>
            <a:off x="572429" y="973873"/>
            <a:ext cx="838176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Module-1: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To gather relevant and high-quality data for model development.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Collected student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Cleaned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Converted categorical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Gathered demographic details such as age and background.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Module-2: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Objective:</a:t>
            </a:r>
            <a:r>
              <a:rPr lang="en-US" dirty="0"/>
              <a:t>To clean and prepare the dataset for machine learning algorithms.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Handled missing values using mean/median/mode techniques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Analyzed</a:t>
            </a:r>
            <a:r>
              <a:rPr lang="en-IN" dirty="0"/>
              <a:t> attendance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Studied study hours vs marks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Visualized grade distribution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</a:rPr>
              <a:t>Summary of  Modules -3 &amp; 4 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57200" y="1331913"/>
            <a:ext cx="8229600" cy="3297237"/>
          </a:xfrm>
        </p:spPr>
        <p:txBody>
          <a:bodyPr/>
          <a:lstStyle/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37AF3A-1BA4-4ABC-931A-1FCF1E47830D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88593D0-42C6-5446-2023-72427E05F8EB}"/>
              </a:ext>
            </a:extLst>
          </p:cNvPr>
          <p:cNvSpPr txBox="1">
            <a:spLocks/>
          </p:cNvSpPr>
          <p:nvPr/>
        </p:nvSpPr>
        <p:spPr>
          <a:xfrm>
            <a:off x="2914333" y="4876410"/>
            <a:ext cx="603986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lvl="0"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lvl="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lvl="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lvl="3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lvl="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lvl="5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lvl="6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lvl="7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lvl="8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 dirty="0"/>
              <a:t>DEPARTMENT </a:t>
            </a:r>
            <a:r>
              <a:rPr lang="en-IN" dirty="0"/>
              <a:t>ARTIFICIAL INTELLIGENCE &amp; MACHINE LEARNING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BA792E-F9C0-9831-C06B-F793C908A45F}"/>
              </a:ext>
            </a:extLst>
          </p:cNvPr>
          <p:cNvSpPr txBox="1"/>
          <p:nvPr/>
        </p:nvSpPr>
        <p:spPr>
          <a:xfrm>
            <a:off x="594732" y="884663"/>
            <a:ext cx="809206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Module-3: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Objective: </a:t>
            </a:r>
            <a:r>
              <a:rPr lang="en-US" dirty="0"/>
              <a:t>To build a predictive model for student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Split dataset into training and testing sets (e.g., 80%-20%).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Applied multiple Machine Learning algorithms.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Trained models using training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Compared model performance using accuracy scores.</a:t>
            </a:r>
          </a:p>
          <a:p>
            <a:endParaRPr lang="en-US" dirty="0"/>
          </a:p>
          <a:p>
            <a:r>
              <a:rPr lang="en-US" b="1" dirty="0"/>
              <a:t>Module-4: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Objective:</a:t>
            </a:r>
            <a:r>
              <a:rPr lang="en-US" dirty="0" err="1"/>
              <a:t>To</a:t>
            </a:r>
            <a:r>
              <a:rPr lang="en-US" dirty="0"/>
              <a:t> validate the effectiveness of the prediction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Tested model using unseen test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Generated Confusion Matrix for classification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Reduced overfitting and improved generalization.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Analyzed prediction errors and misclassification cases.</a:t>
            </a:r>
            <a:endParaRPr lang="en-IN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 anchorCtr="1">
            <a:noAutofit/>
          </a:bodyPr>
          <a:lstStyle/>
          <a:p>
            <a:pPr algn="ctr">
              <a:defRPr/>
            </a:pPr>
            <a:r>
              <a:rPr lang="en-US" altLang="en-US" sz="3500" dirty="0">
                <a:solidFill>
                  <a:srgbClr val="FFC000"/>
                </a:solidFill>
              </a:rPr>
              <a:t>Software &amp; Hardware Requirements  Specification 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57200" y="1331913"/>
            <a:ext cx="3054096" cy="3297237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Software: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Python</a:t>
            </a:r>
          </a:p>
          <a:p>
            <a:pPr algn="just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Jupyter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Notebook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NumPy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Pandas</a:t>
            </a:r>
          </a:p>
          <a:p>
            <a:pPr algn="just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Seasborn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Matplotlib</a:t>
            </a: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A9E7BC-88D7-4AEC-8A80-D9F328442F02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126375F-3E82-44E1-F02F-9A76EF88E3EB}"/>
              </a:ext>
            </a:extLst>
          </p:cNvPr>
          <p:cNvSpPr txBox="1">
            <a:spLocks/>
          </p:cNvSpPr>
          <p:nvPr/>
        </p:nvSpPr>
        <p:spPr>
          <a:xfrm>
            <a:off x="2914333" y="4876410"/>
            <a:ext cx="603986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lvl="0"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lvl="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lvl="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lvl="3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lvl="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lvl="5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lvl="6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lvl="7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lvl="8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 dirty="0"/>
              <a:t>DEPARTMENT </a:t>
            </a:r>
            <a:r>
              <a:rPr lang="en-IN" dirty="0"/>
              <a:t>ARTIFICIAL INTELLIGENCE &amp; MACHINE LEARNING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720183-34CF-6BA4-D798-2894B81AE907}"/>
              </a:ext>
            </a:extLst>
          </p:cNvPr>
          <p:cNvSpPr txBox="1"/>
          <p:nvPr/>
        </p:nvSpPr>
        <p:spPr>
          <a:xfrm>
            <a:off x="4572000" y="1371421"/>
            <a:ext cx="35844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Hardware</a:t>
            </a:r>
            <a:r>
              <a:rPr lang="en-IN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Minimum 8GB 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Intel i5 or above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20GB free storage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rgbClr val="FFC000"/>
                </a:solidFill>
              </a:rPr>
              <a:t> Implementation Plan/Timeline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57200" y="1331913"/>
            <a:ext cx="8229600" cy="3297237"/>
          </a:xfrm>
        </p:spPr>
        <p:txBody>
          <a:bodyPr/>
          <a:lstStyle/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8B3E99-CB2E-425E-8CED-51697BF29159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74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E6035934-7A1E-49A9-8F0E-54D446F4B506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312234" y="936702"/>
            <a:ext cx="781328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Week 1-2:</a:t>
            </a:r>
          </a:p>
          <a:p>
            <a:pPr marL="285750" indent="-285750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IN" dirty="0"/>
              <a:t>Dataset Collection</a:t>
            </a:r>
            <a:endParaRPr lang="en-IN" b="1" dirty="0"/>
          </a:p>
          <a:p>
            <a:pPr marL="285750" indent="-285750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IN" dirty="0"/>
              <a:t>Problem Definition &amp; Literature Survey</a:t>
            </a:r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Week 3-4: </a:t>
            </a:r>
          </a:p>
          <a:p>
            <a:pPr marL="285750" indent="-285750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IN" dirty="0"/>
              <a:t>Data Preprocessing</a:t>
            </a:r>
          </a:p>
          <a:p>
            <a:pPr marL="285750" indent="-285750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IN" dirty="0"/>
              <a:t>Exploratory Data Analysis</a:t>
            </a:r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Week 5-6:</a:t>
            </a:r>
          </a:p>
          <a:p>
            <a:pPr marL="285750" indent="-285750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IN" dirty="0"/>
              <a:t>Model Building</a:t>
            </a:r>
          </a:p>
          <a:p>
            <a:pPr marL="285750" indent="-285750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IN" dirty="0"/>
              <a:t>Model Optimization</a:t>
            </a:r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Week 7-8:</a:t>
            </a:r>
          </a:p>
          <a:p>
            <a:pPr marL="285750" indent="-285750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IN" dirty="0"/>
              <a:t>Model Evaluation</a:t>
            </a:r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marL="285750" indent="-285750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IN" dirty="0"/>
              <a:t>Documentation &amp; Presentation</a:t>
            </a:r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marL="285750" indent="-285750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  <a:p>
            <a:pPr marL="285750" indent="-285750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b="1" dirty="0">
              <a:solidFill>
                <a:srgbClr val="000000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BE8E022-291C-56AF-3F74-C038F4157296}"/>
              </a:ext>
            </a:extLst>
          </p:cNvPr>
          <p:cNvSpPr txBox="1">
            <a:spLocks/>
          </p:cNvSpPr>
          <p:nvPr/>
        </p:nvSpPr>
        <p:spPr>
          <a:xfrm>
            <a:off x="2914333" y="4876410"/>
            <a:ext cx="603986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lvl="0"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lvl="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lvl="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lvl="3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lvl="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lvl="5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lvl="6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lvl="7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lvl="8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 dirty="0"/>
              <a:t>DEPARTMENT </a:t>
            </a:r>
            <a:r>
              <a:rPr lang="en-IN" dirty="0"/>
              <a:t>ARTIFICIAL INTELLIGENCE &amp; MACHINE LEARNING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>
                <a:solidFill>
                  <a:srgbClr val="FFC000"/>
                </a:solidFill>
              </a:rPr>
              <a:t>Conclusion and Future Work</a:t>
            </a:r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457200" y="1011044"/>
            <a:ext cx="8229600" cy="375622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000" b="1" dirty="0"/>
              <a:t>Conclusion:</a:t>
            </a:r>
          </a:p>
          <a:p>
            <a:r>
              <a:rPr lang="en-US" sz="2000" dirty="0"/>
              <a:t>AI-based student prediction improves academic monitoring</a:t>
            </a:r>
          </a:p>
          <a:p>
            <a:r>
              <a:rPr lang="en-US" sz="2000" dirty="0"/>
              <a:t>Helps identify weak students early</a:t>
            </a:r>
          </a:p>
          <a:p>
            <a:r>
              <a:rPr lang="en-IN" sz="2000" dirty="0"/>
              <a:t>Supports data-driven decisions</a:t>
            </a:r>
          </a:p>
          <a:p>
            <a:r>
              <a:rPr lang="en-IN" sz="2000" dirty="0"/>
              <a:t>Reduces dropout rates</a:t>
            </a:r>
          </a:p>
          <a:p>
            <a:r>
              <a:rPr lang="en-IN" sz="2000" dirty="0"/>
              <a:t>Improves overall academic performance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Future Work:</a:t>
            </a:r>
          </a:p>
          <a:p>
            <a:r>
              <a:rPr lang="en-IN" sz="2000" dirty="0"/>
              <a:t>Deploy as Web Application</a:t>
            </a:r>
          </a:p>
          <a:p>
            <a:r>
              <a:rPr lang="en-IN" sz="2000" dirty="0"/>
              <a:t>Add Real-time prediction system</a:t>
            </a:r>
          </a:p>
          <a:p>
            <a:r>
              <a:rPr lang="en-IN" sz="2000" dirty="0"/>
              <a:t>Integrate with College ERP</a:t>
            </a:r>
          </a:p>
          <a:p>
            <a:r>
              <a:rPr lang="en-IN" sz="2000" dirty="0"/>
              <a:t>Add Student Performance Dashboard</a:t>
            </a:r>
            <a:endParaRPr lang="en-IN" sz="2000" b="1" dirty="0"/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AutoNum type="arabicPeriod" startAt="5"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buAutoNum type="arabicPeriod" startAt="5"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30000"/>
              </a:spcBef>
              <a:spcAft>
                <a:spcPct val="30000"/>
              </a:spcAft>
            </a:pPr>
            <a:endParaRPr lang="en-US" altLang="en-US" sz="18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63FE90-D020-4B3E-8B4D-100D42E03330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2253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fld id="{00166CF0-84B4-4016-8045-F92C16523328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3C5E9F7-CA35-4932-97BC-09F32FE65412}"/>
              </a:ext>
            </a:extLst>
          </p:cNvPr>
          <p:cNvSpPr txBox="1">
            <a:spLocks/>
          </p:cNvSpPr>
          <p:nvPr/>
        </p:nvSpPr>
        <p:spPr>
          <a:xfrm>
            <a:off x="2914333" y="4876410"/>
            <a:ext cx="603986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lvl="0"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lvl="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lvl="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lvl="3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lvl="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lvl="5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lvl="6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lvl="7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lvl="8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 dirty="0"/>
              <a:t>DEPARTMENT </a:t>
            </a:r>
            <a:r>
              <a:rPr lang="en-IN" dirty="0"/>
              <a:t>ARTIFICIAL INTELLIGENCE &amp; MACHINE LEARNING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dirty="0"/>
              <a:t>References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0849"/>
            <a:ext cx="8229600" cy="3843774"/>
          </a:xfrm>
        </p:spPr>
        <p:txBody>
          <a:bodyPr>
            <a:normAutofit/>
          </a:bodyPr>
          <a:lstStyle/>
          <a:p>
            <a:pPr marL="576262" indent="-457200"/>
            <a:r>
              <a:rPr lang="en-IN" sz="2400" dirty="0"/>
              <a:t>Scikit-learn Documentation</a:t>
            </a:r>
          </a:p>
          <a:p>
            <a:pPr marL="576262" indent="-457200"/>
            <a:r>
              <a:rPr lang="en-US" sz="2400" dirty="0"/>
              <a:t>Research papers on Student Performance Prediction</a:t>
            </a:r>
          </a:p>
          <a:p>
            <a:pPr marL="576262" indent="-457200"/>
            <a:r>
              <a:rPr lang="en-IN" sz="2400" dirty="0"/>
              <a:t>Kaggle Student Dataset</a:t>
            </a:r>
          </a:p>
          <a:p>
            <a:pPr marL="576262" indent="-457200"/>
            <a:r>
              <a:rPr lang="en-US" sz="2400" dirty="0"/>
              <a:t>Educational Data Mining Research Articles</a:t>
            </a:r>
          </a:p>
          <a:p>
            <a:pPr marL="576262" indent="-457200"/>
            <a:r>
              <a:rPr lang="en-IN" sz="2400" dirty="0"/>
              <a:t>NumPy Documentation</a:t>
            </a:r>
          </a:p>
          <a:p>
            <a:pPr marL="576262" indent="-457200"/>
            <a:r>
              <a:rPr lang="en-IN" sz="2400" dirty="0"/>
              <a:t>Academic Risk Prediction Models</a:t>
            </a:r>
          </a:p>
          <a:p>
            <a:pPr marL="576262" indent="-457200"/>
            <a:r>
              <a:rPr lang="en-IN" sz="2400" dirty="0"/>
              <a:t>Educational Data Mining Techniques</a:t>
            </a:r>
          </a:p>
          <a:p>
            <a:pPr marL="576262" indent="-457200"/>
            <a:endParaRPr lang="en-IN" sz="2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AC3EE8-985B-42B6-9937-3D92CBED937D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E7616F-A2DB-DB50-4459-2304E7335529}"/>
              </a:ext>
            </a:extLst>
          </p:cNvPr>
          <p:cNvSpPr txBox="1">
            <a:spLocks/>
          </p:cNvSpPr>
          <p:nvPr/>
        </p:nvSpPr>
        <p:spPr>
          <a:xfrm>
            <a:off x="2914333" y="4876410"/>
            <a:ext cx="603986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lvl="0"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lvl="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lvl="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lvl="3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lvl="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lvl="5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lvl="6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lvl="7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lvl="8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 dirty="0"/>
              <a:t>DEPARTMENT </a:t>
            </a:r>
            <a:r>
              <a:rPr lang="en-IN" dirty="0"/>
              <a:t>ARTIFICIAL INTELLIGENCE &amp; MACHINE LEARNING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516078-A6B9-031E-BC80-C073F4B8D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Educational Data Mining Techniques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415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9062" indent="0" algn="ctr">
              <a:buNone/>
            </a:pPr>
            <a:endParaRPr lang="en-US" b="1" dirty="0"/>
          </a:p>
          <a:p>
            <a:pPr marL="119062" indent="0" algn="ctr">
              <a:buNone/>
            </a:pPr>
            <a:endParaRPr lang="en-US" b="1" dirty="0"/>
          </a:p>
          <a:p>
            <a:pPr marL="119062" indent="0" algn="ctr">
              <a:buNone/>
            </a:pPr>
            <a:endParaRPr lang="en-US" b="1" dirty="0"/>
          </a:p>
          <a:p>
            <a:pPr marL="119062" indent="0" algn="ctr">
              <a:buNone/>
            </a:pPr>
            <a:r>
              <a:rPr lang="en-US" b="1" dirty="0"/>
              <a:t>THANK YOU</a:t>
            </a:r>
            <a:endParaRPr lang="en-IN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C31F9E-9B9F-4BF0-AFD1-DE8B874A094F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601DB5A-BE1F-D18E-E5AE-FFCABF794680}"/>
              </a:ext>
            </a:extLst>
          </p:cNvPr>
          <p:cNvSpPr txBox="1">
            <a:spLocks/>
          </p:cNvSpPr>
          <p:nvPr/>
        </p:nvSpPr>
        <p:spPr>
          <a:xfrm>
            <a:off x="2914333" y="4876410"/>
            <a:ext cx="603986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lvl="0"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lvl="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lvl="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lvl="3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lvl="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lvl="5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lvl="6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lvl="7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lvl="8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 dirty="0"/>
              <a:t>DEPARTMENT </a:t>
            </a:r>
            <a:r>
              <a:rPr lang="en-IN" dirty="0"/>
              <a:t>ARTIFICIAL INTELLIGENCE &amp; MACHINE 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109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672</Words>
  <Application>Microsoft Office PowerPoint</Application>
  <PresentationFormat>On-screen Show (16:9)</PresentationFormat>
  <Paragraphs>199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Open Sans Extra Bold</vt:lpstr>
      <vt:lpstr>Poppins Bold</vt:lpstr>
      <vt:lpstr>Times New Roman</vt:lpstr>
      <vt:lpstr>Office Theme</vt:lpstr>
      <vt:lpstr>PowerPoint Presentation</vt:lpstr>
      <vt:lpstr>Project Title </vt:lpstr>
      <vt:lpstr>Introduction</vt:lpstr>
      <vt:lpstr>Literature Survey </vt:lpstr>
      <vt:lpstr>Problem Statement</vt:lpstr>
      <vt:lpstr>Proposed Methodology</vt:lpstr>
      <vt:lpstr>Proposed System Architecture</vt:lpstr>
      <vt:lpstr>Summary of Module -1  &amp; 2</vt:lpstr>
      <vt:lpstr>Summary of  Modules -3 &amp; 4 </vt:lpstr>
      <vt:lpstr>Software &amp; Hardware Requirements  Specification </vt:lpstr>
      <vt:lpstr> Implementation Plan/Timeline</vt:lpstr>
      <vt:lpstr>Conclusion and Future Work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Sreenivasa Sarma</cp:lastModifiedBy>
  <cp:revision>21</cp:revision>
  <dcterms:modified xsi:type="dcterms:W3CDTF">2026-02-27T18:34:22Z</dcterms:modified>
</cp:coreProperties>
</file>