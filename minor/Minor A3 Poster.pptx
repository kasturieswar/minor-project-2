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43891200" cy="21945600"/>
  <p:notesSz cx="7004050" cy="9283700"/>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6912">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C4"/>
    <a:srgbClr val="0066FF"/>
    <a:srgbClr val="6699FF"/>
    <a:srgbClr val="3399FF"/>
    <a:srgbClr val="640021"/>
    <a:srgbClr val="003A74"/>
    <a:srgbClr val="FFFF66"/>
    <a:srgbClr val="366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97" autoAdjust="0"/>
    <p:restoredTop sz="94676" autoAdjust="0"/>
  </p:normalViewPr>
  <p:slideViewPr>
    <p:cSldViewPr>
      <p:cViewPr varScale="1">
        <p:scale>
          <a:sx n="21" d="100"/>
          <a:sy n="21" d="100"/>
        </p:scale>
        <p:origin x="556" y="56"/>
      </p:cViewPr>
      <p:guideLst>
        <p:guide orient="horz" pos="6912"/>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war venkat" userId="58aa92421d5be57d" providerId="LiveId" clId="{E58724EB-9C99-4BCA-9E94-28E8B35408CA}"/>
    <pc:docChg chg="undo custSel modSld">
      <pc:chgData name="eswar venkat" userId="58aa92421d5be57d" providerId="LiveId" clId="{E58724EB-9C99-4BCA-9E94-28E8B35408CA}" dt="2026-04-24T17:22:10.751" v="20" actId="14100"/>
      <pc:docMkLst>
        <pc:docMk/>
      </pc:docMkLst>
      <pc:sldChg chg="addSp delSp modSp mod">
        <pc:chgData name="eswar venkat" userId="58aa92421d5be57d" providerId="LiveId" clId="{E58724EB-9C99-4BCA-9E94-28E8B35408CA}" dt="2026-04-24T17:22:10.751" v="20" actId="14100"/>
        <pc:sldMkLst>
          <pc:docMk/>
          <pc:sldMk cId="0" sldId="256"/>
        </pc:sldMkLst>
        <pc:spChg chg="mod">
          <ac:chgData name="eswar venkat" userId="58aa92421d5be57d" providerId="LiveId" clId="{E58724EB-9C99-4BCA-9E94-28E8B35408CA}" dt="2026-04-24T17:21:15.795" v="1" actId="20577"/>
          <ac:spMkLst>
            <pc:docMk/>
            <pc:sldMk cId="0" sldId="256"/>
            <ac:spMk id="9" creationId="{0612593F-59F4-8E64-F52E-B701A3AC92B6}"/>
          </ac:spMkLst>
        </pc:spChg>
        <pc:picChg chg="add mod">
          <ac:chgData name="eswar venkat" userId="58aa92421d5be57d" providerId="LiveId" clId="{E58724EB-9C99-4BCA-9E94-28E8B35408CA}" dt="2026-04-24T17:22:10.751" v="20" actId="14100"/>
          <ac:picMkLst>
            <pc:docMk/>
            <pc:sldMk cId="0" sldId="256"/>
            <ac:picMk id="4" creationId="{3FA6CD79-45AA-F065-F330-6FA5D5DC053A}"/>
          </ac:picMkLst>
        </pc:picChg>
        <pc:picChg chg="add del mod">
          <ac:chgData name="eswar venkat" userId="58aa92421d5be57d" providerId="LiveId" clId="{E58724EB-9C99-4BCA-9E94-28E8B35408CA}" dt="2026-04-24T17:21:32.603" v="8" actId="22"/>
          <ac:picMkLst>
            <pc:docMk/>
            <pc:sldMk cId="0" sldId="256"/>
            <ac:picMk id="6" creationId="{67C3D24A-4938-193C-14A8-F8EF760040E3}"/>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Instructions"/>
          <p:cNvSpPr/>
          <p:nvPr userDrawn="1"/>
        </p:nvSpPr>
        <p:spPr>
          <a:xfrm>
            <a:off x="-7498080" y="0"/>
            <a:ext cx="6949440" cy="21945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6893" tIns="146893" rIns="146893" bIns="146893"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544"/>
              </a:spcAft>
            </a:pPr>
            <a:r>
              <a:rPr lang="en-US" sz="5400" dirty="0">
                <a:solidFill>
                  <a:srgbClr val="7F7F7F"/>
                </a:solidFill>
                <a:latin typeface="Calibri" pitchFamily="34" charset="0"/>
                <a:cs typeface="Calibri" panose="020F0502020204030204" pitchFamily="34" charset="0"/>
              </a:rPr>
              <a:t>Poster Print Size:</a:t>
            </a:r>
            <a:endParaRPr sz="5400" dirty="0">
              <a:solidFill>
                <a:srgbClr val="7F7F7F"/>
              </a:solidFill>
              <a:latin typeface="Calibri" pitchFamily="34" charset="0"/>
              <a:cs typeface="Calibri" panose="020F0502020204030204" pitchFamily="34" charset="0"/>
            </a:endParaRPr>
          </a:p>
          <a:p>
            <a:pPr lvl="0">
              <a:spcBef>
                <a:spcPts val="0"/>
              </a:spcBef>
              <a:spcAft>
                <a:spcPts val="1544"/>
              </a:spcAft>
            </a:pPr>
            <a:r>
              <a:rPr lang="en-US" sz="3200" dirty="0">
                <a:solidFill>
                  <a:srgbClr val="7F7F7F"/>
                </a:solidFill>
                <a:latin typeface="Calibri" pitchFamily="34" charset="0"/>
                <a:cs typeface="Calibri" panose="020F0502020204030204" pitchFamily="34" charset="0"/>
              </a:rPr>
              <a:t>This poster template is 24” high by 48” wide .</a:t>
            </a:r>
            <a:r>
              <a:rPr lang="en-US" sz="3200" baseline="0" dirty="0">
                <a:solidFill>
                  <a:srgbClr val="7F7F7F"/>
                </a:solidFill>
                <a:latin typeface="Calibri" pitchFamily="34" charset="0"/>
                <a:cs typeface="Calibri" panose="020F0502020204030204" pitchFamily="34" charset="0"/>
              </a:rPr>
              <a:t> </a:t>
            </a:r>
            <a:r>
              <a:rPr lang="en-US" sz="3200" dirty="0">
                <a:solidFill>
                  <a:srgbClr val="7F7F7F"/>
                </a:solidFill>
                <a:latin typeface="Calibri" pitchFamily="34" charset="0"/>
                <a:cs typeface="Calibri" panose="020F0502020204030204" pitchFamily="34" charset="0"/>
              </a:rPr>
              <a:t>It can be used to print any poster with a 1:2 aspect ratio including 30x60, 36x72, 42x84, and 48x96. </a:t>
            </a:r>
          </a:p>
          <a:p>
            <a:pPr lvl="0">
              <a:spcBef>
                <a:spcPts val="0"/>
              </a:spcBef>
              <a:spcAft>
                <a:spcPts val="1544"/>
              </a:spcAft>
            </a:pPr>
            <a:r>
              <a:rPr lang="en-US" sz="5400" dirty="0">
                <a:solidFill>
                  <a:srgbClr val="7F7F7F"/>
                </a:solidFill>
                <a:latin typeface="Calibri" pitchFamily="34" charset="0"/>
                <a:cs typeface="Calibri" panose="020F0502020204030204" pitchFamily="34" charset="0"/>
              </a:rPr>
              <a:t>Placeholders</a:t>
            </a:r>
            <a:r>
              <a:rPr sz="5400" dirty="0">
                <a:solidFill>
                  <a:srgbClr val="7F7F7F"/>
                </a:solidFill>
                <a:latin typeface="Calibri" pitchFamily="34" charset="0"/>
                <a:cs typeface="Calibri" panose="020F0502020204030204" pitchFamily="34" charset="0"/>
              </a:rPr>
              <a:t>:</a:t>
            </a:r>
          </a:p>
          <a:p>
            <a:pPr lvl="0">
              <a:spcBef>
                <a:spcPts val="0"/>
              </a:spcBef>
              <a:spcAft>
                <a:spcPts val="1544"/>
              </a:spcAft>
            </a:pPr>
            <a:r>
              <a:rPr sz="3200" dirty="0">
                <a:solidFill>
                  <a:srgbClr val="7F7F7F"/>
                </a:solidFill>
                <a:latin typeface="Calibri" pitchFamily="34" charset="0"/>
                <a:cs typeface="Calibri" panose="020F0502020204030204" pitchFamily="34" charset="0"/>
              </a:rPr>
              <a:t>The </a:t>
            </a:r>
            <a:r>
              <a:rPr lang="en-US" sz="3200" dirty="0">
                <a:solidFill>
                  <a:srgbClr val="7F7F7F"/>
                </a:solidFill>
                <a:latin typeface="Calibri" pitchFamily="34" charset="0"/>
                <a:cs typeface="Calibri" panose="020F0502020204030204" pitchFamily="34" charset="0"/>
              </a:rPr>
              <a:t>various elements included</a:t>
            </a:r>
            <a:r>
              <a:rPr sz="3200" dirty="0">
                <a:solidFill>
                  <a:srgbClr val="7F7F7F"/>
                </a:solidFill>
                <a:latin typeface="Calibri" pitchFamily="34" charset="0"/>
                <a:cs typeface="Calibri" panose="020F0502020204030204" pitchFamily="34" charset="0"/>
              </a:rPr>
              <a:t> in this </a:t>
            </a:r>
            <a:r>
              <a:rPr lang="en-US" sz="3200" dirty="0">
                <a:solidFill>
                  <a:srgbClr val="7F7F7F"/>
                </a:solidFill>
                <a:latin typeface="Calibri" pitchFamily="34" charset="0"/>
                <a:cs typeface="Calibri" panose="020F0502020204030204" pitchFamily="34" charset="0"/>
              </a:rPr>
              <a:t>poster are ones</a:t>
            </a:r>
            <a:r>
              <a:rPr lang="en-US" sz="3200" baseline="0" dirty="0">
                <a:solidFill>
                  <a:srgbClr val="7F7F7F"/>
                </a:solidFill>
                <a:latin typeface="Calibri" pitchFamily="34" charset="0"/>
                <a:cs typeface="Calibri" panose="020F0502020204030204" pitchFamily="34" charset="0"/>
              </a:rPr>
              <a:t> we often see in medical, research, and scientific posters.</a:t>
            </a:r>
            <a:r>
              <a:rPr sz="3200" dirty="0">
                <a:solidFill>
                  <a:srgbClr val="7F7F7F"/>
                </a:solidFill>
                <a:latin typeface="Calibri" pitchFamily="34" charset="0"/>
                <a:cs typeface="Calibri" panose="020F0502020204030204" pitchFamily="34" charset="0"/>
              </a:rPr>
              <a:t> </a:t>
            </a:r>
            <a:r>
              <a:rPr lang="en-US" sz="3200" dirty="0">
                <a:solidFill>
                  <a:srgbClr val="7F7F7F"/>
                </a:solidFill>
                <a:latin typeface="Calibri" pitchFamily="34" charset="0"/>
                <a:cs typeface="Calibri" panose="020F0502020204030204" pitchFamily="34" charset="0"/>
              </a:rPr>
              <a:t>Feel</a:t>
            </a:r>
            <a:r>
              <a:rPr lang="en-US" sz="32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544"/>
              </a:spcAft>
            </a:pPr>
            <a:r>
              <a:rPr lang="en-US" sz="5400" dirty="0">
                <a:solidFill>
                  <a:srgbClr val="7F7F7F"/>
                </a:solidFill>
                <a:latin typeface="Calibri" pitchFamily="34" charset="0"/>
                <a:cs typeface="Calibri" panose="020F0502020204030204" pitchFamily="34" charset="0"/>
              </a:rPr>
              <a:t>Image</a:t>
            </a:r>
            <a:r>
              <a:rPr lang="en-US" sz="5400" baseline="0" dirty="0">
                <a:solidFill>
                  <a:srgbClr val="7F7F7F"/>
                </a:solidFill>
                <a:latin typeface="Calibri" pitchFamily="34" charset="0"/>
                <a:cs typeface="Calibri" panose="020F0502020204030204" pitchFamily="34" charset="0"/>
              </a:rPr>
              <a:t> Quality</a:t>
            </a:r>
            <a:r>
              <a:rPr lang="en-US" sz="5400" dirty="0">
                <a:solidFill>
                  <a:srgbClr val="7F7F7F"/>
                </a:solidFill>
                <a:latin typeface="Calibri" pitchFamily="34" charset="0"/>
                <a:cs typeface="Calibri" panose="020F0502020204030204" pitchFamily="34" charset="0"/>
              </a:rPr>
              <a:t>:</a:t>
            </a:r>
          </a:p>
          <a:p>
            <a:pPr lvl="0">
              <a:spcBef>
                <a:spcPts val="0"/>
              </a:spcBef>
              <a:spcAft>
                <a:spcPts val="1544"/>
              </a:spcAft>
            </a:pPr>
            <a:r>
              <a:rPr lang="en-US" sz="3200" dirty="0">
                <a:solidFill>
                  <a:srgbClr val="7F7F7F"/>
                </a:solidFill>
                <a:latin typeface="Calibri" pitchFamily="34" charset="0"/>
                <a:cs typeface="Calibri" panose="020F0502020204030204" pitchFamily="34" charset="0"/>
              </a:rPr>
              <a:t>You can place digital photos or logo art in your poster file by selecting the </a:t>
            </a:r>
            <a:r>
              <a:rPr lang="en-US" sz="3200" b="1" dirty="0">
                <a:solidFill>
                  <a:srgbClr val="7F7F7F"/>
                </a:solidFill>
                <a:latin typeface="Calibri" pitchFamily="34" charset="0"/>
                <a:cs typeface="Calibri" panose="020F0502020204030204" pitchFamily="34" charset="0"/>
              </a:rPr>
              <a:t>Insert, Picture</a:t>
            </a:r>
            <a:r>
              <a:rPr lang="en-US" sz="32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3200" b="1" dirty="0">
                <a:solidFill>
                  <a:srgbClr val="7F7F7F"/>
                </a:solidFill>
                <a:latin typeface="Calibri" pitchFamily="34" charset="0"/>
                <a:cs typeface="Calibri" panose="020F0502020204030204" pitchFamily="34" charset="0"/>
              </a:rPr>
              <a:t>150-200 pixels per inch in their final printed size</a:t>
            </a:r>
            <a:r>
              <a:rPr lang="en-US" sz="3200" dirty="0">
                <a:solidFill>
                  <a:srgbClr val="7F7F7F"/>
                </a:solidFill>
                <a:latin typeface="Calibri" pitchFamily="34" charset="0"/>
                <a:cs typeface="Calibri" panose="020F0502020204030204" pitchFamily="34" charset="0"/>
              </a:rPr>
              <a:t>. For instance, a 1600 x 1200 pixel</a:t>
            </a:r>
            <a:r>
              <a:rPr lang="en-US" sz="3200" baseline="0" dirty="0">
                <a:solidFill>
                  <a:srgbClr val="7F7F7F"/>
                </a:solidFill>
                <a:latin typeface="Calibri" pitchFamily="34" charset="0"/>
                <a:cs typeface="Calibri" panose="020F0502020204030204" pitchFamily="34" charset="0"/>
              </a:rPr>
              <a:t> photo will usually look fine up to </a:t>
            </a:r>
            <a:r>
              <a:rPr lang="en-US" sz="3200" dirty="0">
                <a:solidFill>
                  <a:srgbClr val="7F7F7F"/>
                </a:solidFill>
                <a:latin typeface="Calibri" pitchFamily="34" charset="0"/>
                <a:cs typeface="Calibri" panose="020F0502020204030204" pitchFamily="34" charset="0"/>
              </a:rPr>
              <a:t>8“-10” wide on your printed poster.</a:t>
            </a:r>
          </a:p>
          <a:p>
            <a:pPr lvl="0">
              <a:spcBef>
                <a:spcPts val="0"/>
              </a:spcBef>
              <a:spcAft>
                <a:spcPts val="1544"/>
              </a:spcAft>
            </a:pPr>
            <a:r>
              <a:rPr lang="en-US" sz="32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544"/>
              </a:spcAft>
            </a:pPr>
            <a:r>
              <a:rPr lang="en-US" sz="32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544"/>
              </a:spcAft>
            </a:pPr>
            <a:br>
              <a:rPr lang="en-US" sz="2800" dirty="0">
                <a:solidFill>
                  <a:srgbClr val="7F7F7F"/>
                </a:solidFill>
                <a:latin typeface="Calibri" pitchFamily="34" charset="0"/>
                <a:cs typeface="Calibri" panose="020F0502020204030204" pitchFamily="34" charset="0"/>
              </a:rPr>
            </a:br>
            <a:r>
              <a:rPr lang="en-US" sz="2800" dirty="0">
                <a:solidFill>
                  <a:srgbClr val="7F7F7F"/>
                </a:solidFill>
                <a:latin typeface="Calibri" pitchFamily="34" charset="0"/>
                <a:cs typeface="Calibri" panose="020F0502020204030204" pitchFamily="34" charset="0"/>
              </a:rPr>
              <a:t>[This sidebar area does not print.]</a:t>
            </a:r>
          </a:p>
        </p:txBody>
      </p:sp>
      <p:grpSp>
        <p:nvGrpSpPr>
          <p:cNvPr id="5" name="Group 4"/>
          <p:cNvGrpSpPr/>
          <p:nvPr userDrawn="1"/>
        </p:nvGrpSpPr>
        <p:grpSpPr>
          <a:xfrm>
            <a:off x="44439840" y="0"/>
            <a:ext cx="6949440" cy="21945600"/>
            <a:chOff x="33832800" y="0"/>
            <a:chExt cx="12801600" cy="43891200"/>
          </a:xfrm>
        </p:grpSpPr>
        <p:sp>
          <p:nvSpPr>
            <p:cNvPr id="6"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544"/>
                </a:spcAft>
              </a:pPr>
              <a:r>
                <a:rPr lang="en-US" sz="5400" dirty="0">
                  <a:solidFill>
                    <a:schemeClr val="bg1">
                      <a:lumMod val="50000"/>
                    </a:schemeClr>
                  </a:solidFill>
                  <a:latin typeface="Calibri" pitchFamily="34" charset="0"/>
                  <a:cs typeface="Calibri" panose="020F0502020204030204" pitchFamily="34" charset="0"/>
                </a:rPr>
                <a:t>Change</a:t>
              </a:r>
              <a:r>
                <a:rPr lang="en-US" sz="5400" baseline="0" dirty="0">
                  <a:solidFill>
                    <a:schemeClr val="bg1">
                      <a:lumMod val="50000"/>
                    </a:schemeClr>
                  </a:solidFill>
                  <a:latin typeface="Calibri" pitchFamily="34" charset="0"/>
                  <a:cs typeface="Calibri" panose="020F0502020204030204" pitchFamily="34" charset="0"/>
                </a:rPr>
                <a:t> Color Theme</a:t>
              </a:r>
              <a:r>
                <a:rPr lang="en-US" sz="5400" dirty="0">
                  <a:solidFill>
                    <a:schemeClr val="bg1">
                      <a:lumMod val="50000"/>
                    </a:schemeClr>
                  </a:solidFill>
                  <a:latin typeface="Calibri" pitchFamily="34" charset="0"/>
                  <a:cs typeface="Calibri" panose="020F0502020204030204" pitchFamily="34" charset="0"/>
                </a:rPr>
                <a:t>:</a:t>
              </a:r>
              <a:endParaRPr sz="540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r>
                <a:rPr lang="en-US" sz="32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32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544"/>
                </a:spcAft>
              </a:pPr>
              <a:r>
                <a:rPr lang="en-US" sz="3200" baseline="0" dirty="0">
                  <a:solidFill>
                    <a:schemeClr val="bg1">
                      <a:lumMod val="50000"/>
                    </a:schemeClr>
                  </a:solidFill>
                  <a:latin typeface="Calibri" pitchFamily="34" charset="0"/>
                  <a:cs typeface="Calibri" panose="020F0502020204030204" pitchFamily="34" charset="0"/>
                </a:rPr>
                <a:t>To change the color theme, select the </a:t>
              </a:r>
              <a:r>
                <a:rPr lang="en-US" sz="3200" b="1" baseline="0" dirty="0">
                  <a:solidFill>
                    <a:schemeClr val="bg1">
                      <a:lumMod val="50000"/>
                    </a:schemeClr>
                  </a:solidFill>
                  <a:latin typeface="Calibri" pitchFamily="34" charset="0"/>
                  <a:cs typeface="Calibri" panose="020F0502020204030204" pitchFamily="34" charset="0"/>
                </a:rPr>
                <a:t>Design</a:t>
              </a:r>
              <a:r>
                <a:rPr lang="en-US" sz="3200" baseline="0" dirty="0">
                  <a:solidFill>
                    <a:schemeClr val="bg1">
                      <a:lumMod val="50000"/>
                    </a:schemeClr>
                  </a:solidFill>
                  <a:latin typeface="Calibri" pitchFamily="34" charset="0"/>
                  <a:cs typeface="Calibri" panose="020F0502020204030204" pitchFamily="34" charset="0"/>
                </a:rPr>
                <a:t> tab, then select the </a:t>
              </a:r>
              <a:r>
                <a:rPr lang="en-US" sz="3200" b="1" baseline="0" dirty="0">
                  <a:solidFill>
                    <a:schemeClr val="bg1">
                      <a:lumMod val="50000"/>
                    </a:schemeClr>
                  </a:solidFill>
                  <a:latin typeface="Calibri" pitchFamily="34" charset="0"/>
                  <a:cs typeface="Calibri" panose="020F0502020204030204" pitchFamily="34" charset="0"/>
                </a:rPr>
                <a:t>Colors</a:t>
              </a:r>
              <a:r>
                <a:rPr lang="en-US" sz="32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endParaRPr lang="en-US" sz="32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544"/>
                </a:spcAft>
              </a:pPr>
              <a:r>
                <a:rPr lang="en-US" sz="32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544"/>
                </a:spcAft>
              </a:pPr>
              <a:r>
                <a:rPr lang="en-US" sz="54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544"/>
                </a:spcAft>
              </a:pPr>
              <a:r>
                <a:rPr lang="en-US" sz="3200" dirty="0">
                  <a:solidFill>
                    <a:schemeClr val="bg1">
                      <a:lumMod val="50000"/>
                    </a:schemeClr>
                  </a:solidFill>
                  <a:latin typeface="Calibri" pitchFamily="34" charset="0"/>
                  <a:cs typeface="Calibri" panose="020F0502020204030204" pitchFamily="34" charset="0"/>
                </a:rPr>
                <a:t>Once your poster file is ready, visit</a:t>
              </a:r>
              <a:r>
                <a:rPr lang="en-US" sz="3200" baseline="0" dirty="0">
                  <a:solidFill>
                    <a:schemeClr val="bg1">
                      <a:lumMod val="50000"/>
                    </a:schemeClr>
                  </a:solidFill>
                  <a:latin typeface="Calibri" pitchFamily="34" charset="0"/>
                  <a:cs typeface="Calibri" panose="020F0502020204030204" pitchFamily="34" charset="0"/>
                </a:rPr>
                <a:t> </a:t>
              </a:r>
              <a:r>
                <a:rPr lang="en-US" sz="3200" b="1" baseline="0" dirty="0">
                  <a:solidFill>
                    <a:schemeClr val="bg1">
                      <a:lumMod val="50000"/>
                    </a:schemeClr>
                  </a:solidFill>
                  <a:latin typeface="Calibri" pitchFamily="34" charset="0"/>
                  <a:cs typeface="Calibri" panose="020F0502020204030204" pitchFamily="34" charset="0"/>
                </a:rPr>
                <a:t>www.genigraphics.com</a:t>
              </a:r>
              <a:r>
                <a:rPr lang="en-US" sz="32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544"/>
                </a:spcAft>
              </a:pPr>
              <a:r>
                <a:rPr lang="en-US" sz="32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32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3200" baseline="0" dirty="0">
                  <a:solidFill>
                    <a:schemeClr val="bg1">
                      <a:lumMod val="50000"/>
                    </a:schemeClr>
                  </a:solidFill>
                  <a:latin typeface="Calibri" pitchFamily="34" charset="0"/>
                  <a:cs typeface="Calibri" panose="020F0502020204030204" pitchFamily="34" charset="0"/>
                </a:rPr>
                <a:t>US and Canada:  1-800-790-4001</a:t>
              </a:r>
              <a:br>
                <a:rPr lang="en-US" sz="3200" baseline="0" dirty="0">
                  <a:solidFill>
                    <a:schemeClr val="bg1">
                      <a:lumMod val="50000"/>
                    </a:schemeClr>
                  </a:solidFill>
                  <a:latin typeface="Calibri" pitchFamily="34" charset="0"/>
                  <a:cs typeface="Calibri" panose="020F0502020204030204" pitchFamily="34" charset="0"/>
                </a:rPr>
              </a:br>
              <a:r>
                <a:rPr lang="en-US" sz="32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2800" dirty="0">
                  <a:solidFill>
                    <a:schemeClr val="bg1">
                      <a:lumMod val="50000"/>
                    </a:schemeClr>
                  </a:solidFill>
                  <a:latin typeface="Calibri" pitchFamily="34" charset="0"/>
                  <a:cs typeface="Calibri" panose="020F0502020204030204" pitchFamily="34" charset="0"/>
                </a:rPr>
              </a:br>
              <a:r>
                <a:rPr lang="en-US" sz="2800" dirty="0">
                  <a:solidFill>
                    <a:schemeClr val="bg1">
                      <a:lumMod val="50000"/>
                    </a:schemeClr>
                  </a:solidFill>
                  <a:latin typeface="Calibri" pitchFamily="34" charset="0"/>
                  <a:cs typeface="Calibri" panose="020F0502020204030204" pitchFamily="34" charset="0"/>
                </a:rPr>
                <a:t>[This sidebar area does not print.]</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107874"/>
              <a:ext cx="11904515" cy="10246926"/>
            </a:xfrm>
            <a:prstGeom prst="rect">
              <a:avLst/>
            </a:prstGeom>
          </p:spPr>
        </p:pic>
      </p:grpSp>
    </p:spTree>
    <p:extLst>
      <p:ext uri="{BB962C8B-B14F-4D97-AF65-F5344CB8AC3E}">
        <p14:creationId xmlns:p14="http://schemas.microsoft.com/office/powerpoint/2010/main" val="18048479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userDrawn="1"/>
        </p:nvSpPr>
        <p:spPr bwMode="auto">
          <a:xfrm>
            <a:off x="0" y="3656013"/>
            <a:ext cx="7313613" cy="18281650"/>
          </a:xfrm>
          <a:prstGeom prst="rect">
            <a:avLst/>
          </a:prstGeom>
          <a:solidFill>
            <a:schemeClr val="accent1">
              <a:lumMod val="75000"/>
            </a:schemeClr>
          </a:solidFill>
          <a:ln>
            <a:noFill/>
          </a:ln>
          <a:effectLst/>
        </p:spPr>
        <p:txBody>
          <a:bodyPr wrap="none" lIns="457200" tIns="228600" rIns="457200" bIns="457200"/>
          <a:lstStyle/>
          <a:p>
            <a:pPr algn="ctr" defTabSz="4389438"/>
            <a:endParaRPr lang="en-US" sz="4800" dirty="0">
              <a:latin typeface="Calibri" pitchFamily="34" charset="0"/>
            </a:endParaRPr>
          </a:p>
        </p:txBody>
      </p:sp>
      <p:sp>
        <p:nvSpPr>
          <p:cNvPr id="1032" name="Rectangle 8"/>
          <p:cNvSpPr>
            <a:spLocks noChangeArrowheads="1"/>
          </p:cNvSpPr>
          <p:nvPr userDrawn="1"/>
        </p:nvSpPr>
        <p:spPr bwMode="auto">
          <a:xfrm>
            <a:off x="7312025" y="0"/>
            <a:ext cx="36564888" cy="3656013"/>
          </a:xfrm>
          <a:prstGeom prst="rect">
            <a:avLst/>
          </a:prstGeom>
          <a:solidFill>
            <a:schemeClr val="accent1">
              <a:lumMod val="75000"/>
            </a:schemeClr>
          </a:solidFill>
          <a:ln>
            <a:noFill/>
          </a:ln>
          <a:effectLst/>
        </p:spPr>
        <p:txBody>
          <a:bodyPr wrap="none" lIns="457200" tIns="457200" rIns="457200" bIns="457200"/>
          <a:lstStyle/>
          <a:p>
            <a:endParaRPr lang="en-US" dirty="0">
              <a:latin typeface="Calibri" pitchFamily="34" charset="0"/>
            </a:endParaRPr>
          </a:p>
        </p:txBody>
      </p:sp>
      <p:sp>
        <p:nvSpPr>
          <p:cNvPr id="1033" name="Rectangle 9"/>
          <p:cNvSpPr>
            <a:spLocks noChangeArrowheads="1"/>
          </p:cNvSpPr>
          <p:nvPr userDrawn="1"/>
        </p:nvSpPr>
        <p:spPr bwMode="auto">
          <a:xfrm>
            <a:off x="7312025" y="3656013"/>
            <a:ext cx="36564888" cy="18281650"/>
          </a:xfrm>
          <a:prstGeom prst="rect">
            <a:avLst/>
          </a:prstGeom>
          <a:solidFill>
            <a:schemeClr val="bg2"/>
          </a:solidFill>
          <a:ln>
            <a:noFill/>
          </a:ln>
          <a:effectLst/>
        </p:spPr>
        <p:txBody>
          <a:bodyPr wrap="none" lIns="457200" tIns="457200" rIns="457200" bIns="457200"/>
          <a:lstStyle/>
          <a:p>
            <a:endParaRPr lang="en-US" dirty="0">
              <a:latin typeface="Calibri" pitchFamily="34" charset="0"/>
            </a:endParaRPr>
          </a:p>
        </p:txBody>
      </p:sp>
      <p:sp>
        <p:nvSpPr>
          <p:cNvPr id="1035" name="Line 11"/>
          <p:cNvSpPr>
            <a:spLocks noChangeShapeType="1"/>
          </p:cNvSpPr>
          <p:nvPr userDrawn="1"/>
        </p:nvSpPr>
        <p:spPr bwMode="auto">
          <a:xfrm>
            <a:off x="7312025" y="0"/>
            <a:ext cx="0" cy="2193925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alibri" pitchFamily="34" charset="0"/>
            </a:endParaRPr>
          </a:p>
        </p:txBody>
      </p:sp>
      <p:sp>
        <p:nvSpPr>
          <p:cNvPr id="1036" name="Line 12"/>
          <p:cNvSpPr>
            <a:spLocks noChangeShapeType="1"/>
          </p:cNvSpPr>
          <p:nvPr userDrawn="1"/>
        </p:nvSpPr>
        <p:spPr bwMode="auto">
          <a:xfrm>
            <a:off x="0" y="3657600"/>
            <a:ext cx="43876913"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alibri" pitchFamily="34" charset="0"/>
            </a:endParaRPr>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404800" y="21640800"/>
            <a:ext cx="5297435" cy="18592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89438" rtl="0" fontAlgn="base">
        <a:spcBef>
          <a:spcPct val="0"/>
        </a:spcBef>
        <a:spcAft>
          <a:spcPct val="0"/>
        </a:spcAft>
        <a:defRPr sz="21100">
          <a:solidFill>
            <a:schemeClr val="tx2"/>
          </a:solidFill>
          <a:latin typeface="+mj-lt"/>
          <a:ea typeface="+mj-ea"/>
          <a:cs typeface="+mj-cs"/>
        </a:defRPr>
      </a:lvl1pPr>
      <a:lvl2pPr algn="ctr" defTabSz="4389438" rtl="0" fontAlgn="base">
        <a:spcBef>
          <a:spcPct val="0"/>
        </a:spcBef>
        <a:spcAft>
          <a:spcPct val="0"/>
        </a:spcAft>
        <a:defRPr sz="21100">
          <a:solidFill>
            <a:schemeClr val="tx2"/>
          </a:solidFill>
          <a:latin typeface="Arial" charset="0"/>
        </a:defRPr>
      </a:lvl2pPr>
      <a:lvl3pPr algn="ctr" defTabSz="4389438" rtl="0" fontAlgn="base">
        <a:spcBef>
          <a:spcPct val="0"/>
        </a:spcBef>
        <a:spcAft>
          <a:spcPct val="0"/>
        </a:spcAft>
        <a:defRPr sz="21100">
          <a:solidFill>
            <a:schemeClr val="tx2"/>
          </a:solidFill>
          <a:latin typeface="Arial" charset="0"/>
        </a:defRPr>
      </a:lvl3pPr>
      <a:lvl4pPr algn="ctr" defTabSz="4389438" rtl="0" fontAlgn="base">
        <a:spcBef>
          <a:spcPct val="0"/>
        </a:spcBef>
        <a:spcAft>
          <a:spcPct val="0"/>
        </a:spcAft>
        <a:defRPr sz="21100">
          <a:solidFill>
            <a:schemeClr val="tx2"/>
          </a:solidFill>
          <a:latin typeface="Arial" charset="0"/>
        </a:defRPr>
      </a:lvl4pPr>
      <a:lvl5pPr algn="ctr" defTabSz="4389438" rtl="0" fontAlgn="base">
        <a:spcBef>
          <a:spcPct val="0"/>
        </a:spcBef>
        <a:spcAft>
          <a:spcPct val="0"/>
        </a:spcAft>
        <a:defRPr sz="21100">
          <a:solidFill>
            <a:schemeClr val="tx2"/>
          </a:solidFill>
          <a:latin typeface="Arial" charset="0"/>
        </a:defRPr>
      </a:lvl5pPr>
      <a:lvl6pPr marL="457200" algn="ctr" defTabSz="4389438" rtl="0" fontAlgn="base">
        <a:spcBef>
          <a:spcPct val="0"/>
        </a:spcBef>
        <a:spcAft>
          <a:spcPct val="0"/>
        </a:spcAft>
        <a:defRPr sz="21100">
          <a:solidFill>
            <a:schemeClr val="tx2"/>
          </a:solidFill>
          <a:latin typeface="Arial" charset="0"/>
        </a:defRPr>
      </a:lvl6pPr>
      <a:lvl7pPr marL="914400" algn="ctr" defTabSz="4389438" rtl="0" fontAlgn="base">
        <a:spcBef>
          <a:spcPct val="0"/>
        </a:spcBef>
        <a:spcAft>
          <a:spcPct val="0"/>
        </a:spcAft>
        <a:defRPr sz="21100">
          <a:solidFill>
            <a:schemeClr val="tx2"/>
          </a:solidFill>
          <a:latin typeface="Arial" charset="0"/>
        </a:defRPr>
      </a:lvl7pPr>
      <a:lvl8pPr marL="1371600" algn="ctr" defTabSz="4389438" rtl="0" fontAlgn="base">
        <a:spcBef>
          <a:spcPct val="0"/>
        </a:spcBef>
        <a:spcAft>
          <a:spcPct val="0"/>
        </a:spcAft>
        <a:defRPr sz="21100">
          <a:solidFill>
            <a:schemeClr val="tx2"/>
          </a:solidFill>
          <a:latin typeface="Arial" charset="0"/>
        </a:defRPr>
      </a:lvl8pPr>
      <a:lvl9pPr marL="1828800" algn="ctr" defTabSz="4389438" rtl="0" fontAlgn="base">
        <a:spcBef>
          <a:spcPct val="0"/>
        </a:spcBef>
        <a:spcAft>
          <a:spcPct val="0"/>
        </a:spcAft>
        <a:defRPr sz="21100">
          <a:solidFill>
            <a:schemeClr val="tx2"/>
          </a:solidFill>
          <a:latin typeface="Arial" charset="0"/>
        </a:defRPr>
      </a:lvl9pPr>
    </p:titleStyle>
    <p:bodyStyle>
      <a:lvl1pPr marL="1646238" indent="-1646238" algn="l" defTabSz="4389438" rtl="0" fontAlgn="base">
        <a:spcBef>
          <a:spcPct val="20000"/>
        </a:spcBef>
        <a:spcAft>
          <a:spcPct val="0"/>
        </a:spcAft>
        <a:buChar char="•"/>
        <a:defRPr sz="15400">
          <a:solidFill>
            <a:schemeClr val="tx1"/>
          </a:solidFill>
          <a:latin typeface="+mn-lt"/>
          <a:ea typeface="+mn-ea"/>
          <a:cs typeface="+mn-cs"/>
        </a:defRPr>
      </a:lvl1pPr>
      <a:lvl2pPr marL="3565525" indent="-1371600" algn="l" defTabSz="4389438" rtl="0" fontAlgn="base">
        <a:spcBef>
          <a:spcPct val="20000"/>
        </a:spcBef>
        <a:spcAft>
          <a:spcPct val="0"/>
        </a:spcAft>
        <a:buChar char="–"/>
        <a:defRPr sz="13400">
          <a:solidFill>
            <a:schemeClr val="tx1"/>
          </a:solidFill>
          <a:latin typeface="+mn-lt"/>
        </a:defRPr>
      </a:lvl2pPr>
      <a:lvl3pPr marL="5486400" indent="-1096963" algn="l" defTabSz="4389438" rtl="0" fontAlgn="base">
        <a:spcBef>
          <a:spcPct val="20000"/>
        </a:spcBef>
        <a:spcAft>
          <a:spcPct val="0"/>
        </a:spcAft>
        <a:buChar char="•"/>
        <a:defRPr sz="11500">
          <a:solidFill>
            <a:schemeClr val="tx1"/>
          </a:solidFill>
          <a:latin typeface="+mn-lt"/>
        </a:defRPr>
      </a:lvl3pPr>
      <a:lvl4pPr marL="7680325" indent="-1096963" algn="l" defTabSz="4389438" rtl="0" fontAlgn="base">
        <a:spcBef>
          <a:spcPct val="20000"/>
        </a:spcBef>
        <a:spcAft>
          <a:spcPct val="0"/>
        </a:spcAft>
        <a:buChar char="–"/>
        <a:defRPr sz="9600">
          <a:solidFill>
            <a:schemeClr val="tx1"/>
          </a:solidFill>
          <a:latin typeface="+mn-lt"/>
        </a:defRPr>
      </a:lvl4pPr>
      <a:lvl5pPr marL="9875838" indent="-1096963" algn="l" defTabSz="4389438" rtl="0" fontAlgn="base">
        <a:spcBef>
          <a:spcPct val="20000"/>
        </a:spcBef>
        <a:spcAft>
          <a:spcPct val="0"/>
        </a:spcAft>
        <a:buChar char="»"/>
        <a:defRPr sz="9600">
          <a:solidFill>
            <a:schemeClr val="tx1"/>
          </a:solidFill>
          <a:latin typeface="+mn-lt"/>
        </a:defRPr>
      </a:lvl5pPr>
      <a:lvl6pPr marL="10333038" indent="-1096963" algn="l" defTabSz="4389438" rtl="0" fontAlgn="base">
        <a:spcBef>
          <a:spcPct val="20000"/>
        </a:spcBef>
        <a:spcAft>
          <a:spcPct val="0"/>
        </a:spcAft>
        <a:buChar char="»"/>
        <a:defRPr sz="9600">
          <a:solidFill>
            <a:schemeClr val="tx1"/>
          </a:solidFill>
          <a:latin typeface="+mn-lt"/>
        </a:defRPr>
      </a:lvl6pPr>
      <a:lvl7pPr marL="10790238" indent="-1096963" algn="l" defTabSz="4389438" rtl="0" fontAlgn="base">
        <a:spcBef>
          <a:spcPct val="20000"/>
        </a:spcBef>
        <a:spcAft>
          <a:spcPct val="0"/>
        </a:spcAft>
        <a:buChar char="»"/>
        <a:defRPr sz="9600">
          <a:solidFill>
            <a:schemeClr val="tx1"/>
          </a:solidFill>
          <a:latin typeface="+mn-lt"/>
        </a:defRPr>
      </a:lvl7pPr>
      <a:lvl8pPr marL="11247438" indent="-1096963" algn="l" defTabSz="4389438" rtl="0" fontAlgn="base">
        <a:spcBef>
          <a:spcPct val="20000"/>
        </a:spcBef>
        <a:spcAft>
          <a:spcPct val="0"/>
        </a:spcAft>
        <a:buChar char="»"/>
        <a:defRPr sz="9600">
          <a:solidFill>
            <a:schemeClr val="tx1"/>
          </a:solidFill>
          <a:latin typeface="+mn-lt"/>
        </a:defRPr>
      </a:lvl8pPr>
      <a:lvl9pPr marL="11704638" indent="-1096963" algn="l" defTabSz="4389438" rtl="0" fontAlgn="base">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 name="Text Box 122"/>
          <p:cNvSpPr txBox="1">
            <a:spLocks noChangeArrowheads="1"/>
          </p:cNvSpPr>
          <p:nvPr/>
        </p:nvSpPr>
        <p:spPr bwMode="auto">
          <a:xfrm>
            <a:off x="12856084" y="597500"/>
            <a:ext cx="27830065" cy="876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0" tIns="457200" rIns="457200" bIns="4572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US" sz="6600" dirty="0">
                <a:solidFill>
                  <a:schemeClr val="bg1"/>
                </a:solidFill>
                <a:latin typeface="Verdana" panose="020B0604030504040204" pitchFamily="34" charset="0"/>
                <a:ea typeface="Verdana" panose="020B0604030504040204" pitchFamily="34" charset="0"/>
              </a:rPr>
              <a:t>AI-Powered Student Performance Prediction and Placement Readiness System</a:t>
            </a:r>
            <a:endParaRPr lang="en-US" sz="6600" b="1" dirty="0">
              <a:solidFill>
                <a:schemeClr val="bg1"/>
              </a:solidFill>
              <a:latin typeface="Verdana" panose="020B0604030504040204" pitchFamily="34" charset="0"/>
              <a:ea typeface="Verdana" panose="020B0604030504040204" pitchFamily="34" charset="0"/>
            </a:endParaRPr>
          </a:p>
        </p:txBody>
      </p:sp>
      <p:sp>
        <p:nvSpPr>
          <p:cNvPr id="2171" name="Text Box 123"/>
          <p:cNvSpPr txBox="1">
            <a:spLocks noChangeArrowheads="1"/>
          </p:cNvSpPr>
          <p:nvPr/>
        </p:nvSpPr>
        <p:spPr bwMode="auto">
          <a:xfrm>
            <a:off x="8169331" y="1706998"/>
            <a:ext cx="3656488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0" tIns="457200" rIns="457200" bIns="457200" anchor="ctr" anchorCtr="1"/>
          <a:lstStyle>
            <a:defPPr>
              <a:defRPr lang="en-US"/>
            </a:defPPr>
            <a:lvl1pPr defTabSz="4389438">
              <a:defRPr sz="320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defTabSz="4389438"/>
            <a:lvl3pPr defTabSz="4389438"/>
            <a:lvl4pPr defTabSz="4389438"/>
            <a:lvl5pPr defTabSz="4389438"/>
            <a:lvl6pPr defTabSz="4389438" fontAlgn="base">
              <a:spcBef>
                <a:spcPct val="0"/>
              </a:spcBef>
              <a:spcAft>
                <a:spcPct val="0"/>
              </a:spcAft>
            </a:lvl6pPr>
            <a:lvl7pPr defTabSz="4389438" fontAlgn="base">
              <a:spcBef>
                <a:spcPct val="0"/>
              </a:spcBef>
              <a:spcAft>
                <a:spcPct val="0"/>
              </a:spcAft>
            </a:lvl7pPr>
            <a:lvl8pPr defTabSz="4389438" fontAlgn="base">
              <a:spcBef>
                <a:spcPct val="0"/>
              </a:spcBef>
              <a:spcAft>
                <a:spcPct val="0"/>
              </a:spcAft>
            </a:lvl8pPr>
            <a:lvl9pPr defTabSz="4389438" fontAlgn="base">
              <a:spcBef>
                <a:spcPct val="0"/>
              </a:spcBef>
              <a:spcAft>
                <a:spcPct val="0"/>
              </a:spcAft>
            </a:lvl9pPr>
          </a:lstStyle>
          <a:p>
            <a:r>
              <a:rPr lang="en-US" dirty="0"/>
              <a:t>    </a:t>
            </a:r>
          </a:p>
          <a:p>
            <a:r>
              <a:rPr lang="en-US" dirty="0"/>
              <a:t> Department of </a:t>
            </a:r>
            <a:r>
              <a:rPr lang="en-IN" dirty="0"/>
              <a:t>Artificial Intelligence &amp; Machine Learning </a:t>
            </a:r>
            <a:endParaRPr lang="en-US" dirty="0"/>
          </a:p>
          <a:p>
            <a:r>
              <a:rPr lang="en-US" dirty="0"/>
              <a:t>                         School of Computing</a:t>
            </a:r>
          </a:p>
          <a:p>
            <a:r>
              <a:rPr lang="en-US" dirty="0"/>
              <a:t>                </a:t>
            </a:r>
            <a:r>
              <a:rPr lang="en-IN" dirty="0"/>
              <a:t>10214AM602</a:t>
            </a:r>
            <a:r>
              <a:rPr lang="en-US" dirty="0"/>
              <a:t> – MINOR PROJECT - II</a:t>
            </a:r>
          </a:p>
        </p:txBody>
      </p:sp>
      <p:sp>
        <p:nvSpPr>
          <p:cNvPr id="2178" name="Text Box 130"/>
          <p:cNvSpPr txBox="1">
            <a:spLocks noChangeArrowheads="1"/>
          </p:cNvSpPr>
          <p:nvPr/>
        </p:nvSpPr>
        <p:spPr bwMode="auto">
          <a:xfrm>
            <a:off x="7647556" y="4072987"/>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INTRODUCTION</a:t>
            </a:r>
          </a:p>
        </p:txBody>
      </p:sp>
      <p:sp>
        <p:nvSpPr>
          <p:cNvPr id="2179" name="Text Box 131"/>
          <p:cNvSpPr txBox="1">
            <a:spLocks noChangeArrowheads="1"/>
          </p:cNvSpPr>
          <p:nvPr/>
        </p:nvSpPr>
        <p:spPr bwMode="auto">
          <a:xfrm>
            <a:off x="8042202" y="12648593"/>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METHODOLOGIES</a:t>
            </a:r>
          </a:p>
        </p:txBody>
      </p:sp>
      <p:sp>
        <p:nvSpPr>
          <p:cNvPr id="2181" name="Text Box 133"/>
          <p:cNvSpPr txBox="1">
            <a:spLocks noChangeArrowheads="1"/>
          </p:cNvSpPr>
          <p:nvPr/>
        </p:nvSpPr>
        <p:spPr bwMode="auto">
          <a:xfrm>
            <a:off x="32249630" y="12648593"/>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CONCLUSIONS</a:t>
            </a:r>
          </a:p>
        </p:txBody>
      </p:sp>
      <p:sp>
        <p:nvSpPr>
          <p:cNvPr id="2182" name="Text Box 134"/>
          <p:cNvSpPr txBox="1">
            <a:spLocks noChangeArrowheads="1"/>
          </p:cNvSpPr>
          <p:nvPr/>
        </p:nvSpPr>
        <p:spPr bwMode="auto">
          <a:xfrm>
            <a:off x="19011827" y="12648593"/>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anose="020F0502020204030204" pitchFamily="34" charset="0"/>
                <a:ea typeface="Verdana" panose="020B0604030504040204" pitchFamily="34" charset="0"/>
                <a:cs typeface="Calibri" panose="020F0502020204030204" pitchFamily="34" charset="0"/>
              </a:rPr>
              <a:t>RESULTS</a:t>
            </a:r>
          </a:p>
        </p:txBody>
      </p:sp>
      <p:sp>
        <p:nvSpPr>
          <p:cNvPr id="2183" name="Text Box 135"/>
          <p:cNvSpPr txBox="1">
            <a:spLocks noChangeArrowheads="1"/>
          </p:cNvSpPr>
          <p:nvPr/>
        </p:nvSpPr>
        <p:spPr bwMode="auto">
          <a:xfrm>
            <a:off x="19314539" y="3966133"/>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itchFamily="34" charset="0"/>
              </a:rPr>
              <a:t>ARCHITECTURE DIAGRAM</a:t>
            </a:r>
          </a:p>
        </p:txBody>
      </p:sp>
      <p:sp>
        <p:nvSpPr>
          <p:cNvPr id="2184" name="Text Box 136"/>
          <p:cNvSpPr txBox="1">
            <a:spLocks noChangeArrowheads="1"/>
          </p:cNvSpPr>
          <p:nvPr/>
        </p:nvSpPr>
        <p:spPr bwMode="auto">
          <a:xfrm>
            <a:off x="31859712" y="17657221"/>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solidFill>
                  <a:schemeClr val="accent1">
                    <a:lumMod val="50000"/>
                  </a:schemeClr>
                </a:solidFill>
                <a:latin typeface="Calibri" pitchFamily="34" charset="0"/>
              </a:rPr>
              <a:t>SUPERVISOR</a:t>
            </a:r>
          </a:p>
        </p:txBody>
      </p:sp>
      <p:sp>
        <p:nvSpPr>
          <p:cNvPr id="2228" name="Text Box 180"/>
          <p:cNvSpPr txBox="1">
            <a:spLocks noChangeArrowheads="1"/>
          </p:cNvSpPr>
          <p:nvPr/>
        </p:nvSpPr>
        <p:spPr bwMode="auto">
          <a:xfrm>
            <a:off x="24004588" y="20663025"/>
            <a:ext cx="307968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r>
              <a:rPr lang="en-IN" dirty="0"/>
              <a:t>Figure 1. Dashboard</a:t>
            </a:r>
            <a:endParaRPr lang="en-US" sz="2000" dirty="0">
              <a:solidFill>
                <a:schemeClr val="accent1">
                  <a:lumMod val="50000"/>
                </a:schemeClr>
              </a:solidFill>
              <a:latin typeface="Calibri" pitchFamily="34" charset="0"/>
            </a:endParaRPr>
          </a:p>
        </p:txBody>
      </p:sp>
      <p:sp>
        <p:nvSpPr>
          <p:cNvPr id="2230" name="Text Box 182"/>
          <p:cNvSpPr txBox="1">
            <a:spLocks noChangeArrowheads="1"/>
          </p:cNvSpPr>
          <p:nvPr/>
        </p:nvSpPr>
        <p:spPr bwMode="auto">
          <a:xfrm>
            <a:off x="685800" y="3656013"/>
            <a:ext cx="5943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0"/>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dirty="0">
                <a:solidFill>
                  <a:schemeClr val="bg1"/>
                </a:solidFill>
                <a:latin typeface="Calibri" pitchFamily="34" charset="0"/>
              </a:rPr>
              <a:t>ABSTRACT</a:t>
            </a:r>
          </a:p>
        </p:txBody>
      </p:sp>
      <p:sp>
        <p:nvSpPr>
          <p:cNvPr id="2231" name="Text Box 183"/>
          <p:cNvSpPr txBox="1">
            <a:spLocks noChangeArrowheads="1"/>
          </p:cNvSpPr>
          <p:nvPr/>
        </p:nvSpPr>
        <p:spPr bwMode="auto">
          <a:xfrm>
            <a:off x="589969" y="15035448"/>
            <a:ext cx="5943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0"/>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dirty="0">
                <a:solidFill>
                  <a:schemeClr val="bg1"/>
                </a:solidFill>
                <a:latin typeface="Calibri" pitchFamily="34" charset="0"/>
              </a:rPr>
              <a:t>TEAM MEMBER DETAILS</a:t>
            </a:r>
          </a:p>
        </p:txBody>
      </p:sp>
      <p:sp>
        <p:nvSpPr>
          <p:cNvPr id="2241" name="Text Box 193"/>
          <p:cNvSpPr txBox="1">
            <a:spLocks noChangeArrowheads="1"/>
          </p:cNvSpPr>
          <p:nvPr/>
        </p:nvSpPr>
        <p:spPr bwMode="auto">
          <a:xfrm>
            <a:off x="685800" y="16124798"/>
            <a:ext cx="5943600" cy="4893647"/>
          </a:xfrm>
          <a:prstGeom prst="rect">
            <a:avLst/>
          </a:prstGeom>
          <a:solidFill>
            <a:schemeClr val="accent1">
              <a:lumMod val="75000"/>
            </a:schemeClr>
          </a:solidFill>
          <a:ln>
            <a:noFill/>
          </a:ln>
          <a:effectLst/>
        </p:spPr>
        <p:txBody>
          <a:bodyPr lIns="228600" tIns="228600" rIns="228600" bIns="228600">
            <a:spAutoFit/>
          </a:bodyPr>
          <a:lstStyle/>
          <a:p>
            <a:r>
              <a:rPr lang="en-US" sz="3200" dirty="0">
                <a:solidFill>
                  <a:schemeClr val="bg1"/>
                </a:solidFill>
                <a:latin typeface="Calibri" pitchFamily="34" charset="0"/>
              </a:rPr>
              <a:t>1. </a:t>
            </a:r>
            <a:r>
              <a:rPr lang="sv-SE" sz="3200" dirty="0">
                <a:solidFill>
                  <a:schemeClr val="bg1"/>
                </a:solidFill>
                <a:latin typeface="Calibri" panose="020F0502020204030204" pitchFamily="34" charset="0"/>
                <a:ea typeface="Calibri" panose="020F0502020204030204" pitchFamily="34" charset="0"/>
                <a:cs typeface="Calibri" panose="020F0502020204030204" pitchFamily="34" charset="0"/>
              </a:rPr>
              <a:t>SRI DEEKSHITHA GUMMALLA </a:t>
            </a:r>
            <a:endPar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3200" dirty="0">
                <a:solidFill>
                  <a:schemeClr val="bg1"/>
                </a:solidFill>
                <a:latin typeface="Calibri" pitchFamily="34" charset="0"/>
              </a:rPr>
              <a:t>VTU28350</a:t>
            </a:r>
          </a:p>
          <a:p>
            <a:r>
              <a:rPr lang="en-US" sz="3200" dirty="0">
                <a:solidFill>
                  <a:schemeClr val="bg1"/>
                </a:solidFill>
                <a:latin typeface="Calibri" pitchFamily="34" charset="0"/>
              </a:rPr>
              <a:t>Ph no: 8142995791</a:t>
            </a:r>
          </a:p>
          <a:p>
            <a:r>
              <a:rPr lang="en-US" sz="3200" dirty="0">
                <a:solidFill>
                  <a:schemeClr val="bg1"/>
                </a:solidFill>
                <a:latin typeface="Calibri" pitchFamily="34" charset="0"/>
              </a:rPr>
              <a:t>Mail:VTU28250@veltech.edu.in</a:t>
            </a:r>
          </a:p>
          <a:p>
            <a:endParaRPr lang="en-US" sz="3200" dirty="0">
              <a:solidFill>
                <a:schemeClr val="bg1"/>
              </a:solidFill>
              <a:latin typeface="Calibri" pitchFamily="34" charset="0"/>
            </a:endParaRPr>
          </a:p>
          <a:p>
            <a:r>
              <a:rPr lang="en-US" sz="3200" dirty="0">
                <a:solidFill>
                  <a:schemeClr val="bg1"/>
                </a:solidFill>
                <a:latin typeface="Calibri" pitchFamily="34" charset="0"/>
              </a:rPr>
              <a:t>2. ESWAR VENKAT KASTURI</a:t>
            </a:r>
          </a:p>
          <a:p>
            <a:r>
              <a:rPr lang="en-US" sz="3200" dirty="0">
                <a:solidFill>
                  <a:schemeClr val="bg1"/>
                </a:solidFill>
                <a:latin typeface="Calibri" pitchFamily="34" charset="0"/>
              </a:rPr>
              <a:t>VTU28351</a:t>
            </a:r>
          </a:p>
          <a:p>
            <a:r>
              <a:rPr lang="en-US" sz="3200" dirty="0">
                <a:solidFill>
                  <a:schemeClr val="bg1"/>
                </a:solidFill>
                <a:latin typeface="Calibri" pitchFamily="34" charset="0"/>
              </a:rPr>
              <a:t>Ph no:8125884008</a:t>
            </a:r>
          </a:p>
          <a:p>
            <a:r>
              <a:rPr lang="en-US" sz="3200" dirty="0">
                <a:solidFill>
                  <a:schemeClr val="bg1"/>
                </a:solidFill>
                <a:latin typeface="Calibri" pitchFamily="34" charset="0"/>
              </a:rPr>
              <a:t>Mail:VTU28351veltech.edu.in</a:t>
            </a:r>
          </a:p>
        </p:txBody>
      </p:sp>
      <p:sp>
        <p:nvSpPr>
          <p:cNvPr id="2242" name="Text Box 194"/>
          <p:cNvSpPr txBox="1">
            <a:spLocks noChangeArrowheads="1"/>
          </p:cNvSpPr>
          <p:nvPr/>
        </p:nvSpPr>
        <p:spPr bwMode="auto">
          <a:xfrm>
            <a:off x="671944" y="4726850"/>
            <a:ext cx="6265285" cy="9694962"/>
          </a:xfrm>
          <a:prstGeom prst="rect">
            <a:avLst/>
          </a:prstGeom>
          <a:solidFill>
            <a:schemeClr val="accent1">
              <a:lumMod val="75000"/>
            </a:schemeClr>
          </a:solidFill>
          <a:ln>
            <a:noFill/>
          </a:ln>
          <a:effectLst/>
        </p:spPr>
        <p:txBody>
          <a:bodyPr wrap="square" lIns="228600" tIns="228600" rIns="228600" bIns="228600">
            <a:spAutoFit/>
          </a:bodyPr>
          <a:lstStyle/>
          <a:p>
            <a:pPr eaLnBrk="1" hangingPunct="1"/>
            <a:r>
              <a:rPr lang="en-US" dirty="0">
                <a:solidFill>
                  <a:schemeClr val="bg1"/>
                </a:solidFill>
                <a:latin typeface="Arial" panose="020B0604020202020204" pitchFamily="34" charset="0"/>
                <a:ea typeface="Calibri" panose="020F0502020204030204" pitchFamily="34" charset="0"/>
                <a:cs typeface="Arial" panose="020B0604020202020204" pitchFamily="34" charset="0"/>
              </a:rPr>
              <a:t>This project presents an AI-based system designed to improve student placement readiness by analyzing academic performance, skills, and domain interests. The system uses a Large Language Model (LLM) to generate domain-specific tests, evaluate student responses, and identify weak areas.</a:t>
            </a:r>
          </a:p>
          <a:p>
            <a:pPr eaLnBrk="1" hangingPunct="1"/>
            <a:endParaRPr lang="en-US"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eaLnBrk="1" hangingPunct="1"/>
            <a:r>
              <a:rPr lang="en-US" dirty="0">
                <a:solidFill>
                  <a:schemeClr val="bg1"/>
                </a:solidFill>
                <a:latin typeface="Arial" panose="020B0604020202020204" pitchFamily="34" charset="0"/>
                <a:ea typeface="Calibri" panose="020F0502020204030204" pitchFamily="34" charset="0"/>
                <a:cs typeface="Arial" panose="020B0604020202020204" pitchFamily="34" charset="0"/>
              </a:rPr>
              <a:t>Based on performance analysis, the system provides personalized recommendations and a structured roadmap to guide students in improving their skills. The platform integrates frontend, backend, AI engine, and cloud database to deliver real-time insights and feedback.</a:t>
            </a:r>
          </a:p>
          <a:p>
            <a:pPr eaLnBrk="1" hangingPunct="1"/>
            <a:endParaRPr lang="en-US"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eaLnBrk="1" hangingPunct="1"/>
            <a:r>
              <a:rPr lang="en-US" dirty="0">
                <a:solidFill>
                  <a:schemeClr val="bg1"/>
                </a:solidFill>
                <a:latin typeface="Arial" panose="020B0604020202020204" pitchFamily="34" charset="0"/>
                <a:ea typeface="Calibri" panose="020F0502020204030204" pitchFamily="34" charset="0"/>
                <a:cs typeface="Arial" panose="020B0604020202020204" pitchFamily="34" charset="0"/>
              </a:rPr>
              <a:t>The proposed system reduces the gap between academic learning and industry requirements by offering intelligent assessment and continuous improvement strategies, thereby enhancing placement success rates.</a:t>
            </a: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245" name="Text Box 197"/>
          <p:cNvSpPr txBox="1">
            <a:spLocks noChangeArrowheads="1"/>
          </p:cNvSpPr>
          <p:nvPr/>
        </p:nvSpPr>
        <p:spPr bwMode="auto">
          <a:xfrm>
            <a:off x="7776687" y="13738052"/>
            <a:ext cx="10969625" cy="7386638"/>
          </a:xfrm>
          <a:prstGeom prst="rect">
            <a:avLst/>
          </a:prstGeom>
          <a:solidFill>
            <a:schemeClr val="bg1"/>
          </a:solidFill>
          <a:ln>
            <a:noFill/>
          </a:ln>
          <a:effectLst/>
        </p:spPr>
        <p:txBody>
          <a:bodyPr lIns="182880" tIns="182880" rIns="182880" bIns="182880">
            <a:spAutoFit/>
          </a:bodyPr>
          <a:lstStyle/>
          <a:p>
            <a:r>
              <a:rPr lang="en-US" dirty="0"/>
              <a:t>• Data Collection: Collect student details such as skills, projects, and domain.</a:t>
            </a:r>
          </a:p>
          <a:p>
            <a:endParaRPr lang="en-US" dirty="0"/>
          </a:p>
          <a:p>
            <a:r>
              <a:rPr lang="en-US" dirty="0"/>
              <a:t>• Data Validation: Validate input data to ensure accuracy.</a:t>
            </a:r>
          </a:p>
          <a:p>
            <a:endParaRPr lang="en-US" dirty="0"/>
          </a:p>
          <a:p>
            <a:r>
              <a:rPr lang="en-US" dirty="0"/>
              <a:t>• Test Generation: AI (LLM) generates domain-specific questions.</a:t>
            </a:r>
          </a:p>
          <a:p>
            <a:endParaRPr lang="en-US" dirty="0"/>
          </a:p>
          <a:p>
            <a:r>
              <a:rPr lang="en-US" dirty="0"/>
              <a:t>• Test Execution: Student attempts the test through the system.</a:t>
            </a:r>
          </a:p>
          <a:p>
            <a:endParaRPr lang="en-US" dirty="0"/>
          </a:p>
          <a:p>
            <a:r>
              <a:rPr lang="en-US" dirty="0"/>
              <a:t>• Evaluation: System evaluates answers and calculates score.</a:t>
            </a:r>
          </a:p>
          <a:p>
            <a:endParaRPr lang="en-US" dirty="0"/>
          </a:p>
          <a:p>
            <a:r>
              <a:rPr lang="en-US" dirty="0"/>
              <a:t>• Performance Analysis: AI identifies strengths and weak areas.</a:t>
            </a:r>
          </a:p>
          <a:p>
            <a:endParaRPr lang="en-US" dirty="0"/>
          </a:p>
          <a:p>
            <a:r>
              <a:rPr lang="en-US" dirty="0"/>
              <a:t>• Recommendation: Provide learning resources based on performance.</a:t>
            </a:r>
          </a:p>
          <a:p>
            <a:endParaRPr lang="en-US" dirty="0"/>
          </a:p>
          <a:p>
            <a:r>
              <a:rPr lang="en-US" dirty="0"/>
              <a:t>• Roadmap Generation: Generate a step-by-step improvement plan.</a:t>
            </a:r>
          </a:p>
          <a:p>
            <a:endParaRPr lang="en-US" dirty="0"/>
          </a:p>
          <a:p>
            <a:r>
              <a:rPr lang="en-US" dirty="0"/>
              <a:t>• Data Storage: Store results in the database.</a:t>
            </a:r>
          </a:p>
          <a:p>
            <a:endParaRPr lang="en-US" dirty="0"/>
          </a:p>
          <a:p>
            <a:r>
              <a:rPr lang="en-US" dirty="0"/>
              <a:t>• Result Display: Show score, recommendations, and roadmap.</a:t>
            </a:r>
          </a:p>
        </p:txBody>
      </p:sp>
      <p:sp>
        <p:nvSpPr>
          <p:cNvPr id="2246" name="Text Box 198"/>
          <p:cNvSpPr txBox="1">
            <a:spLocks noChangeArrowheads="1"/>
          </p:cNvSpPr>
          <p:nvPr/>
        </p:nvSpPr>
        <p:spPr bwMode="auto">
          <a:xfrm>
            <a:off x="32537400" y="14080065"/>
            <a:ext cx="10969625" cy="3693319"/>
          </a:xfrm>
          <a:prstGeom prst="rect">
            <a:avLst/>
          </a:prstGeom>
          <a:solidFill>
            <a:schemeClr val="bg1"/>
          </a:solidFill>
          <a:ln>
            <a:noFill/>
          </a:ln>
          <a:effectLst/>
        </p:spPr>
        <p:txBody>
          <a:bodyPr lIns="182880" tIns="182880" rIns="182880" bIns="182880">
            <a:spAutoFit/>
          </a:bodyPr>
          <a:lstStyle/>
          <a:p>
            <a:r>
              <a:rPr lang="en-US" dirty="0"/>
              <a:t>The AI-Powered Student Performance Prediction and Placement Readiness System provides an effective solution to improve student preparation for placements. The system evaluates student performance using AI-generated tests and identifies weak areas accurately.</a:t>
            </a:r>
          </a:p>
          <a:p>
            <a:endParaRPr lang="en-US" dirty="0"/>
          </a:p>
          <a:p>
            <a:r>
              <a:rPr lang="en-US" dirty="0"/>
              <a:t>It offers personalized recommendations and a structured roadmap, helping students focus on skill improvement. By integrating AI, web technologies, and cloud databases, the system enhances learning efficiency and bridges the gap between academic knowledge and industry requirements.</a:t>
            </a:r>
          </a:p>
        </p:txBody>
      </p:sp>
      <p:sp>
        <p:nvSpPr>
          <p:cNvPr id="2247" name="Text Box 199"/>
          <p:cNvSpPr txBox="1">
            <a:spLocks noChangeArrowheads="1"/>
          </p:cNvSpPr>
          <p:nvPr/>
        </p:nvSpPr>
        <p:spPr bwMode="auto">
          <a:xfrm>
            <a:off x="7835134" y="5371723"/>
            <a:ext cx="10969625" cy="6278642"/>
          </a:xfrm>
          <a:prstGeom prst="rect">
            <a:avLst/>
          </a:prstGeom>
          <a:solidFill>
            <a:schemeClr val="bg1"/>
          </a:solidFill>
          <a:ln>
            <a:noFill/>
          </a:ln>
          <a:effectLst/>
        </p:spPr>
        <p:txBody>
          <a:bodyPr lIns="182880" tIns="182880" rIns="182880" bIns="182880">
            <a:spAutoFit/>
          </a:bodyPr>
          <a:lstStyle/>
          <a:p>
            <a:r>
              <a:rPr lang="en-US" dirty="0"/>
              <a:t>In today’s highly competitive job market, students must possess strong technical skills, domain knowledge, and practical problem-solving abilities to secure placements. However, traditional evaluation systems mainly focus on academic marks and fail to assess real-world readiness, which creates a gap between student capabilities and industry expectations.</a:t>
            </a:r>
          </a:p>
          <a:p>
            <a:endParaRPr lang="en-US" dirty="0"/>
          </a:p>
          <a:p>
            <a:r>
              <a:rPr lang="en-US" dirty="0"/>
              <a:t>To address this issue, this project proposes an AI-Powered Student Performance Prediction and Placement Readiness System. The system leverages Artificial Intelligence and Large Language Models (LLMs) to evaluate students through domain-specific tests. It analyzes student responses to identify strengths and weaknesses in different areas.</a:t>
            </a:r>
          </a:p>
          <a:p>
            <a:endParaRPr lang="en-US" dirty="0"/>
          </a:p>
          <a:p>
            <a:r>
              <a:rPr lang="en-US" dirty="0"/>
              <a:t>Based on the analysis, the system provides personalized recommendations and generates a structured learning roadmap. This helps students focus on improving specific skills and prepares them more effectively for placement opportunities, thereby increasing their chances of success.</a:t>
            </a:r>
          </a:p>
        </p:txBody>
      </p:sp>
      <p:sp>
        <p:nvSpPr>
          <p:cNvPr id="2248" name="Text Box 200"/>
          <p:cNvSpPr txBox="1">
            <a:spLocks noChangeArrowheads="1"/>
          </p:cNvSpPr>
          <p:nvPr/>
        </p:nvSpPr>
        <p:spPr bwMode="auto">
          <a:xfrm>
            <a:off x="32537400" y="18454926"/>
            <a:ext cx="10969625" cy="2339102"/>
          </a:xfrm>
          <a:prstGeom prst="rect">
            <a:avLst/>
          </a:prstGeom>
          <a:solidFill>
            <a:schemeClr val="bg1"/>
          </a:solidFill>
          <a:ln>
            <a:noFill/>
          </a:ln>
          <a:effectLst/>
        </p:spPr>
        <p:txBody>
          <a:bodyPr lIns="182880" tIns="182880" rIns="182880" bIns="182880">
            <a:spAutoFit/>
          </a:bodyPr>
          <a:lstStyle>
            <a:lvl1pPr marL="457200" indent="-457200">
              <a:defRPr>
                <a:solidFill>
                  <a:schemeClr val="tx1"/>
                </a:solidFill>
                <a:latin typeface="Arial" charset="0"/>
              </a:defRPr>
            </a:lvl1pPr>
            <a:lvl2pPr marL="914400" indent="-342900">
              <a:defRPr>
                <a:solidFill>
                  <a:schemeClr val="tx1"/>
                </a:solidFill>
                <a:latin typeface="Arial" charset="0"/>
              </a:defRPr>
            </a:lvl2pPr>
            <a:lvl3pPr marL="1371600" indent="-342900">
              <a:defRPr>
                <a:solidFill>
                  <a:schemeClr val="tx1"/>
                </a:solidFill>
                <a:latin typeface="Arial" charset="0"/>
              </a:defRPr>
            </a:lvl3pPr>
            <a:lvl4pPr marL="1828800" indent="-342900">
              <a:defRPr>
                <a:solidFill>
                  <a:schemeClr val="tx1"/>
                </a:solidFill>
                <a:latin typeface="Arial" charset="0"/>
              </a:defRPr>
            </a:lvl4pPr>
            <a:lvl5pPr marL="2286000" indent="-342900">
              <a:defRPr>
                <a:solidFill>
                  <a:schemeClr val="tx1"/>
                </a:solidFill>
                <a:latin typeface="Arial" charset="0"/>
              </a:defRPr>
            </a:lvl5pPr>
            <a:lvl6pPr marL="2743200" indent="-342900" fontAlgn="base">
              <a:spcBef>
                <a:spcPct val="0"/>
              </a:spcBef>
              <a:spcAft>
                <a:spcPct val="0"/>
              </a:spcAft>
              <a:defRPr>
                <a:solidFill>
                  <a:schemeClr val="tx1"/>
                </a:solidFill>
                <a:latin typeface="Arial" charset="0"/>
              </a:defRPr>
            </a:lvl6pPr>
            <a:lvl7pPr marL="3200400" indent="-342900" fontAlgn="base">
              <a:spcBef>
                <a:spcPct val="0"/>
              </a:spcBef>
              <a:spcAft>
                <a:spcPct val="0"/>
              </a:spcAft>
              <a:defRPr>
                <a:solidFill>
                  <a:schemeClr val="tx1"/>
                </a:solidFill>
                <a:latin typeface="Arial" charset="0"/>
              </a:defRPr>
            </a:lvl7pPr>
            <a:lvl8pPr marL="3657600" indent="-342900" fontAlgn="base">
              <a:spcBef>
                <a:spcPct val="0"/>
              </a:spcBef>
              <a:spcAft>
                <a:spcPct val="0"/>
              </a:spcAft>
              <a:defRPr>
                <a:solidFill>
                  <a:schemeClr val="tx1"/>
                </a:solidFill>
                <a:latin typeface="Arial" charset="0"/>
              </a:defRPr>
            </a:lvl8pPr>
            <a:lvl9pPr marL="4114800" indent="-342900" fontAlgn="base">
              <a:spcBef>
                <a:spcPct val="0"/>
              </a:spcBef>
              <a:spcAft>
                <a:spcPct val="0"/>
              </a:spcAft>
              <a:defRPr>
                <a:solidFill>
                  <a:schemeClr val="tx1"/>
                </a:solidFill>
                <a:latin typeface="Arial" charset="0"/>
              </a:defRPr>
            </a:lvl9pPr>
          </a:lstStyle>
          <a:p>
            <a:pPr>
              <a:spcAft>
                <a:spcPct val="50000"/>
              </a:spcAft>
              <a:buFontTx/>
              <a:buAutoNum type="arabicPeriod"/>
            </a:pPr>
            <a:r>
              <a:rPr lang="en-IN" sz="3200" dirty="0"/>
              <a:t>Name: </a:t>
            </a:r>
            <a:r>
              <a:rPr lang="en-US" sz="3200" dirty="0"/>
              <a:t>Alex David S </a:t>
            </a:r>
            <a:r>
              <a:rPr lang="en-IN" sz="3200" dirty="0"/>
              <a:t> </a:t>
            </a:r>
            <a:r>
              <a:rPr lang="en-IN" sz="3200" b="1" dirty="0">
                <a:solidFill>
                  <a:schemeClr val="tx1">
                    <a:lumMod val="85000"/>
                    <a:lumOff val="15000"/>
                  </a:schemeClr>
                </a:solidFill>
              </a:rPr>
              <a:t>B.E., </a:t>
            </a:r>
            <a:r>
              <a:rPr lang="en-IN" sz="3200" b="1" dirty="0" err="1">
                <a:solidFill>
                  <a:schemeClr val="tx1">
                    <a:lumMod val="85000"/>
                    <a:lumOff val="15000"/>
                  </a:schemeClr>
                </a:solidFill>
              </a:rPr>
              <a:t>M.Tech</a:t>
            </a:r>
            <a:r>
              <a:rPr lang="en-IN" sz="3200" b="1" dirty="0">
                <a:solidFill>
                  <a:schemeClr val="tx1">
                    <a:lumMod val="85000"/>
                    <a:lumOff val="15000"/>
                  </a:schemeClr>
                </a:solidFill>
              </a:rPr>
              <a:t>., Ph.D.</a:t>
            </a:r>
            <a:r>
              <a:rPr lang="en-IN" sz="3200" dirty="0">
                <a:solidFill>
                  <a:schemeClr val="tx1">
                    <a:lumMod val="85000"/>
                    <a:lumOff val="15000"/>
                  </a:schemeClr>
                </a:solidFill>
              </a:rPr>
              <a:t> </a:t>
            </a:r>
            <a:endParaRPr lang="en-US" sz="3200" dirty="0">
              <a:solidFill>
                <a:schemeClr val="tx1">
                  <a:lumMod val="85000"/>
                  <a:lumOff val="15000"/>
                </a:schemeClr>
              </a:solidFill>
              <a:latin typeface="Calibri" pitchFamily="34" charset="0"/>
            </a:endParaRPr>
          </a:p>
          <a:p>
            <a:pPr>
              <a:spcAft>
                <a:spcPct val="50000"/>
              </a:spcAft>
              <a:buFontTx/>
              <a:buAutoNum type="arabicPeriod"/>
            </a:pPr>
            <a:r>
              <a:rPr lang="en-US" sz="3200" dirty="0">
                <a:latin typeface="Calibri" pitchFamily="34" charset="0"/>
              </a:rPr>
              <a:t>Ph no: 79042 41134</a:t>
            </a:r>
          </a:p>
          <a:p>
            <a:pPr>
              <a:spcAft>
                <a:spcPct val="50000"/>
              </a:spcAft>
              <a:buFontTx/>
              <a:buAutoNum type="arabicPeriod"/>
            </a:pPr>
            <a:r>
              <a:rPr lang="it-IT" sz="3200" dirty="0"/>
              <a:t>Mail: adstechlearning@gmail.com</a:t>
            </a:r>
            <a:endParaRPr lang="en-US" sz="3200" dirty="0">
              <a:latin typeface="Calibri" pitchFamily="34" charset="0"/>
            </a:endParaRPr>
          </a:p>
        </p:txBody>
      </p:sp>
      <p:pic>
        <p:nvPicPr>
          <p:cNvPr id="3" name="Picture 2">
            <a:extLst>
              <a:ext uri="{FF2B5EF4-FFF2-40B4-BE49-F238E27FC236}">
                <a16:creationId xmlns:a16="http://schemas.microsoft.com/office/drawing/2014/main" id="{4D71F41E-02F1-EDA3-5821-03790B9A6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7" y="17930"/>
            <a:ext cx="7312026" cy="3638084"/>
          </a:xfrm>
          <a:prstGeom prst="rect">
            <a:avLst/>
          </a:prstGeom>
        </p:spPr>
      </p:pic>
      <p:sp>
        <p:nvSpPr>
          <p:cNvPr id="7" name="TextBox 6">
            <a:extLst>
              <a:ext uri="{FF2B5EF4-FFF2-40B4-BE49-F238E27FC236}">
                <a16:creationId xmlns:a16="http://schemas.microsoft.com/office/drawing/2014/main" id="{81DB770B-E634-5499-7F4A-12F97AB7EB29}"/>
              </a:ext>
            </a:extLst>
          </p:cNvPr>
          <p:cNvSpPr txBox="1"/>
          <p:nvPr/>
        </p:nvSpPr>
        <p:spPr>
          <a:xfrm>
            <a:off x="7326311" y="-4692"/>
            <a:ext cx="6820105" cy="1200329"/>
          </a:xfrm>
          <a:prstGeom prst="rect">
            <a:avLst/>
          </a:prstGeom>
          <a:noFill/>
        </p:spPr>
        <p:txBody>
          <a:bodyPr wrap="square" rtlCol="0">
            <a:spAutoFit/>
          </a:bodyPr>
          <a:lstStyle/>
          <a:p>
            <a:pPr algn="ctr"/>
            <a:r>
              <a:rPr lang="en-IN" sz="7200" b="1" dirty="0">
                <a:solidFill>
                  <a:schemeClr val="bg1"/>
                </a:solidFill>
              </a:rPr>
              <a:t> </a:t>
            </a:r>
          </a:p>
        </p:txBody>
      </p:sp>
      <p:sp>
        <p:nvSpPr>
          <p:cNvPr id="9" name="Rounded Rectangle 2248">
            <a:extLst>
              <a:ext uri="{FF2B5EF4-FFF2-40B4-BE49-F238E27FC236}">
                <a16:creationId xmlns:a16="http://schemas.microsoft.com/office/drawing/2014/main" id="{0612593F-59F4-8E64-F52E-B701A3AC92B6}"/>
              </a:ext>
            </a:extLst>
          </p:cNvPr>
          <p:cNvSpPr/>
          <p:nvPr/>
        </p:nvSpPr>
        <p:spPr>
          <a:xfrm>
            <a:off x="40622431" y="140192"/>
            <a:ext cx="2734056" cy="3200400"/>
          </a:xfrm>
          <a:prstGeom prst="round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b="1" dirty="0">
              <a:solidFill>
                <a:schemeClr val="accent2"/>
              </a:solidFill>
            </a:endParaRPr>
          </a:p>
        </p:txBody>
      </p:sp>
      <p:pic>
        <p:nvPicPr>
          <p:cNvPr id="25" name="Picture 24">
            <a:extLst>
              <a:ext uri="{FF2B5EF4-FFF2-40B4-BE49-F238E27FC236}">
                <a16:creationId xmlns:a16="http://schemas.microsoft.com/office/drawing/2014/main" id="{66370D8E-027C-7C5B-C346-B97A569C81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7991" y="74803"/>
            <a:ext cx="6448425" cy="3514725"/>
          </a:xfrm>
          <a:prstGeom prst="rect">
            <a:avLst/>
          </a:prstGeom>
        </p:spPr>
      </p:pic>
      <p:pic>
        <p:nvPicPr>
          <p:cNvPr id="29" name="Picture 28">
            <a:extLst>
              <a:ext uri="{FF2B5EF4-FFF2-40B4-BE49-F238E27FC236}">
                <a16:creationId xmlns:a16="http://schemas.microsoft.com/office/drawing/2014/main" id="{E4BD379A-F607-1582-82B2-277B282A83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14932" y="14112417"/>
            <a:ext cx="12504580" cy="6226347"/>
          </a:xfrm>
          <a:prstGeom prst="rect">
            <a:avLst/>
          </a:prstGeom>
        </p:spPr>
      </p:pic>
      <p:pic>
        <p:nvPicPr>
          <p:cNvPr id="31" name="Picture 30">
            <a:extLst>
              <a:ext uri="{FF2B5EF4-FFF2-40B4-BE49-F238E27FC236}">
                <a16:creationId xmlns:a16="http://schemas.microsoft.com/office/drawing/2014/main" id="{9370BFDF-6E09-89DF-1D46-8E28CBDECD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859712" y="5371723"/>
            <a:ext cx="11414971" cy="6226348"/>
          </a:xfrm>
          <a:prstGeom prst="rect">
            <a:avLst/>
          </a:prstGeom>
        </p:spPr>
      </p:pic>
      <p:sp>
        <p:nvSpPr>
          <p:cNvPr id="34" name="Text Box 133">
            <a:extLst>
              <a:ext uri="{FF2B5EF4-FFF2-40B4-BE49-F238E27FC236}">
                <a16:creationId xmlns:a16="http://schemas.microsoft.com/office/drawing/2014/main" id="{1E7E645C-9145-3EA3-EF9F-3C8DF40D0791}"/>
              </a:ext>
            </a:extLst>
          </p:cNvPr>
          <p:cNvSpPr txBox="1">
            <a:spLocks noChangeArrowheads="1"/>
          </p:cNvSpPr>
          <p:nvPr/>
        </p:nvSpPr>
        <p:spPr bwMode="auto">
          <a:xfrm>
            <a:off x="32249631" y="4069185"/>
            <a:ext cx="109696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28600" tIns="228600" rIns="228600" bIns="228600" anchor="ctr" anchorCtr="1"/>
          <a:lstStyle>
            <a:lvl1pPr defTabSz="4389438">
              <a:defRPr>
                <a:solidFill>
                  <a:schemeClr val="tx1"/>
                </a:solidFill>
                <a:latin typeface="Arial" charset="0"/>
              </a:defRPr>
            </a:lvl1pPr>
            <a:lvl2pPr defTabSz="4389438">
              <a:defRPr>
                <a:solidFill>
                  <a:schemeClr val="tx1"/>
                </a:solidFill>
                <a:latin typeface="Arial" charset="0"/>
              </a:defRPr>
            </a:lvl2pPr>
            <a:lvl3pPr defTabSz="4389438">
              <a:defRPr>
                <a:solidFill>
                  <a:schemeClr val="tx1"/>
                </a:solidFill>
                <a:latin typeface="Arial" charset="0"/>
              </a:defRPr>
            </a:lvl3pPr>
            <a:lvl4pPr defTabSz="4389438">
              <a:defRPr>
                <a:solidFill>
                  <a:schemeClr val="tx1"/>
                </a:solidFill>
                <a:latin typeface="Arial" charset="0"/>
              </a:defRPr>
            </a:lvl4pPr>
            <a:lvl5pPr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4000" b="1" dirty="0">
                <a:latin typeface="Calibri" panose="020F0502020204030204" pitchFamily="34" charset="0"/>
                <a:ea typeface="Calibri" panose="020F0502020204030204" pitchFamily="34" charset="0"/>
                <a:cs typeface="Calibri" panose="020F0502020204030204" pitchFamily="34" charset="0"/>
              </a:rPr>
              <a:t>WORKFLOW</a:t>
            </a:r>
          </a:p>
        </p:txBody>
      </p:sp>
      <p:pic>
        <p:nvPicPr>
          <p:cNvPr id="36" name="Picture 35">
            <a:extLst>
              <a:ext uri="{FF2B5EF4-FFF2-40B4-BE49-F238E27FC236}">
                <a16:creationId xmlns:a16="http://schemas.microsoft.com/office/drawing/2014/main" id="{7C8ABF4D-5E7B-1AB6-0754-4E93B59985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47341" y="5281002"/>
            <a:ext cx="12099159" cy="6599541"/>
          </a:xfrm>
          <a:prstGeom prst="rect">
            <a:avLst/>
          </a:prstGeom>
        </p:spPr>
      </p:pic>
      <p:pic>
        <p:nvPicPr>
          <p:cNvPr id="4" name="Picture 3">
            <a:extLst>
              <a:ext uri="{FF2B5EF4-FFF2-40B4-BE49-F238E27FC236}">
                <a16:creationId xmlns:a16="http://schemas.microsoft.com/office/drawing/2014/main" id="{3FA6CD79-45AA-F065-F330-6FA5D5DC053A}"/>
              </a:ext>
            </a:extLst>
          </p:cNvPr>
          <p:cNvPicPr>
            <a:picLocks noChangeAspect="1"/>
          </p:cNvPicPr>
          <p:nvPr/>
        </p:nvPicPr>
        <p:blipFill>
          <a:blip r:embed="rId7"/>
          <a:stretch>
            <a:fillRect/>
          </a:stretch>
        </p:blipFill>
        <p:spPr>
          <a:xfrm>
            <a:off x="40766999" y="407238"/>
            <a:ext cx="2507683" cy="2736442"/>
          </a:xfrm>
          <a:prstGeom prst="rect">
            <a:avLst/>
          </a:prstGeom>
        </p:spPr>
      </p:pic>
    </p:spTree>
  </p:cSld>
  <p:clrMapOvr>
    <a:masterClrMapping/>
  </p:clrMapOvr>
</p:sld>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1924</TotalTime>
  <Words>561</Words>
  <Application>Microsoft Office PowerPoint</Application>
  <PresentationFormat>Custom</PresentationFormat>
  <Paragraphs>60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Verdana</vt:lpstr>
      <vt:lpstr>Default Design</vt:lpstr>
      <vt:lpstr>PowerPoint Presentation</vt:lpstr>
    </vt:vector>
  </TitlesOfParts>
  <Company>Genigraphics 800.790.4001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24x48</dc:title>
  <dc:creator>Ashok Vijay</dc:creator>
  <dc:description>To order poster prints visit us at www.genigraphics.com</dc:description>
  <cp:lastModifiedBy>eswar venkat</cp:lastModifiedBy>
  <cp:revision>59</cp:revision>
  <dcterms:created xsi:type="dcterms:W3CDTF">2008-05-03T03:01:56Z</dcterms:created>
  <dcterms:modified xsi:type="dcterms:W3CDTF">2026-04-24T17:22:32Z</dcterms:modified>
</cp:coreProperties>
</file>