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handoutMasterIdLst>
    <p:handoutMasterId r:id="rId28"/>
  </p:handoutMasterIdLst>
  <p:sldIdLst>
    <p:sldId id="287" r:id="rId2"/>
    <p:sldId id="295" r:id="rId3"/>
    <p:sldId id="296" r:id="rId4"/>
    <p:sldId id="297" r:id="rId5"/>
    <p:sldId id="318" r:id="rId6"/>
    <p:sldId id="298" r:id="rId7"/>
    <p:sldId id="299" r:id="rId8"/>
    <p:sldId id="331" r:id="rId9"/>
    <p:sldId id="302" r:id="rId10"/>
    <p:sldId id="306" r:id="rId11"/>
    <p:sldId id="308" r:id="rId12"/>
    <p:sldId id="309" r:id="rId13"/>
    <p:sldId id="310" r:id="rId14"/>
    <p:sldId id="311" r:id="rId15"/>
    <p:sldId id="312" r:id="rId16"/>
    <p:sldId id="313" r:id="rId17"/>
    <p:sldId id="314" r:id="rId18"/>
    <p:sldId id="320" r:id="rId19"/>
    <p:sldId id="321" r:id="rId20"/>
    <p:sldId id="322" r:id="rId21"/>
    <p:sldId id="323" r:id="rId22"/>
    <p:sldId id="324" r:id="rId23"/>
    <p:sldId id="325" r:id="rId24"/>
    <p:sldId id="329" r:id="rId25"/>
    <p:sldId id="294" r:id="rId26"/>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624" autoAdjust="0"/>
  </p:normalViewPr>
  <p:slideViewPr>
    <p:cSldViewPr snapToGrid="0" showGuides="1">
      <p:cViewPr varScale="1">
        <p:scale>
          <a:sx n="44" d="100"/>
          <a:sy n="44" d="100"/>
        </p:scale>
        <p:origin x="66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76B784-4FB6-471C-91EA-1AAA7047F172}" type="slidenum">
              <a:rPr lang="en-IN" smtClean="0"/>
              <a:t>‹#›</a:t>
            </a:fld>
            <a:endParaRPr lang="en-IN"/>
          </a:p>
        </p:txBody>
      </p:sp>
      <p:sp>
        <p:nvSpPr>
          <p:cNvPr id="9" name="Header Placeholder 8"/>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err="1"/>
              <a:t>xvs</a:t>
            </a:r>
            <a:endParaRPr lang="en-IN" dirty="0"/>
          </a:p>
        </p:txBody>
      </p:sp>
      <p:sp>
        <p:nvSpPr>
          <p:cNvPr id="12" name="Date Placeholder 11"/>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F12033-2EDF-405D-A660-8698D41E1567}" type="datetime1">
              <a:rPr lang="en-US" smtClean="0"/>
              <a:t>4/10/2026</a:t>
            </a:fld>
            <a:endParaRPr lang="en-IN"/>
          </a:p>
        </p:txBody>
      </p:sp>
      <p:sp>
        <p:nvSpPr>
          <p:cNvPr id="14" name="Footer Placeholder 1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SAD</a:t>
            </a:r>
          </a:p>
        </p:txBody>
      </p:sp>
    </p:spTree>
    <p:extLst>
      <p:ext uri="{BB962C8B-B14F-4D97-AF65-F5344CB8AC3E}">
        <p14:creationId xmlns:p14="http://schemas.microsoft.com/office/powerpoint/2010/main" val="290114306"/>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86210308"/>
      </p:ext>
    </p:extLst>
  </p:cSld>
  <p:clrMap bg1="lt1" tx1="dk1" bg2="dk2" tx2="lt2" accent1="accent1" accent2="accent2" accent3="accent3" accent4="accent4" accent5="accent5" accent6="accent6" hlink="hlink" folHlink="folHlink"/>
  <p:hf hd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901128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3332470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45920" y="1138428"/>
            <a:ext cx="15087600" cy="5349240"/>
          </a:xfrm>
        </p:spPr>
        <p:txBody>
          <a:bodyPr anchor="b">
            <a:normAutofit/>
          </a:bodyPr>
          <a:lstStyle>
            <a:lvl1pPr algn="l">
              <a:lnSpc>
                <a:spcPct val="85000"/>
              </a:lnSpc>
              <a:defRPr sz="12000" spc="-7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50077" y="6683430"/>
            <a:ext cx="15087600" cy="1714500"/>
          </a:xfrm>
        </p:spPr>
        <p:txBody>
          <a:bodyPr lIns="91440" rIns="91440">
            <a:normAutofit/>
          </a:bodyPr>
          <a:lstStyle>
            <a:lvl1pPr marL="0" indent="0" algn="l">
              <a:buNone/>
              <a:defRPr sz="3600" cap="all" spc="300" baseline="0">
                <a:solidFill>
                  <a:schemeClr val="tx2"/>
                </a:solidFill>
                <a:latin typeface="+mj-lt"/>
              </a:defRPr>
            </a:lvl1pPr>
            <a:lvl2pPr marL="685800" indent="0" algn="ctr">
              <a:buNone/>
              <a:defRPr sz="36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2A4A78-AB98-4C27-A03B-1FDB5F943EB5}" type="datetime4">
              <a:rPr lang="en-US" smtClean="0"/>
              <a:t>April 10,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D00544-B2CB-480A-8E68-8A818093FCE5}" type="datetime4">
              <a:rPr lang="en-US" smtClean="0"/>
              <a:t>April 10,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1138428"/>
            <a:ext cx="15087600" cy="5349240"/>
          </a:xfrm>
        </p:spPr>
        <p:txBody>
          <a:bodyPr anchor="b" anchorCtr="0">
            <a:normAutofit/>
          </a:bodyPr>
          <a:lstStyle>
            <a:lvl1pPr>
              <a:lnSpc>
                <a:spcPct val="85000"/>
              </a:lnSpc>
              <a:defRPr sz="12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45920" y="6679692"/>
            <a:ext cx="15087600" cy="1714500"/>
          </a:xfrm>
        </p:spPr>
        <p:txBody>
          <a:bodyPr lIns="91440" rIns="91440" anchor="t" anchorCtr="0">
            <a:normAutofit/>
          </a:bodyPr>
          <a:lstStyle>
            <a:lvl1pPr marL="0" indent="0">
              <a:buNone/>
              <a:defRPr sz="3600" cap="all" spc="300" baseline="0">
                <a:solidFill>
                  <a:schemeClr val="tx2"/>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C21569-787D-4B28-BF58-C15BD049FF4C}" type="datetime4">
              <a:rPr lang="en-US" smtClean="0"/>
              <a:t>April 10,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45919" y="2768601"/>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26880" y="2768603"/>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689255-858F-4E3D-94A1-E1E39F87E4E8}" type="datetime4">
              <a:rPr lang="en-US" smtClean="0"/>
              <a:t>April 10, 2026</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592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4592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2688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2688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A81B212C-96E6-4A1C-BD8B-5A9E1F64C4D6}" type="datetime4">
              <a:rPr lang="en-US" smtClean="0"/>
              <a:t>April 10, 2026</a:t>
            </a:fld>
            <a:endParaRPr lang="en-US"/>
          </a:p>
        </p:txBody>
      </p:sp>
      <p:sp>
        <p:nvSpPr>
          <p:cNvPr id="11" name="Footer Placeholder 10"/>
          <p:cNvSpPr>
            <a:spLocks noGrp="1"/>
          </p:cNvSpPr>
          <p:nvPr>
            <p:ph type="ftr" sz="quarter" idx="11"/>
          </p:nvPr>
        </p:nvSpPr>
        <p:spPr/>
        <p:txBody>
          <a:bodyPr/>
          <a:lstStyle/>
          <a:p>
            <a:r>
              <a:rPr lang="en-IN"/>
              <a:t>DEPARTMENT OF COMPUTER SCIENCE &amp; ENGINEERING   / PROJECT TITLE</a:t>
            </a:r>
          </a:p>
        </p:txBody>
      </p:sp>
      <p:sp>
        <p:nvSpPr>
          <p:cNvPr id="12" name="Slide Number Placeholder 1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E3FEEA-94A0-4780-8034-6B4F50182C72}" type="datetime4">
              <a:rPr lang="en-US" smtClean="0"/>
              <a:t>April 10, 2026</a:t>
            </a:fld>
            <a:endParaRPr lang="en-US"/>
          </a:p>
        </p:txBody>
      </p:sp>
      <p:sp>
        <p:nvSpPr>
          <p:cNvPr id="4" name="Footer Placeholder 3"/>
          <p:cNvSpPr>
            <a:spLocks noGrp="1"/>
          </p:cNvSpPr>
          <p:nvPr>
            <p:ph type="ftr" sz="quarter" idx="11"/>
          </p:nvPr>
        </p:nvSpPr>
        <p:spPr/>
        <p:txBody>
          <a:bodyPr/>
          <a:lstStyle/>
          <a:p>
            <a:r>
              <a:rPr lang="en-IN"/>
              <a:t>DEPARTMENT OF COMPUTER SCIENCE &amp; ENGINEERING   / PROJECT TITLE</a:t>
            </a: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a:t>DEPARTMENT OF COMPUTER SCIENCE &amp; ENGINEERING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76187"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060107" y="0"/>
            <a:ext cx="96012"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891538"/>
            <a:ext cx="4800600" cy="3429000"/>
          </a:xfrm>
        </p:spPr>
        <p:txBody>
          <a:bodyPr anchor="b">
            <a:normAutofit/>
          </a:bodyPr>
          <a:lstStyle>
            <a:lvl1pPr>
              <a:defRPr sz="5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200900" y="1097280"/>
            <a:ext cx="9738360" cy="7886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4389120"/>
            <a:ext cx="4800600" cy="5068686"/>
          </a:xfrm>
        </p:spPr>
        <p:txBody>
          <a:bodyPr lIns="91440" rIns="91440">
            <a:normAutofit/>
          </a:bodyPr>
          <a:lstStyle>
            <a:lvl1pPr marL="0" indent="0">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a:xfrm>
            <a:off x="698268" y="9689678"/>
            <a:ext cx="3927765" cy="547688"/>
          </a:xfrm>
        </p:spPr>
        <p:txBody>
          <a:bodyPr/>
          <a:lstStyle>
            <a:lvl1pPr algn="l">
              <a:defRPr/>
            </a:lvl1pPr>
          </a:lstStyle>
          <a:p>
            <a:fld id="{5A61ED53-1557-48CE-8123-0F97BD6F5650}" type="datetime4">
              <a:rPr lang="en-US" smtClean="0"/>
              <a:t>April 10, 2026</a:t>
            </a:fld>
            <a:endParaRPr lang="en-US"/>
          </a:p>
        </p:txBody>
      </p:sp>
      <p:sp>
        <p:nvSpPr>
          <p:cNvPr id="6" name="Footer Placeholder 5"/>
          <p:cNvSpPr>
            <a:spLocks noGrp="1"/>
          </p:cNvSpPr>
          <p:nvPr>
            <p:ph type="ftr" sz="quarter" idx="11"/>
          </p:nvPr>
        </p:nvSpPr>
        <p:spPr>
          <a:xfrm>
            <a:off x="7200900" y="9689678"/>
            <a:ext cx="6972300" cy="547688"/>
          </a:xfrm>
        </p:spPr>
        <p:txBody>
          <a:bodyPr/>
          <a:lstStyle>
            <a:lvl1pPr algn="l">
              <a:defRPr>
                <a:solidFill>
                  <a:schemeClr val="tx2"/>
                </a:solidFill>
              </a:defRPr>
            </a:lvl1p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429500"/>
            <a:ext cx="18283238" cy="285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3" y="737261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7612380"/>
            <a:ext cx="15169896" cy="1234440"/>
          </a:xfrm>
        </p:spPr>
        <p:txBody>
          <a:bodyPr lIns="91440" tIns="0" rIns="91440" bIns="0" anchor="b">
            <a:noAutofit/>
          </a:bodyPr>
          <a:lstStyle>
            <a:lvl1pPr>
              <a:defRPr sz="54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287978" cy="7372614"/>
          </a:xfrm>
          <a:blipFill>
            <a:blip r:embed="rId2"/>
            <a:stretch>
              <a:fillRect/>
            </a:stretch>
          </a:blipFill>
        </p:spPr>
        <p:txBody>
          <a:bodyPr lIns="457200" tIns="457200"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45920" y="8860535"/>
            <a:ext cx="15169896" cy="891540"/>
          </a:xfrm>
        </p:spPr>
        <p:txBody>
          <a:bodyPr lIns="91440" tIns="0" rIns="91440" bIns="0">
            <a:normAutofit/>
          </a:bodyPr>
          <a:lstStyle>
            <a:lvl1pPr marL="0" indent="0">
              <a:spcBef>
                <a:spcPts val="0"/>
              </a:spcBef>
              <a:spcAft>
                <a:spcPts val="900"/>
              </a:spcAft>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66FC48DB-39AD-497D-8330-7463C2179DE1}" type="datetime4">
              <a:rPr lang="en-US" smtClean="0"/>
              <a:t>April 10, 2026</a:t>
            </a:fld>
            <a:endParaRPr lang="en-US"/>
          </a:p>
        </p:txBody>
      </p:sp>
      <p:sp>
        <p:nvSpPr>
          <p:cNvPr id="6" name="Footer Placeholder 5"/>
          <p:cNvSpPr>
            <a:spLocks noGrp="1"/>
          </p:cNvSpPr>
          <p:nvPr>
            <p:ph type="ftr" sz="quarter" idx="11"/>
          </p:nvPr>
        </p:nvSpPr>
        <p:spPr/>
        <p:txBody>
          <a:bodyPr/>
          <a:lstStyle/>
          <a:p>
            <a:r>
              <a:rPr lang="en-IN"/>
              <a:t>DEPARTMENT OF COMPUTER SCIENCE &amp; ENGINEERING   / PROJECT TITLE</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13E0C0-228A-4082-81D2-A22D1B3A4D51}" type="datetime4">
              <a:rPr lang="en-US" smtClean="0"/>
              <a:t>April 10,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3087350" y="622168"/>
            <a:ext cx="3943350" cy="86361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622167"/>
            <a:ext cx="11601450" cy="8636133"/>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138729-B38B-4E7B-A4F9-C7D61D129B30}" type="datetime4">
              <a:rPr lang="en-US" smtClean="0"/>
              <a:t>April 10, 2026</a:t>
            </a:fld>
            <a:endParaRPr lang="en-US"/>
          </a:p>
        </p:txBody>
      </p:sp>
      <p:sp>
        <p:nvSpPr>
          <p:cNvPr id="5" name="Footer Placeholder 4"/>
          <p:cNvSpPr>
            <a:spLocks noGrp="1"/>
          </p:cNvSpPr>
          <p:nvPr>
            <p:ph type="ftr" sz="quarter" idx="11"/>
          </p:nvPr>
        </p:nvSpPr>
        <p:spPr/>
        <p:txBody>
          <a:bodyPr/>
          <a:lstStyle/>
          <a:p>
            <a:r>
              <a:rPr lang="en-IN"/>
              <a:t>DEPARTMENT OF COMPUTER SCIENCE &amp; ENGINEERING   / PROJECT TITLE</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9601200"/>
            <a:ext cx="18288000"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9501474"/>
            <a:ext cx="18288002" cy="98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645920" y="429905"/>
            <a:ext cx="15087600" cy="21761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45920" y="2768601"/>
            <a:ext cx="15087600" cy="603504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45921" y="9689678"/>
            <a:ext cx="3708407" cy="547688"/>
          </a:xfrm>
          <a:prstGeom prst="rect">
            <a:avLst/>
          </a:prstGeom>
        </p:spPr>
        <p:txBody>
          <a:bodyPr vert="horz" lIns="91440" tIns="45720" rIns="91440" bIns="45720" rtlCol="0" anchor="ctr"/>
          <a:lstStyle>
            <a:lvl1pPr algn="l">
              <a:defRPr sz="1350">
                <a:solidFill>
                  <a:srgbClr val="FFFFFF"/>
                </a:solidFill>
              </a:defRPr>
            </a:lvl1pPr>
          </a:lstStyle>
          <a:p>
            <a:fld id="{04A8CDA6-3F51-4CAD-8EC3-2E80C1A81474}" type="datetime4">
              <a:rPr lang="en-US" smtClean="0"/>
              <a:t>April 10, 2026</a:t>
            </a:fld>
            <a:endParaRPr lang="en-US"/>
          </a:p>
        </p:txBody>
      </p:sp>
      <p:sp>
        <p:nvSpPr>
          <p:cNvPr id="5" name="Footer Placeholder 4"/>
          <p:cNvSpPr>
            <a:spLocks noGrp="1"/>
          </p:cNvSpPr>
          <p:nvPr>
            <p:ph type="ftr" sz="quarter" idx="3"/>
          </p:nvPr>
        </p:nvSpPr>
        <p:spPr>
          <a:xfrm>
            <a:off x="5529278" y="9689678"/>
            <a:ext cx="7234206" cy="547688"/>
          </a:xfrm>
          <a:prstGeom prst="rect">
            <a:avLst/>
          </a:prstGeom>
        </p:spPr>
        <p:txBody>
          <a:bodyPr vert="horz" lIns="91440" tIns="45720" rIns="91440" bIns="45720" rtlCol="0" anchor="ctr"/>
          <a:lstStyle>
            <a:lvl1pPr algn="ctr">
              <a:defRPr sz="1350" cap="all" baseline="0">
                <a:solidFill>
                  <a:srgbClr val="FFFFFF"/>
                </a:solidFill>
              </a:defRPr>
            </a:lvl1pPr>
          </a:lstStyle>
          <a:p>
            <a:r>
              <a:rPr lang="en-IN"/>
              <a:t>DEPARTMENT OF COMPUTER SCIENCE &amp; ENGINEERING   / PROJECT TITLE</a:t>
            </a:r>
          </a:p>
        </p:txBody>
      </p:sp>
      <p:sp>
        <p:nvSpPr>
          <p:cNvPr id="6" name="Slide Number Placeholder 5"/>
          <p:cNvSpPr>
            <a:spLocks noGrp="1"/>
          </p:cNvSpPr>
          <p:nvPr>
            <p:ph type="sldNum" sz="quarter" idx="4"/>
          </p:nvPr>
        </p:nvSpPr>
        <p:spPr>
          <a:xfrm>
            <a:off x="14850688" y="9689678"/>
            <a:ext cx="1968038" cy="547688"/>
          </a:xfrm>
          <a:prstGeom prst="rect">
            <a:avLst/>
          </a:prstGeom>
        </p:spPr>
        <p:txBody>
          <a:bodyPr vert="horz" lIns="91440" tIns="45720" rIns="91440" bIns="45720" rtlCol="0" anchor="ctr"/>
          <a:lstStyle>
            <a:lvl1pPr algn="r">
              <a:defRPr sz="1575">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p:cNvCxnSpPr/>
          <p:nvPr/>
        </p:nvCxnSpPr>
        <p:spPr>
          <a:xfrm>
            <a:off x="1790298" y="2606768"/>
            <a:ext cx="149504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1371600" rtl="0" eaLnBrk="1" latinLnBrk="0" hangingPunct="1">
        <a:lnSpc>
          <a:spcPct val="85000"/>
        </a:lnSpc>
        <a:spcBef>
          <a:spcPct val="0"/>
        </a:spcBef>
        <a:buNone/>
        <a:defRPr sz="7200" kern="1200" spc="-75" baseline="0">
          <a:solidFill>
            <a:schemeClr val="tx1">
              <a:lumMod val="75000"/>
              <a:lumOff val="2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594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700" kern="1200">
          <a:solidFill>
            <a:schemeClr val="tx1">
              <a:lumMod val="75000"/>
              <a:lumOff val="25000"/>
            </a:schemeClr>
          </a:solidFill>
          <a:latin typeface="+mn-lt"/>
          <a:ea typeface="+mn-ea"/>
          <a:cs typeface="+mn-cs"/>
        </a:defRPr>
      </a:lvl2pPr>
      <a:lvl3pPr marL="85026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3pPr>
      <a:lvl4pPr marL="112458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4pPr>
      <a:lvl5pPr marL="139890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5pPr>
      <a:lvl6pPr marL="1649730"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6pPr>
      <a:lvl7pPr marL="1950085"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7pPr>
      <a:lvl8pPr marL="2249805"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8pPr>
      <a:lvl9pPr marL="2550160"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436418" y="1562160"/>
            <a:ext cx="17415164" cy="4657365"/>
          </a:xfrm>
          <a:prstGeom prst="rect">
            <a:avLst/>
          </a:prstGeom>
        </p:spPr>
        <p:txBody>
          <a:bodyPr wrap="square">
            <a:spAutoFit/>
          </a:bodyPr>
          <a:lstStyle/>
          <a:p>
            <a:pPr marL="12065" marR="5080" algn="ctr">
              <a:lnSpc>
                <a:spcPct val="150000"/>
              </a:lnSpc>
              <a:spcBef>
                <a:spcPts val="70"/>
              </a:spcBef>
            </a:pPr>
            <a:endParaRPr lang="en-IN" sz="2400" b="1" spc="-25" dirty="0">
              <a:latin typeface="Times New Roman" panose="02020603050405020304" pitchFamily="18" charset="0"/>
              <a:cs typeface="Times New Roman" panose="02020603050405020304" pitchFamily="18" charset="0"/>
            </a:endParaRPr>
          </a:p>
          <a:p>
            <a:pPr marL="12065" marR="5080" algn="ctr">
              <a:lnSpc>
                <a:spcPct val="150000"/>
              </a:lnSpc>
              <a:spcBef>
                <a:spcPts val="70"/>
              </a:spcBef>
            </a:pPr>
            <a:r>
              <a:rPr lang="en-IN" sz="2400" b="1" spc="-25" dirty="0">
                <a:latin typeface="Times New Roman" panose="02020603050405020304" pitchFamily="18" charset="0"/>
                <a:cs typeface="Times New Roman" panose="02020603050405020304" pitchFamily="18" charset="0"/>
              </a:rPr>
              <a:t>DEPARTMENT </a:t>
            </a:r>
            <a:r>
              <a:rPr lang="en-IN" sz="2400" b="1" spc="-5" dirty="0">
                <a:latin typeface="Times New Roman" panose="02020603050405020304" pitchFamily="18" charset="0"/>
                <a:cs typeface="Times New Roman" panose="02020603050405020304" pitchFamily="18" charset="0"/>
              </a:rPr>
              <a:t>OF ARTIFICIAL INTELLIGENCE AND MACHINE LEARNING </a:t>
            </a:r>
          </a:p>
          <a:p>
            <a:pPr marL="12065" marR="5080" algn="ctr">
              <a:lnSpc>
                <a:spcPct val="150000"/>
              </a:lnSpc>
              <a:spcBef>
                <a:spcPts val="70"/>
              </a:spcBef>
            </a:pPr>
            <a:r>
              <a:rPr lang="en-IN" sz="2400" b="1" spc="-5" dirty="0">
                <a:latin typeface="Times New Roman" panose="02020603050405020304" pitchFamily="18" charset="0"/>
                <a:cs typeface="Times New Roman" panose="02020603050405020304" pitchFamily="18" charset="0"/>
              </a:rPr>
              <a:t>SCHOOL OF COMPUTING  </a:t>
            </a:r>
          </a:p>
          <a:p>
            <a:pPr marL="12065" marR="5080" algn="ctr">
              <a:lnSpc>
                <a:spcPct val="150000"/>
              </a:lnSpc>
              <a:spcBef>
                <a:spcPts val="70"/>
              </a:spcBef>
            </a:pPr>
            <a:r>
              <a:rPr lang="en-IN" sz="2400" b="1" dirty="0">
                <a:latin typeface="Times New Roman" panose="02020603050405020304" pitchFamily="18" charset="0"/>
                <a:cs typeface="Times New Roman" panose="02020603050405020304" pitchFamily="18" charset="0"/>
              </a:rPr>
              <a:t>10214AM602 </a:t>
            </a:r>
            <a:r>
              <a:rPr lang="en-IN" sz="2400" b="1" spc="-5" dirty="0">
                <a:latin typeface="Times New Roman" panose="02020603050405020304" pitchFamily="18" charset="0"/>
                <a:cs typeface="Times New Roman" panose="02020603050405020304" pitchFamily="18" charset="0"/>
              </a:rPr>
              <a:t>MINOR PROJECT –II</a:t>
            </a:r>
          </a:p>
          <a:p>
            <a:pPr marL="12065" marR="5080" algn="ctr">
              <a:lnSpc>
                <a:spcPct val="150000"/>
              </a:lnSpc>
              <a:spcBef>
                <a:spcPts val="70"/>
              </a:spcBef>
            </a:pPr>
            <a:r>
              <a:rPr lang="en-IN" sz="2400" b="1" spc="-5" dirty="0">
                <a:latin typeface="Times New Roman" panose="02020603050405020304" pitchFamily="18" charset="0"/>
                <a:cs typeface="Times New Roman" panose="02020603050405020304" pitchFamily="18" charset="0"/>
              </a:rPr>
              <a:t>WINTER SEMESTER(2025-2026)  </a:t>
            </a:r>
          </a:p>
          <a:p>
            <a:pPr marL="12065" marR="5080" algn="ctr">
              <a:lnSpc>
                <a:spcPct val="102000"/>
              </a:lnSpc>
              <a:spcBef>
                <a:spcPts val="70"/>
              </a:spcBef>
            </a:pPr>
            <a:r>
              <a:rPr lang="en-IN" sz="2400" b="1" spc="-5" dirty="0">
                <a:latin typeface="Times New Roman" panose="02020603050405020304" pitchFamily="18" charset="0"/>
                <a:cs typeface="Times New Roman" panose="02020603050405020304" pitchFamily="18" charset="0"/>
              </a:rPr>
              <a:t>REVIEW-II</a:t>
            </a:r>
            <a:endParaRPr lang="en-IN" sz="2400" b="1" dirty="0">
              <a:latin typeface="Times New Roman" panose="02020603050405020304" pitchFamily="18" charset="0"/>
              <a:cs typeface="Times New Roman" panose="02020603050405020304" pitchFamily="18" charset="0"/>
            </a:endParaRPr>
          </a:p>
          <a:p>
            <a:pPr marL="758190"/>
            <a:r>
              <a:rPr lang="en-IN" sz="2000" b="1" dirty="0">
                <a:latin typeface="Times New Roman" panose="02020603050405020304" pitchFamily="18" charset="0"/>
                <a:cs typeface="Times New Roman" panose="02020603050405020304" pitchFamily="18" charset="0"/>
              </a:rPr>
              <a:t>                                                                                                                                      </a:t>
            </a:r>
          </a:p>
          <a:p>
            <a:pPr marL="758190"/>
            <a:endParaRPr lang="en-IN" sz="2000" b="1" dirty="0">
              <a:latin typeface="Times New Roman" panose="02020603050405020304" pitchFamily="18" charset="0"/>
              <a:cs typeface="Times New Roman" panose="02020603050405020304" pitchFamily="18" charset="0"/>
            </a:endParaRPr>
          </a:p>
          <a:p>
            <a:pPr marL="758190"/>
            <a:r>
              <a:rPr lang="en-IN" sz="2000" b="1" dirty="0">
                <a:latin typeface="Times New Roman" panose="02020603050405020304" pitchFamily="18" charset="0"/>
                <a:cs typeface="Times New Roman" panose="02020603050405020304" pitchFamily="18" charset="0"/>
              </a:rPr>
              <a:t>                                                                                                                                                         </a:t>
            </a:r>
          </a:p>
          <a:p>
            <a:pPr marL="758190"/>
            <a:r>
              <a:rPr lang="en-IN" sz="20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AI-BASED STUDENT PERFORMANCE PREDICTION ANDCAREER READINESS SYSTEM</a:t>
            </a:r>
            <a:r>
              <a:rPr lang="en-IN" sz="2800" b="1" spc="-5"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9" name="Slide Number Placeholder 3"/>
          <p:cNvSpPr txBox="1"/>
          <p:nvPr/>
        </p:nvSpPr>
        <p:spPr>
          <a:xfrm>
            <a:off x="15740698" y="275977"/>
            <a:ext cx="21336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20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31" name="Rectangle 30"/>
          <p:cNvSpPr/>
          <p:nvPr/>
        </p:nvSpPr>
        <p:spPr>
          <a:xfrm>
            <a:off x="311727" y="7704404"/>
            <a:ext cx="9144000" cy="707886"/>
          </a:xfrm>
          <a:prstGeom prst="rect">
            <a:avLst/>
          </a:prstGeom>
        </p:spPr>
        <p:txBody>
          <a:bodyPr>
            <a:spAutoFit/>
          </a:bodyPr>
          <a:lstStyle/>
          <a:p>
            <a:pPr marL="457200" indent="-457200">
              <a:buAutoNum type="arabicPeriod"/>
            </a:pPr>
            <a:r>
              <a:rPr lang="sv-SE" sz="2000" dirty="0">
                <a:latin typeface="Times New Roman" panose="02020603050405020304" pitchFamily="18" charset="0"/>
                <a:cs typeface="Times New Roman" panose="02020603050405020304" pitchFamily="18" charset="0"/>
              </a:rPr>
              <a:t>SRI DEEKSHITHA GUMMALLA (23UEAM2008) (VTU28350)</a:t>
            </a:r>
          </a:p>
          <a:p>
            <a:pPr marL="457200" indent="-457200">
              <a:buAutoNum type="arabicPeriod"/>
            </a:pPr>
            <a:r>
              <a:rPr lang="fi-FI" sz="2000" dirty="0">
                <a:latin typeface="Times New Roman" panose="02020603050405020304" pitchFamily="18" charset="0"/>
                <a:cs typeface="Times New Roman" panose="02020603050405020304" pitchFamily="18" charset="0"/>
              </a:rPr>
              <a:t>ESWAR VENKAT KASTURI (23UEAM2003) (VTU28351)</a:t>
            </a:r>
          </a:p>
        </p:txBody>
      </p:sp>
      <p:sp>
        <p:nvSpPr>
          <p:cNvPr id="32" name="TextBox 31"/>
          <p:cNvSpPr txBox="1"/>
          <p:nvPr/>
        </p:nvSpPr>
        <p:spPr>
          <a:xfrm>
            <a:off x="351841" y="7003473"/>
            <a:ext cx="434485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PRESENTED BY</a:t>
            </a:r>
          </a:p>
        </p:txBody>
      </p:sp>
      <p:sp>
        <p:nvSpPr>
          <p:cNvPr id="33" name="TextBox 32"/>
          <p:cNvSpPr txBox="1"/>
          <p:nvPr/>
        </p:nvSpPr>
        <p:spPr>
          <a:xfrm>
            <a:off x="12258371" y="6583970"/>
            <a:ext cx="3168503"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SUPERVISED BY</a:t>
            </a:r>
          </a:p>
        </p:txBody>
      </p:sp>
      <p:sp>
        <p:nvSpPr>
          <p:cNvPr id="34" name="TextBox 33"/>
          <p:cNvSpPr txBox="1"/>
          <p:nvPr/>
        </p:nvSpPr>
        <p:spPr>
          <a:xfrm>
            <a:off x="11884301" y="7184696"/>
            <a:ext cx="5884154" cy="707886"/>
          </a:xfrm>
          <a:prstGeom prst="rect">
            <a:avLst/>
          </a:prstGeom>
          <a:noFill/>
        </p:spPr>
        <p:txBody>
          <a:bodyPr wrap="square" rtlCol="0">
            <a:spAutoFit/>
          </a:bodyPr>
          <a:lstStyle/>
          <a:p>
            <a:r>
              <a:rPr lang="en-IN" sz="2000" dirty="0"/>
              <a:t>Dr. S.ALEX DAVID</a:t>
            </a:r>
          </a:p>
          <a:p>
            <a:r>
              <a:rPr lang="en-IN" sz="2000" dirty="0"/>
              <a:t>Professor Head</a:t>
            </a:r>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4" name="Footer Placeholder 3"/>
          <p:cNvSpPr>
            <a:spLocks noGrp="1"/>
          </p:cNvSpPr>
          <p:nvPr>
            <p:ph type="ftr" sz="quarter" idx="11"/>
          </p:nvPr>
        </p:nvSpPr>
        <p:spPr/>
        <p:txBody>
          <a:bodyPr/>
          <a:lstStyle/>
          <a:p>
            <a:r>
              <a:rPr lang="en-IN" dirty="0"/>
              <a:t>DEPARTMENT OF artificial intelligence and machine learning   / PROJECT TITLE</a:t>
            </a:r>
          </a:p>
        </p:txBody>
      </p:sp>
      <p:sp>
        <p:nvSpPr>
          <p:cNvPr id="5" name="Date Placeholder 4"/>
          <p:cNvSpPr>
            <a:spLocks noGrp="1"/>
          </p:cNvSpPr>
          <p:nvPr>
            <p:ph type="dt" sz="half" idx="10"/>
          </p:nvPr>
        </p:nvSpPr>
        <p:spPr/>
        <p:txBody>
          <a:bodyPr/>
          <a:lstStyle/>
          <a:p>
            <a:fld id="{E4D1627A-24AB-481F-9D74-76C2593C9111}" type="datetime4">
              <a:rPr lang="en-US" smtClean="0"/>
              <a:t>April 10, 2026</a:t>
            </a:fld>
            <a:endParaRPr lang="en-US"/>
          </a:p>
        </p:txBody>
      </p:sp>
      <p:pic>
        <p:nvPicPr>
          <p:cNvPr id="13" name="Picture 2" descr="C:\Users\Sharad\Desktop\Logo-Final-A veltech.png"/>
          <p:cNvPicPr>
            <a:picLocks noChangeAspect="1" noChangeArrowheads="1"/>
          </p:cNvPicPr>
          <p:nvPr/>
        </p:nvPicPr>
        <p:blipFill>
          <a:blip r:embed="rId3"/>
          <a:srcRect/>
          <a:stretch>
            <a:fillRect/>
          </a:stretch>
        </p:blipFill>
        <p:spPr bwMode="auto">
          <a:xfrm>
            <a:off x="15597269" y="293828"/>
            <a:ext cx="1160907" cy="1223246"/>
          </a:xfrm>
          <a:prstGeom prst="rect">
            <a:avLst/>
          </a:prstGeom>
          <a:noFill/>
        </p:spPr>
      </p:pic>
      <p:pic>
        <p:nvPicPr>
          <p:cNvPr id="6" name="Picture 5">
            <a:extLst>
              <a:ext uri="{FF2B5EF4-FFF2-40B4-BE49-F238E27FC236}">
                <a16:creationId xmlns:a16="http://schemas.microsoft.com/office/drawing/2014/main" id="{FB4CBD81-441F-7C68-DDAA-D7B4135D2AD1}"/>
              </a:ext>
            </a:extLst>
          </p:cNvPr>
          <p:cNvPicPr>
            <a:picLocks noChangeAspect="1"/>
          </p:cNvPicPr>
          <p:nvPr/>
        </p:nvPicPr>
        <p:blipFill>
          <a:blip r:embed="rId4"/>
          <a:stretch>
            <a:fillRect/>
          </a:stretch>
        </p:blipFill>
        <p:spPr>
          <a:xfrm>
            <a:off x="6622502" y="254183"/>
            <a:ext cx="5042995" cy="1929827"/>
          </a:xfrm>
          <a:prstGeom prst="rect">
            <a:avLst/>
          </a:prstGeom>
        </p:spPr>
      </p:pic>
      <p:sp>
        <p:nvSpPr>
          <p:cNvPr id="7" name="Oval 6">
            <a:extLst>
              <a:ext uri="{FF2B5EF4-FFF2-40B4-BE49-F238E27FC236}">
                <a16:creationId xmlns:a16="http://schemas.microsoft.com/office/drawing/2014/main" id="{16C34071-5C8F-1904-88A4-D9662C83D907}"/>
              </a:ext>
            </a:extLst>
          </p:cNvPr>
          <p:cNvSpPr/>
          <p:nvPr/>
        </p:nvSpPr>
        <p:spPr>
          <a:xfrm>
            <a:off x="15232566" y="189256"/>
            <a:ext cx="1873405" cy="1572637"/>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5" name="Rectangle 4"/>
          <p:cNvSpPr/>
          <p:nvPr/>
        </p:nvSpPr>
        <p:spPr>
          <a:xfrm>
            <a:off x="727362" y="359630"/>
            <a:ext cx="16521545" cy="8058937"/>
          </a:xfrm>
          <a:prstGeom prst="rect">
            <a:avLst/>
          </a:prstGeom>
        </p:spPr>
        <p:txBody>
          <a:bodyPr wrap="square">
            <a:spAutoFit/>
          </a:bodyPr>
          <a:lstStyle/>
          <a:p>
            <a:pPr>
              <a:lnSpc>
                <a:spcPct val="150000"/>
              </a:lnSpc>
            </a:pPr>
            <a:r>
              <a:rPr lang="en-IN" sz="3600" b="1" dirty="0">
                <a:latin typeface="Times New Roman" panose="02020603050405020304" pitchFamily="18" charset="0"/>
                <a:cs typeface="Times New Roman" panose="02020603050405020304" pitchFamily="18" charset="0"/>
              </a:rPr>
              <a:t>OVERVIEW </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ABSTRACT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OBJECTIVE</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INTRODUCTION</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LITERATURE REVIEW (SOFT COPY OF PAPERS TO BE LINKED AS HYPERLINK)</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DESIGN AND METHODOLOGIES</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IMPLEMENTATION</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TESTING</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RESULT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PROJECT EXECUTION  DEMO VIDEO(Complete Implementation of Project)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CONCLUSION</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WEB REFERENCES LINK (TILL REVIEW DATE ALL LINKS TO BE INCLUDED DAY WISE)</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PLAGIARISM REPORT OF PPT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5" name="Rectangle 4"/>
          <p:cNvSpPr/>
          <p:nvPr/>
        </p:nvSpPr>
        <p:spPr>
          <a:xfrm>
            <a:off x="885559" y="389205"/>
            <a:ext cx="15469732" cy="2969531"/>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ABSTRACT</a:t>
            </a:r>
          </a:p>
          <a:p>
            <a:pPr lvl="1">
              <a:lnSpc>
                <a:spcPct val="150000"/>
              </a:lnSpc>
            </a:pPr>
            <a:endParaRPr lang="en-IN" sz="3200" b="1" dirty="0">
              <a:latin typeface="Times New Roman" panose="02020603050405020304" pitchFamily="18" charset="0"/>
              <a:cs typeface="Times New Roman" panose="02020603050405020304" pitchFamily="18" charset="0"/>
            </a:endParaRPr>
          </a:p>
          <a:p>
            <a:pPr lvl="1">
              <a:lnSpc>
                <a:spcPct val="150000"/>
              </a:lnSpc>
            </a:pPr>
            <a:endParaRPr lang="en-IN" sz="3200" b="1" dirty="0">
              <a:latin typeface="Times New Roman" panose="02020603050405020304" pitchFamily="18" charset="0"/>
              <a:cs typeface="Times New Roman" panose="02020603050405020304" pitchFamily="18" charset="0"/>
            </a:endParaRPr>
          </a:p>
          <a:p>
            <a:pPr lvl="1">
              <a:lnSpc>
                <a:spcPct val="150000"/>
              </a:lnSpc>
            </a:pPr>
            <a:endParaRPr lang="en-IN" sz="28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2684E170-5F92-5EF7-F938-37A030E84E8B}"/>
              </a:ext>
            </a:extLst>
          </p:cNvPr>
          <p:cNvSpPr>
            <a:spLocks noChangeArrowheads="1"/>
          </p:cNvSpPr>
          <p:nvPr/>
        </p:nvSpPr>
        <p:spPr bwMode="auto">
          <a:xfrm>
            <a:off x="1378857" y="1873970"/>
            <a:ext cx="1153392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Improves students’ placement chances using AI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Analyzes academic performance, skills, and domain interests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Predicts placement readiness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Includes AI-driven assessment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Generates domain-specific tests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Identifies strengths and weaknesses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Provides personalized feedback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Recommends relevant learning resources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Creates a day-wise improvement roadmap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Uses test performance and input data for analysis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5" name="Rectangle 4"/>
          <p:cNvSpPr/>
          <p:nvPr/>
        </p:nvSpPr>
        <p:spPr>
          <a:xfrm>
            <a:off x="806898" y="451550"/>
            <a:ext cx="16940775" cy="823752"/>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OBJECTIVES</a:t>
            </a:r>
            <a:r>
              <a:rPr lang="en-IN" sz="2400" b="1" dirty="0">
                <a:latin typeface="Times New Roman" panose="02020603050405020304" pitchFamily="18" charset="0"/>
                <a:cs typeface="Times New Roman" panose="02020603050405020304" pitchFamily="18" charset="0"/>
              </a:rPr>
              <a:t>(</a:t>
            </a:r>
            <a:endParaRPr lang="en-IN" sz="36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8D6A0AB-9E2B-81B8-6CFB-D07BCDC04850}"/>
              </a:ext>
            </a:extLst>
          </p:cNvPr>
          <p:cNvSpPr txBox="1"/>
          <p:nvPr/>
        </p:nvSpPr>
        <p:spPr>
          <a:xfrm>
            <a:off x="1181084" y="1466006"/>
            <a:ext cx="11582400" cy="2677656"/>
          </a:xfrm>
          <a:prstGeom prst="rect">
            <a:avLst/>
          </a:prstGeom>
          <a:noFill/>
        </p:spPr>
        <p:txBody>
          <a:bodyPr wrap="square">
            <a:spAutoFit/>
          </a:bodyPr>
          <a:lstStyle/>
          <a:p>
            <a:pPr>
              <a:buNone/>
            </a:pPr>
            <a:r>
              <a:rPr lang="en-US" sz="2800" b="1" dirty="0"/>
              <a:t>Aim of the Project</a:t>
            </a:r>
          </a:p>
          <a:p>
            <a:pPr>
              <a:buFont typeface="Arial" panose="020B0604020202020204" pitchFamily="34" charset="0"/>
              <a:buChar char="•"/>
            </a:pPr>
            <a:r>
              <a:rPr lang="en-US" sz="2800" dirty="0"/>
              <a:t>To develop an AI-based system for predicting student placement readiness </a:t>
            </a:r>
          </a:p>
          <a:p>
            <a:pPr>
              <a:buFont typeface="Arial" panose="020B0604020202020204" pitchFamily="34" charset="0"/>
              <a:buChar char="•"/>
            </a:pPr>
            <a:r>
              <a:rPr lang="en-US" sz="2800" dirty="0"/>
              <a:t>To analyze academic performance, skills, and domain interests </a:t>
            </a:r>
          </a:p>
          <a:p>
            <a:pPr>
              <a:buFont typeface="Arial" panose="020B0604020202020204" pitchFamily="34" charset="0"/>
              <a:buChar char="•"/>
            </a:pPr>
            <a:r>
              <a:rPr lang="en-US" sz="2800" dirty="0"/>
              <a:t>To assess students using AI-generated domain-specific tests </a:t>
            </a:r>
          </a:p>
          <a:p>
            <a:pPr>
              <a:buFont typeface="Arial" panose="020B0604020202020204" pitchFamily="34" charset="0"/>
              <a:buChar char="•"/>
            </a:pPr>
            <a:r>
              <a:rPr lang="en-US" sz="2800" dirty="0"/>
              <a:t>To identify strengths and weaknesses of students </a:t>
            </a:r>
          </a:p>
          <a:p>
            <a:pPr>
              <a:buFont typeface="Arial" panose="020B0604020202020204" pitchFamily="34" charset="0"/>
              <a:buChar char="•"/>
            </a:pPr>
            <a:r>
              <a:rPr lang="en-US" sz="2800" dirty="0"/>
              <a:t>To provide personalized feedback and improvement strategies</a:t>
            </a:r>
          </a:p>
        </p:txBody>
      </p:sp>
      <p:sp>
        <p:nvSpPr>
          <p:cNvPr id="10" name="TextBox 9">
            <a:extLst>
              <a:ext uri="{FF2B5EF4-FFF2-40B4-BE49-F238E27FC236}">
                <a16:creationId xmlns:a16="http://schemas.microsoft.com/office/drawing/2014/main" id="{1C2D20A0-E5DD-3DAD-6479-D0E10D0A2C0B}"/>
              </a:ext>
            </a:extLst>
          </p:cNvPr>
          <p:cNvSpPr txBox="1"/>
          <p:nvPr/>
        </p:nvSpPr>
        <p:spPr>
          <a:xfrm>
            <a:off x="1181084" y="4804511"/>
            <a:ext cx="11016343" cy="2677656"/>
          </a:xfrm>
          <a:prstGeom prst="rect">
            <a:avLst/>
          </a:prstGeom>
          <a:noFill/>
        </p:spPr>
        <p:txBody>
          <a:bodyPr wrap="square">
            <a:spAutoFit/>
          </a:bodyPr>
          <a:lstStyle/>
          <a:p>
            <a:pPr>
              <a:buNone/>
            </a:pPr>
            <a:r>
              <a:rPr lang="en-US" sz="2800" b="1" dirty="0"/>
              <a:t>Scope of the Project</a:t>
            </a:r>
          </a:p>
          <a:p>
            <a:pPr>
              <a:buFont typeface="Arial" panose="020B0604020202020204" pitchFamily="34" charset="0"/>
              <a:buChar char="•"/>
            </a:pPr>
            <a:r>
              <a:rPr lang="en-US" sz="2800" dirty="0"/>
              <a:t>Applicable for students preparing for campus placements </a:t>
            </a:r>
          </a:p>
          <a:p>
            <a:pPr>
              <a:buFont typeface="Arial" panose="020B0604020202020204" pitchFamily="34" charset="0"/>
              <a:buChar char="•"/>
            </a:pPr>
            <a:r>
              <a:rPr lang="en-US" sz="2800" dirty="0"/>
              <a:t>Can be used by colleges and training institutions </a:t>
            </a:r>
          </a:p>
          <a:p>
            <a:pPr>
              <a:buFont typeface="Arial" panose="020B0604020202020204" pitchFamily="34" charset="0"/>
              <a:buChar char="•"/>
            </a:pPr>
            <a:r>
              <a:rPr lang="en-US" sz="2800" dirty="0"/>
              <a:t>Supports multiple domains (IT, core, etc.) </a:t>
            </a:r>
          </a:p>
          <a:p>
            <a:pPr>
              <a:buFont typeface="Arial" panose="020B0604020202020204" pitchFamily="34" charset="0"/>
              <a:buChar char="•"/>
            </a:pPr>
            <a:r>
              <a:rPr lang="en-US" sz="2800" dirty="0"/>
              <a:t>Provides real-time performance analysis and prediction </a:t>
            </a:r>
          </a:p>
          <a:p>
            <a:pPr>
              <a:buFont typeface="Arial" panose="020B0604020202020204" pitchFamily="34" charset="0"/>
              <a:buChar char="•"/>
            </a:pPr>
            <a:r>
              <a:rPr lang="en-US" sz="2800" dirty="0"/>
              <a:t>Helps in continuous skill assessment and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8" name="Rectangle 7"/>
          <p:cNvSpPr/>
          <p:nvPr/>
        </p:nvSpPr>
        <p:spPr>
          <a:xfrm>
            <a:off x="5563955" y="698561"/>
            <a:ext cx="6635343"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TIMELINE OF THE PROJECT</a:t>
            </a:r>
            <a:endParaRPr lang="en-IN" sz="3600" dirty="0"/>
          </a:p>
        </p:txBody>
      </p:sp>
      <p:pic>
        <p:nvPicPr>
          <p:cNvPr id="5" name="table">
            <a:extLst>
              <a:ext uri="{FF2B5EF4-FFF2-40B4-BE49-F238E27FC236}">
                <a16:creationId xmlns:a16="http://schemas.microsoft.com/office/drawing/2014/main" id="{5E68E2F3-15E9-8B8A-3E56-3B1DAE35D933}"/>
              </a:ext>
            </a:extLst>
          </p:cNvPr>
          <p:cNvPicPr>
            <a:picLocks noChangeAspect="1"/>
          </p:cNvPicPr>
          <p:nvPr/>
        </p:nvPicPr>
        <p:blipFill>
          <a:blip r:embed="rId3"/>
          <a:stretch>
            <a:fillRect/>
          </a:stretch>
        </p:blipFill>
        <p:spPr>
          <a:xfrm>
            <a:off x="3333240" y="2552744"/>
            <a:ext cx="10643653" cy="51815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Rectangle 4"/>
          <p:cNvSpPr/>
          <p:nvPr/>
        </p:nvSpPr>
        <p:spPr>
          <a:xfrm>
            <a:off x="257755" y="347641"/>
            <a:ext cx="17739300" cy="823752"/>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INTRODUCTION</a:t>
            </a:r>
          </a:p>
        </p:txBody>
      </p:sp>
      <p:sp>
        <p:nvSpPr>
          <p:cNvPr id="7" name="Rectangle 1">
            <a:extLst>
              <a:ext uri="{FF2B5EF4-FFF2-40B4-BE49-F238E27FC236}">
                <a16:creationId xmlns:a16="http://schemas.microsoft.com/office/drawing/2014/main" id="{044738DA-D576-9B71-E598-49D5C76C2064}"/>
              </a:ext>
            </a:extLst>
          </p:cNvPr>
          <p:cNvSpPr>
            <a:spLocks noChangeArrowheads="1"/>
          </p:cNvSpPr>
          <p:nvPr/>
        </p:nvSpPr>
        <p:spPr bwMode="auto">
          <a:xfrm>
            <a:off x="731784" y="2440472"/>
            <a:ext cx="1755621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“What if an AI system could predict your placement success and guide you step-by-step to achieve it?”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project focuses on building an </a:t>
            </a:r>
            <a:r>
              <a:rPr kumimoji="0" lang="en-US" altLang="en-US" sz="2400" b="1" i="0" u="none" strike="noStrike" cap="none" normalizeH="0" baseline="0" dirty="0">
                <a:ln>
                  <a:noFill/>
                </a:ln>
                <a:solidFill>
                  <a:schemeClr val="tx1"/>
                </a:solidFill>
                <a:effectLst/>
                <a:latin typeface="Arial" panose="020B0604020202020204" pitchFamily="34" charset="0"/>
              </a:rPr>
              <a:t>AI-Powered Student Performance and Placement Readiness System</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Designed to bridge the gap between </a:t>
            </a:r>
            <a:r>
              <a:rPr kumimoji="0" lang="en-US" altLang="en-US" sz="2400" b="1" i="0" u="none" strike="noStrike" cap="none" normalizeH="0" baseline="0" dirty="0">
                <a:ln>
                  <a:noFill/>
                </a:ln>
                <a:solidFill>
                  <a:schemeClr val="tx1"/>
                </a:solidFill>
                <a:effectLst/>
                <a:latin typeface="Arial" panose="020B0604020202020204" pitchFamily="34" charset="0"/>
              </a:rPr>
              <a:t>academic learning and industry requirements</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Traditional systems only evaluate marks, but this system goes further by analyzing </a:t>
            </a:r>
            <a:r>
              <a:rPr kumimoji="0" lang="en-US" altLang="en-US" sz="2400" b="1" i="0" u="none" strike="noStrike" cap="none" normalizeH="0" baseline="0" dirty="0">
                <a:ln>
                  <a:noFill/>
                </a:ln>
                <a:solidFill>
                  <a:schemeClr val="tx1"/>
                </a:solidFill>
                <a:effectLst/>
                <a:latin typeface="Arial" panose="020B0604020202020204" pitchFamily="34" charset="0"/>
              </a:rPr>
              <a:t>skills, interests, and practical knowledge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Uses AI to generate </a:t>
            </a:r>
            <a:r>
              <a:rPr kumimoji="0" lang="en-US" altLang="en-US" sz="2400" b="1" i="0" u="none" strike="noStrike" cap="none" normalizeH="0" baseline="0" dirty="0">
                <a:ln>
                  <a:noFill/>
                </a:ln>
                <a:solidFill>
                  <a:schemeClr val="tx1"/>
                </a:solidFill>
                <a:effectLst/>
                <a:latin typeface="Arial" panose="020B0604020202020204" pitchFamily="34" charset="0"/>
              </a:rPr>
              <a:t>domain-specific tests</a:t>
            </a:r>
            <a:r>
              <a:rPr kumimoji="0" lang="en-US" altLang="en-US" sz="2400" b="0" i="0" u="none" strike="noStrike" cap="none" normalizeH="0" baseline="0" dirty="0">
                <a:ln>
                  <a:noFill/>
                </a:ln>
                <a:solidFill>
                  <a:schemeClr val="tx1"/>
                </a:solidFill>
                <a:effectLst/>
                <a:latin typeface="Arial" panose="020B0604020202020204" pitchFamily="34" charset="0"/>
              </a:rPr>
              <a:t> to assess real understanding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Provides </a:t>
            </a:r>
            <a:r>
              <a:rPr kumimoji="0" lang="en-US" altLang="en-US" sz="2400" b="1" i="0" u="none" strike="noStrike" cap="none" normalizeH="0" baseline="0" dirty="0">
                <a:ln>
                  <a:noFill/>
                </a:ln>
                <a:solidFill>
                  <a:schemeClr val="tx1"/>
                </a:solidFill>
                <a:effectLst/>
                <a:latin typeface="Arial" panose="020B0604020202020204" pitchFamily="34" charset="0"/>
              </a:rPr>
              <a:t>personalized feedback</a:t>
            </a:r>
            <a:r>
              <a:rPr kumimoji="0" lang="en-US" altLang="en-US" sz="2400" b="0" i="0" u="none" strike="noStrike" cap="none" normalizeH="0" baseline="0" dirty="0">
                <a:ln>
                  <a:noFill/>
                </a:ln>
                <a:solidFill>
                  <a:schemeClr val="tx1"/>
                </a:solidFill>
                <a:effectLst/>
                <a:latin typeface="Arial" panose="020B0604020202020204" pitchFamily="34" charset="0"/>
              </a:rPr>
              <a:t> instead of generic evaluation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5" name="Rectangle 4"/>
          <p:cNvSpPr/>
          <p:nvPr/>
        </p:nvSpPr>
        <p:spPr>
          <a:xfrm>
            <a:off x="553667" y="576241"/>
            <a:ext cx="16861497" cy="823752"/>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LITERATURE REVIEW</a:t>
            </a:r>
          </a:p>
        </p:txBody>
      </p:sp>
      <p:graphicFrame>
        <p:nvGraphicFramePr>
          <p:cNvPr id="9" name="Table 8"/>
          <p:cNvGraphicFramePr>
            <a:graphicFrameLocks noGrp="1"/>
          </p:cNvGraphicFramePr>
          <p:nvPr>
            <p:extLst>
              <p:ext uri="{D42A27DB-BD31-4B8C-83A1-F6EECF244321}">
                <p14:modId xmlns:p14="http://schemas.microsoft.com/office/powerpoint/2010/main" val="2411312402"/>
              </p:ext>
            </p:extLst>
          </p:nvPr>
        </p:nvGraphicFramePr>
        <p:xfrm>
          <a:off x="457199" y="1760349"/>
          <a:ext cx="16957965" cy="6445151"/>
        </p:xfrm>
        <a:graphic>
          <a:graphicData uri="http://schemas.openxmlformats.org/drawingml/2006/table">
            <a:tbl>
              <a:tblPr firstRow="1" bandRow="1">
                <a:tableStyleId>{5C22544A-7EE6-4342-B048-85BDC9FD1C3A}</a:tableStyleId>
              </a:tblPr>
              <a:tblGrid>
                <a:gridCol w="1143002">
                  <a:extLst>
                    <a:ext uri="{9D8B030D-6E8A-4147-A177-3AD203B41FA5}">
                      <a16:colId xmlns:a16="http://schemas.microsoft.com/office/drawing/2014/main" val="20000"/>
                    </a:ext>
                  </a:extLst>
                </a:gridCol>
                <a:gridCol w="5640184">
                  <a:extLst>
                    <a:ext uri="{9D8B030D-6E8A-4147-A177-3AD203B41FA5}">
                      <a16:colId xmlns:a16="http://schemas.microsoft.com/office/drawing/2014/main" val="20001"/>
                    </a:ext>
                  </a:extLst>
                </a:gridCol>
                <a:gridCol w="3391593">
                  <a:extLst>
                    <a:ext uri="{9D8B030D-6E8A-4147-A177-3AD203B41FA5}">
                      <a16:colId xmlns:a16="http://schemas.microsoft.com/office/drawing/2014/main" val="20002"/>
                    </a:ext>
                  </a:extLst>
                </a:gridCol>
                <a:gridCol w="3391593">
                  <a:extLst>
                    <a:ext uri="{9D8B030D-6E8A-4147-A177-3AD203B41FA5}">
                      <a16:colId xmlns:a16="http://schemas.microsoft.com/office/drawing/2014/main" val="20003"/>
                    </a:ext>
                  </a:extLst>
                </a:gridCol>
                <a:gridCol w="3391593">
                  <a:extLst>
                    <a:ext uri="{9D8B030D-6E8A-4147-A177-3AD203B41FA5}">
                      <a16:colId xmlns:a16="http://schemas.microsoft.com/office/drawing/2014/main" val="20004"/>
                    </a:ext>
                  </a:extLst>
                </a:gridCol>
              </a:tblGrid>
              <a:tr h="1735991">
                <a:tc>
                  <a:txBody>
                    <a:bodyPr/>
                    <a:lstStyle/>
                    <a:p>
                      <a:pPr algn="ctr"/>
                      <a:r>
                        <a:rPr lang="en-IN" sz="3200" dirty="0" err="1"/>
                        <a:t>Sl.No</a:t>
                      </a:r>
                      <a:endParaRPr lang="en-IN" sz="3200" dirty="0"/>
                    </a:p>
                  </a:txBody>
                  <a:tcPr/>
                </a:tc>
                <a:tc>
                  <a:txBody>
                    <a:bodyPr/>
                    <a:lstStyle/>
                    <a:p>
                      <a:pPr algn="ctr"/>
                      <a:r>
                        <a:rPr lang="en-IN" sz="3200" dirty="0"/>
                        <a:t>Author’s Name</a:t>
                      </a:r>
                    </a:p>
                  </a:txBody>
                  <a:tcPr/>
                </a:tc>
                <a:tc>
                  <a:txBody>
                    <a:bodyPr/>
                    <a:lstStyle/>
                    <a:p>
                      <a:pPr algn="ctr"/>
                      <a:r>
                        <a:rPr lang="en-IN" sz="3200" dirty="0"/>
                        <a:t>Paper name and</a:t>
                      </a:r>
                      <a:r>
                        <a:rPr lang="en-IN" sz="3200" baseline="0" dirty="0"/>
                        <a:t> publication details</a:t>
                      </a:r>
                      <a:endParaRPr lang="en-IN" sz="3200" dirty="0"/>
                    </a:p>
                  </a:txBody>
                  <a:tcPr/>
                </a:tc>
                <a:tc>
                  <a:txBody>
                    <a:bodyPr/>
                    <a:lstStyle/>
                    <a:p>
                      <a:pPr algn="ctr"/>
                      <a:r>
                        <a:rPr lang="en-IN" sz="3200" dirty="0"/>
                        <a:t>Year </a:t>
                      </a:r>
                      <a:r>
                        <a:rPr lang="en-IN" sz="3200" baseline="0" dirty="0"/>
                        <a:t> of publication</a:t>
                      </a:r>
                      <a:endParaRPr lang="en-IN" sz="3200" dirty="0"/>
                    </a:p>
                  </a:txBody>
                  <a:tcPr/>
                </a:tc>
                <a:tc>
                  <a:txBody>
                    <a:bodyPr/>
                    <a:lstStyle/>
                    <a:p>
                      <a:pPr algn="ctr"/>
                      <a:r>
                        <a:rPr lang="en-IN" sz="3200" dirty="0"/>
                        <a:t>Main content of the paper</a:t>
                      </a:r>
                    </a:p>
                  </a:txBody>
                  <a:tcPr/>
                </a:tc>
                <a:extLst>
                  <a:ext uri="{0D108BD9-81ED-4DB2-BD59-A6C34878D82A}">
                    <a16:rowId xmlns:a16="http://schemas.microsoft.com/office/drawing/2014/main" val="10000"/>
                  </a:ext>
                </a:extLst>
              </a:tr>
              <a:tr h="818396">
                <a:tc>
                  <a:txBody>
                    <a:bodyPr/>
                    <a:lstStyle/>
                    <a:p>
                      <a:r>
                        <a:rPr lang="en-IN" dirty="0"/>
                        <a:t>1</a:t>
                      </a:r>
                    </a:p>
                  </a:txBody>
                  <a:tcPr/>
                </a:tc>
                <a:tc>
                  <a:txBody>
                    <a:bodyPr/>
                    <a:lstStyle/>
                    <a:p>
                      <a:r>
                        <a:rPr lang="en-US" dirty="0"/>
                        <a:t>A. Kumar, R. Singh</a:t>
                      </a:r>
                      <a:endParaRPr lang="en-IN" dirty="0"/>
                    </a:p>
                  </a:txBody>
                  <a:tcPr/>
                </a:tc>
                <a:tc>
                  <a:txBody>
                    <a:bodyPr/>
                    <a:lstStyle/>
                    <a:p>
                      <a:r>
                        <a:rPr lang="en-US" i="1" dirty="0"/>
                        <a:t>Student Performance Prediction Using Machine Learning</a:t>
                      </a:r>
                      <a:r>
                        <a:rPr lang="en-US" dirty="0"/>
                        <a:t>, IEEE Conference on AI &amp; Data Science</a:t>
                      </a:r>
                      <a:endParaRPr lang="en-IN" dirty="0"/>
                    </a:p>
                  </a:txBody>
                  <a:tcPr/>
                </a:tc>
                <a:tc>
                  <a:txBody>
                    <a:bodyPr/>
                    <a:lstStyle/>
                    <a:p>
                      <a:r>
                        <a:rPr lang="en-US" dirty="0"/>
                        <a:t>2019</a:t>
                      </a:r>
                      <a:endParaRPr lang="en-IN" dirty="0"/>
                    </a:p>
                  </a:txBody>
                  <a:tcPr/>
                </a:tc>
                <a:tc>
                  <a:txBody>
                    <a:bodyPr/>
                    <a:lstStyle/>
                    <a:p>
                      <a:r>
                        <a:rPr lang="en-US" dirty="0"/>
                        <a:t>Uses ML algorithms to predict student academic performance based on past data</a:t>
                      </a:r>
                      <a:endParaRPr lang="en-IN" dirty="0"/>
                    </a:p>
                  </a:txBody>
                  <a:tcPr/>
                </a:tc>
                <a:extLst>
                  <a:ext uri="{0D108BD9-81ED-4DB2-BD59-A6C34878D82A}">
                    <a16:rowId xmlns:a16="http://schemas.microsoft.com/office/drawing/2014/main" val="10001"/>
                  </a:ext>
                </a:extLst>
              </a:tr>
              <a:tr h="818396">
                <a:tc>
                  <a:txBody>
                    <a:bodyPr/>
                    <a:lstStyle/>
                    <a:p>
                      <a:r>
                        <a:rPr lang="en-IN" dirty="0"/>
                        <a:t>2</a:t>
                      </a:r>
                    </a:p>
                  </a:txBody>
                  <a:tcPr/>
                </a:tc>
                <a:tc>
                  <a:txBody>
                    <a:bodyPr/>
                    <a:lstStyle/>
                    <a:p>
                      <a:pPr>
                        <a:buNone/>
                      </a:pPr>
                      <a:r>
                        <a:rPr lang="en-US" dirty="0"/>
                        <a:t>S. Patel, M. Shah</a:t>
                      </a:r>
                    </a:p>
                  </a:txBody>
                  <a:tcPr anchor="ctr"/>
                </a:tc>
                <a:tc>
                  <a:txBody>
                    <a:bodyPr/>
                    <a:lstStyle/>
                    <a:p>
                      <a:r>
                        <a:rPr lang="en-US" i="1" dirty="0"/>
                        <a:t>An Intelligent System for Placement Prediction</a:t>
                      </a:r>
                      <a:r>
                        <a:rPr lang="en-US" dirty="0"/>
                        <a:t>, IEEE International Conference on Computing</a:t>
                      </a:r>
                      <a:endParaRPr lang="en-IN" dirty="0"/>
                    </a:p>
                  </a:txBody>
                  <a:tcPr/>
                </a:tc>
                <a:tc>
                  <a:txBody>
                    <a:bodyPr/>
                    <a:lstStyle/>
                    <a:p>
                      <a:r>
                        <a:rPr lang="en-US" dirty="0"/>
                        <a:t>2020</a:t>
                      </a:r>
                      <a:endParaRPr lang="en-IN" dirty="0"/>
                    </a:p>
                  </a:txBody>
                  <a:tcPr/>
                </a:tc>
                <a:tc>
                  <a:txBody>
                    <a:bodyPr/>
                    <a:lstStyle/>
                    <a:p>
                      <a:r>
                        <a:rPr lang="en-US" dirty="0"/>
                        <a:t>Predicts placement chances using student skills, grades, and aptitude scores</a:t>
                      </a:r>
                      <a:endParaRPr lang="en-IN"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08263-5782-0D57-BDBD-DA7AA87ED351}"/>
              </a:ext>
            </a:extLst>
          </p:cNvPr>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a:extLst>
              <a:ext uri="{FF2B5EF4-FFF2-40B4-BE49-F238E27FC236}">
                <a16:creationId xmlns:a16="http://schemas.microsoft.com/office/drawing/2014/main" id="{30EB6876-03E5-3BE5-685F-F0B1362C9792}"/>
              </a:ext>
            </a:extLst>
          </p:cNvPr>
          <p:cNvSpPr>
            <a:spLocks noGrp="1"/>
          </p:cNvSpPr>
          <p:nvPr>
            <p:ph type="ftr" sz="quarter" idx="11"/>
          </p:nvPr>
        </p:nvSpPr>
        <p:spPr/>
        <p:txBody>
          <a:bodyPr/>
          <a:lstStyle/>
          <a:p>
            <a:r>
              <a:rPr lang="en-IN"/>
              <a:t>DEPARTMENT OF COMPUTER SCIENCE &amp; ENGINEERING   / PROJECT TITLE</a:t>
            </a:r>
          </a:p>
        </p:txBody>
      </p:sp>
      <p:sp>
        <p:nvSpPr>
          <p:cNvPr id="4" name="Slide Number Placeholder 3">
            <a:extLst>
              <a:ext uri="{FF2B5EF4-FFF2-40B4-BE49-F238E27FC236}">
                <a16:creationId xmlns:a16="http://schemas.microsoft.com/office/drawing/2014/main" id="{BF3E61CA-D11D-8D1E-A151-20D31866BD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graphicFrame>
        <p:nvGraphicFramePr>
          <p:cNvPr id="5" name="Table 4">
            <a:extLst>
              <a:ext uri="{FF2B5EF4-FFF2-40B4-BE49-F238E27FC236}">
                <a16:creationId xmlns:a16="http://schemas.microsoft.com/office/drawing/2014/main" id="{CFB7EAA3-3D51-E9C9-B631-C5F5A709E14D}"/>
              </a:ext>
            </a:extLst>
          </p:cNvPr>
          <p:cNvGraphicFramePr>
            <a:graphicFrameLocks noGrp="1"/>
          </p:cNvGraphicFramePr>
          <p:nvPr>
            <p:extLst>
              <p:ext uri="{D42A27DB-BD31-4B8C-83A1-F6EECF244321}">
                <p14:modId xmlns:p14="http://schemas.microsoft.com/office/powerpoint/2010/main" val="4138228883"/>
              </p:ext>
            </p:extLst>
          </p:nvPr>
        </p:nvGraphicFramePr>
        <p:xfrm>
          <a:off x="457199" y="1760349"/>
          <a:ext cx="16957965" cy="5622191"/>
        </p:xfrm>
        <a:graphic>
          <a:graphicData uri="http://schemas.openxmlformats.org/drawingml/2006/table">
            <a:tbl>
              <a:tblPr firstRow="1" bandRow="1">
                <a:tableStyleId>{5C22544A-7EE6-4342-B048-85BDC9FD1C3A}</a:tableStyleId>
              </a:tblPr>
              <a:tblGrid>
                <a:gridCol w="1143002">
                  <a:extLst>
                    <a:ext uri="{9D8B030D-6E8A-4147-A177-3AD203B41FA5}">
                      <a16:colId xmlns:a16="http://schemas.microsoft.com/office/drawing/2014/main" val="20000"/>
                    </a:ext>
                  </a:extLst>
                </a:gridCol>
                <a:gridCol w="5640184">
                  <a:extLst>
                    <a:ext uri="{9D8B030D-6E8A-4147-A177-3AD203B41FA5}">
                      <a16:colId xmlns:a16="http://schemas.microsoft.com/office/drawing/2014/main" val="20001"/>
                    </a:ext>
                  </a:extLst>
                </a:gridCol>
                <a:gridCol w="3391593">
                  <a:extLst>
                    <a:ext uri="{9D8B030D-6E8A-4147-A177-3AD203B41FA5}">
                      <a16:colId xmlns:a16="http://schemas.microsoft.com/office/drawing/2014/main" val="20002"/>
                    </a:ext>
                  </a:extLst>
                </a:gridCol>
                <a:gridCol w="3391593">
                  <a:extLst>
                    <a:ext uri="{9D8B030D-6E8A-4147-A177-3AD203B41FA5}">
                      <a16:colId xmlns:a16="http://schemas.microsoft.com/office/drawing/2014/main" val="20003"/>
                    </a:ext>
                  </a:extLst>
                </a:gridCol>
                <a:gridCol w="3391593">
                  <a:extLst>
                    <a:ext uri="{9D8B030D-6E8A-4147-A177-3AD203B41FA5}">
                      <a16:colId xmlns:a16="http://schemas.microsoft.com/office/drawing/2014/main" val="20004"/>
                    </a:ext>
                  </a:extLst>
                </a:gridCol>
              </a:tblGrid>
              <a:tr h="1735991">
                <a:tc>
                  <a:txBody>
                    <a:bodyPr/>
                    <a:lstStyle/>
                    <a:p>
                      <a:pPr algn="ctr"/>
                      <a:r>
                        <a:rPr lang="en-IN" sz="3200" dirty="0" err="1"/>
                        <a:t>Sl.No</a:t>
                      </a:r>
                      <a:endParaRPr lang="en-IN" sz="3200" dirty="0"/>
                    </a:p>
                  </a:txBody>
                  <a:tcPr/>
                </a:tc>
                <a:tc>
                  <a:txBody>
                    <a:bodyPr/>
                    <a:lstStyle/>
                    <a:p>
                      <a:pPr algn="ctr"/>
                      <a:r>
                        <a:rPr lang="en-IN" sz="3200" dirty="0"/>
                        <a:t>Author’s Name</a:t>
                      </a:r>
                    </a:p>
                  </a:txBody>
                  <a:tcPr/>
                </a:tc>
                <a:tc>
                  <a:txBody>
                    <a:bodyPr/>
                    <a:lstStyle/>
                    <a:p>
                      <a:pPr algn="ctr"/>
                      <a:r>
                        <a:rPr lang="en-IN" sz="3200" dirty="0"/>
                        <a:t>Paper name and</a:t>
                      </a:r>
                      <a:r>
                        <a:rPr lang="en-IN" sz="3200" baseline="0" dirty="0"/>
                        <a:t> publication details</a:t>
                      </a:r>
                      <a:endParaRPr lang="en-IN" sz="3200" dirty="0"/>
                    </a:p>
                  </a:txBody>
                  <a:tcPr/>
                </a:tc>
                <a:tc>
                  <a:txBody>
                    <a:bodyPr/>
                    <a:lstStyle/>
                    <a:p>
                      <a:pPr algn="ctr"/>
                      <a:r>
                        <a:rPr lang="en-IN" sz="3200" dirty="0"/>
                        <a:t>Year </a:t>
                      </a:r>
                      <a:r>
                        <a:rPr lang="en-IN" sz="3200" baseline="0" dirty="0"/>
                        <a:t> of publication</a:t>
                      </a:r>
                      <a:endParaRPr lang="en-IN" sz="3200" dirty="0"/>
                    </a:p>
                  </a:txBody>
                  <a:tcPr/>
                </a:tc>
                <a:tc>
                  <a:txBody>
                    <a:bodyPr/>
                    <a:lstStyle/>
                    <a:p>
                      <a:pPr algn="ctr"/>
                      <a:r>
                        <a:rPr lang="en-IN" sz="3200" dirty="0"/>
                        <a:t>Main content of the paper</a:t>
                      </a:r>
                    </a:p>
                  </a:txBody>
                  <a:tcPr/>
                </a:tc>
                <a:extLst>
                  <a:ext uri="{0D108BD9-81ED-4DB2-BD59-A6C34878D82A}">
                    <a16:rowId xmlns:a16="http://schemas.microsoft.com/office/drawing/2014/main" val="10000"/>
                  </a:ext>
                </a:extLst>
              </a:tr>
              <a:tr h="818396">
                <a:tc>
                  <a:txBody>
                    <a:bodyPr/>
                    <a:lstStyle/>
                    <a:p>
                      <a:r>
                        <a:rPr lang="en-IN" dirty="0"/>
                        <a:t>3</a:t>
                      </a:r>
                    </a:p>
                  </a:txBody>
                  <a:tcPr/>
                </a:tc>
                <a:tc>
                  <a:txBody>
                    <a:bodyPr/>
                    <a:lstStyle/>
                    <a:p>
                      <a:r>
                        <a:rPr lang="en-US" dirty="0"/>
                        <a:t>J. Lee, K. Park</a:t>
                      </a:r>
                      <a:endParaRPr lang="en-IN" dirty="0"/>
                    </a:p>
                  </a:txBody>
                  <a:tcPr/>
                </a:tc>
                <a:tc>
                  <a:txBody>
                    <a:bodyPr/>
                    <a:lstStyle/>
                    <a:p>
                      <a:r>
                        <a:rPr lang="en-US" i="1" dirty="0"/>
                        <a:t>AI-Based Adaptive Learning and Assessment System</a:t>
                      </a:r>
                      <a:r>
                        <a:rPr lang="en-US" dirty="0"/>
                        <a:t>, IEEE Access Journal</a:t>
                      </a:r>
                      <a:endParaRPr lang="en-IN" dirty="0"/>
                    </a:p>
                  </a:txBody>
                  <a:tcPr/>
                </a:tc>
                <a:tc>
                  <a:txBody>
                    <a:bodyPr/>
                    <a:lstStyle/>
                    <a:p>
                      <a:r>
                        <a:rPr lang="en-US" dirty="0"/>
                        <a:t>2021</a:t>
                      </a:r>
                      <a:endParaRPr lang="en-IN" dirty="0"/>
                    </a:p>
                  </a:txBody>
                  <a:tcPr/>
                </a:tc>
                <a:tc>
                  <a:txBody>
                    <a:bodyPr/>
                    <a:lstStyle/>
                    <a:p>
                      <a:r>
                        <a:rPr lang="en-US" dirty="0"/>
                        <a:t>Introduces AI-driven tests and personalized learning recommendations</a:t>
                      </a:r>
                      <a:endParaRPr lang="en-IN" dirty="0"/>
                    </a:p>
                  </a:txBody>
                  <a:tcPr/>
                </a:tc>
                <a:extLst>
                  <a:ext uri="{0D108BD9-81ED-4DB2-BD59-A6C34878D82A}">
                    <a16:rowId xmlns:a16="http://schemas.microsoft.com/office/drawing/2014/main" val="10001"/>
                  </a:ext>
                </a:extLst>
              </a:tr>
              <a:tr h="818396">
                <a:tc>
                  <a:txBody>
                    <a:bodyPr/>
                    <a:lstStyle/>
                    <a:p>
                      <a:r>
                        <a:rPr lang="en-IN" dirty="0"/>
                        <a:t>4</a:t>
                      </a:r>
                    </a:p>
                  </a:txBody>
                  <a:tcPr/>
                </a:tc>
                <a:tc>
                  <a:txBody>
                    <a:bodyPr/>
                    <a:lstStyle/>
                    <a:p>
                      <a:pPr>
                        <a:buNone/>
                      </a:pPr>
                      <a:r>
                        <a:rPr lang="en-US" dirty="0"/>
                        <a:t>P. Verma, S. Gupta</a:t>
                      </a:r>
                    </a:p>
                  </a:txBody>
                  <a:tcPr anchor="ctr"/>
                </a:tc>
                <a:tc>
                  <a:txBody>
                    <a:bodyPr/>
                    <a:lstStyle/>
                    <a:p>
                      <a:r>
                        <a:rPr lang="en-US" i="1" dirty="0"/>
                        <a:t>Cloud-Based Student Analytics System for Career Guidance</a:t>
                      </a:r>
                      <a:r>
                        <a:rPr lang="en-US" dirty="0"/>
                        <a:t>, IEEE Cloud Computing Conference</a:t>
                      </a:r>
                      <a:endParaRPr lang="en-IN" dirty="0"/>
                    </a:p>
                  </a:txBody>
                  <a:tcPr/>
                </a:tc>
                <a:tc>
                  <a:txBody>
                    <a:bodyPr/>
                    <a:lstStyle/>
                    <a:p>
                      <a:r>
                        <a:rPr lang="en-US" dirty="0"/>
                        <a:t>2023</a:t>
                      </a:r>
                      <a:endParaRPr lang="en-IN" dirty="0"/>
                    </a:p>
                  </a:txBody>
                  <a:tcPr/>
                </a:tc>
                <a:tc>
                  <a:txBody>
                    <a:bodyPr/>
                    <a:lstStyle/>
                    <a:p>
                      <a:r>
                        <a:rPr lang="en-US" dirty="0"/>
                        <a:t>Uses cloud storage and analytics to track student progress and suggest career paths</a:t>
                      </a:r>
                      <a:endParaRPr lang="en-IN"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74620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6" name="Rectangle 5"/>
          <p:cNvSpPr/>
          <p:nvPr/>
        </p:nvSpPr>
        <p:spPr>
          <a:xfrm>
            <a:off x="801060" y="698561"/>
            <a:ext cx="16988176" cy="2985433"/>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MODULE 1</a:t>
            </a:r>
            <a:r>
              <a:rPr lang="en-US" sz="4400" b="1" dirty="0">
                <a:latin typeface="Times New Roman" panose="02020603050405020304" pitchFamily="18" charset="0"/>
                <a:cs typeface="Times New Roman" panose="02020603050405020304" pitchFamily="18" charset="0"/>
              </a:rPr>
              <a:t>:</a:t>
            </a:r>
            <a:r>
              <a:rPr lang="en-US" sz="3200" b="1" dirty="0"/>
              <a:t> Student Input and Test Module </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EB0A85F-1817-9D35-EAC7-52F5F97EF971}"/>
              </a:ext>
            </a:extLst>
          </p:cNvPr>
          <p:cNvSpPr txBox="1"/>
          <p:nvPr/>
        </p:nvSpPr>
        <p:spPr>
          <a:xfrm>
            <a:off x="1645921" y="2511910"/>
            <a:ext cx="15597050" cy="3539430"/>
          </a:xfrm>
          <a:prstGeom prst="rect">
            <a:avLst/>
          </a:prstGeom>
          <a:noFill/>
        </p:spPr>
        <p:txBody>
          <a:bodyPr wrap="square">
            <a:spAutoFit/>
          </a:bodyPr>
          <a:lstStyle/>
          <a:p>
            <a:r>
              <a:rPr lang="en-US" sz="2800" dirty="0"/>
              <a:t>This module is responsible for collecting student information and conducting assessment tests. </a:t>
            </a:r>
            <a:r>
              <a:rPr lang="en-US" sz="2800" dirty="0" err="1"/>
              <a:t>Itprovides</a:t>
            </a:r>
            <a:r>
              <a:rPr lang="en-US" sz="2800" dirty="0"/>
              <a:t> an interactive interface where students can enter their personal details, academic </a:t>
            </a:r>
            <a:r>
              <a:rPr lang="en-US" sz="2800" dirty="0" err="1"/>
              <a:t>background,skills</a:t>
            </a:r>
            <a:r>
              <a:rPr lang="en-US" sz="2800" dirty="0"/>
              <a:t>, and domain of interest. The module ensures proper validation of input data to maintain </a:t>
            </a:r>
            <a:r>
              <a:rPr lang="en-US" sz="2800" dirty="0" err="1"/>
              <a:t>accuracyand</a:t>
            </a:r>
            <a:r>
              <a:rPr lang="en-US" sz="2800" dirty="0"/>
              <a:t> </a:t>
            </a:r>
            <a:r>
              <a:rPr lang="en-US" sz="2800" dirty="0" err="1"/>
              <a:t>consistency.Once</a:t>
            </a:r>
            <a:r>
              <a:rPr lang="en-US" sz="2800" dirty="0"/>
              <a:t> the input is collected, the module interacts with the AI engine to generate domain-specific </a:t>
            </a:r>
            <a:r>
              <a:rPr lang="en-US" sz="2800" dirty="0" err="1"/>
              <a:t>testquestions</a:t>
            </a:r>
            <a:r>
              <a:rPr lang="en-US" sz="2800" dirty="0"/>
              <a:t>. These questions are displayed to the student in a structured format. The module </a:t>
            </a:r>
            <a:r>
              <a:rPr lang="en-US" sz="2800" dirty="0" err="1"/>
              <a:t>alsohandles</a:t>
            </a:r>
            <a:r>
              <a:rPr lang="en-US" sz="2800" dirty="0"/>
              <a:t> user interactions during the test, such as selecting answers and submitting </a:t>
            </a:r>
            <a:r>
              <a:rPr lang="en-US" sz="2800" dirty="0" err="1"/>
              <a:t>responses.The</a:t>
            </a:r>
            <a:r>
              <a:rPr lang="en-US" sz="2800" dirty="0"/>
              <a:t> design of this module focuses on usability and responsiveness, ensuring a smooth user </a:t>
            </a:r>
            <a:r>
              <a:rPr lang="en-US" sz="2800" dirty="0" err="1"/>
              <a:t>experience.It</a:t>
            </a:r>
            <a:r>
              <a:rPr lang="en-US" sz="2800" dirty="0"/>
              <a:t> acts as the entry point of the system and plays a crucial role in data collection and test execution.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TextBox 4"/>
          <p:cNvSpPr txBox="1"/>
          <p:nvPr/>
        </p:nvSpPr>
        <p:spPr>
          <a:xfrm>
            <a:off x="789709" y="457200"/>
            <a:ext cx="16895618" cy="523220"/>
          </a:xfrm>
          <a:prstGeom prst="rect">
            <a:avLst/>
          </a:prstGeom>
          <a:noFill/>
        </p:spPr>
        <p:txBody>
          <a:bodyPr wrap="square" rtlCol="0">
            <a:spAutoFit/>
          </a:bodyPr>
          <a:lstStyle/>
          <a:p>
            <a:r>
              <a:rPr lang="en-IN" sz="2800" b="1" dirty="0"/>
              <a:t>                                                            Module 2- Evaluation and Analysis Module</a:t>
            </a:r>
            <a:endParaRPr lang="en-IN" dirty="0"/>
          </a:p>
        </p:txBody>
      </p:sp>
      <p:sp>
        <p:nvSpPr>
          <p:cNvPr id="7" name="TextBox 6">
            <a:extLst>
              <a:ext uri="{FF2B5EF4-FFF2-40B4-BE49-F238E27FC236}">
                <a16:creationId xmlns:a16="http://schemas.microsoft.com/office/drawing/2014/main" id="{1C729707-489F-BC57-0531-1B56095D4402}"/>
              </a:ext>
            </a:extLst>
          </p:cNvPr>
          <p:cNvSpPr txBox="1"/>
          <p:nvPr/>
        </p:nvSpPr>
        <p:spPr>
          <a:xfrm>
            <a:off x="1814285" y="2149065"/>
            <a:ext cx="12859657" cy="3539430"/>
          </a:xfrm>
          <a:prstGeom prst="rect">
            <a:avLst/>
          </a:prstGeom>
          <a:noFill/>
        </p:spPr>
        <p:txBody>
          <a:bodyPr wrap="square">
            <a:spAutoFit/>
          </a:bodyPr>
          <a:lstStyle/>
          <a:p>
            <a:r>
              <a:rPr lang="en-US" sz="3200" dirty="0"/>
              <a:t>This module is responsible for evaluating student responses and analyzing performance. It </a:t>
            </a:r>
            <a:r>
              <a:rPr lang="en-US" sz="3200" dirty="0" err="1"/>
              <a:t>processesthe</a:t>
            </a:r>
            <a:r>
              <a:rPr lang="en-US" sz="3200" dirty="0"/>
              <a:t> submitted answers and calculates the score based on the number of correct responses. The </a:t>
            </a:r>
            <a:r>
              <a:rPr lang="en-US" sz="3200" dirty="0" err="1"/>
              <a:t>evalu-ation</a:t>
            </a:r>
            <a:r>
              <a:rPr lang="en-US" sz="3200" dirty="0"/>
              <a:t> logic ensures accuracy and consistency in </a:t>
            </a:r>
            <a:r>
              <a:rPr lang="en-US" sz="3200" dirty="0" err="1"/>
              <a:t>scoring.After</a:t>
            </a:r>
            <a:r>
              <a:rPr lang="en-US" sz="3200" dirty="0"/>
              <a:t> calculating the score, the module sends the data to the AI engine for further analysis. The </a:t>
            </a:r>
            <a:r>
              <a:rPr lang="en-US" sz="3200" dirty="0" err="1"/>
              <a:t>AIengine</a:t>
            </a:r>
            <a:r>
              <a:rPr lang="en-US" sz="3200" dirty="0"/>
              <a:t> identifies weak areas and strengths by analyzing the performance data. This module plays acritical role in transforming raw data into meaningful insights.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5" name="Rectangle 4"/>
          <p:cNvSpPr/>
          <p:nvPr/>
        </p:nvSpPr>
        <p:spPr>
          <a:xfrm>
            <a:off x="498764" y="768927"/>
            <a:ext cx="16521545"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Architecture Diagram</a:t>
            </a:r>
          </a:p>
        </p:txBody>
      </p:sp>
      <p:pic>
        <p:nvPicPr>
          <p:cNvPr id="9" name="Picture 8">
            <a:extLst>
              <a:ext uri="{FF2B5EF4-FFF2-40B4-BE49-F238E27FC236}">
                <a16:creationId xmlns:a16="http://schemas.microsoft.com/office/drawing/2014/main" id="{EC567230-E277-B788-FC0F-72770EAE9D42}"/>
              </a:ext>
            </a:extLst>
          </p:cNvPr>
          <p:cNvPicPr>
            <a:picLocks noChangeAspect="1"/>
          </p:cNvPicPr>
          <p:nvPr/>
        </p:nvPicPr>
        <p:blipFill>
          <a:blip r:embed="rId2"/>
          <a:stretch>
            <a:fillRect/>
          </a:stretch>
        </p:blipFill>
        <p:spPr>
          <a:xfrm>
            <a:off x="5971860" y="2110823"/>
            <a:ext cx="5877224" cy="62120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5" name="Rectangle 4"/>
          <p:cNvSpPr/>
          <p:nvPr/>
        </p:nvSpPr>
        <p:spPr>
          <a:xfrm>
            <a:off x="774378" y="594652"/>
            <a:ext cx="17014857"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Data –Flow Diagram</a:t>
            </a:r>
          </a:p>
        </p:txBody>
      </p:sp>
      <p:pic>
        <p:nvPicPr>
          <p:cNvPr id="10" name="Picture 9">
            <a:extLst>
              <a:ext uri="{FF2B5EF4-FFF2-40B4-BE49-F238E27FC236}">
                <a16:creationId xmlns:a16="http://schemas.microsoft.com/office/drawing/2014/main" id="{D4D4F831-4B86-8463-3B92-46EC4615BC66}"/>
              </a:ext>
            </a:extLst>
          </p:cNvPr>
          <p:cNvPicPr>
            <a:picLocks noChangeAspect="1"/>
          </p:cNvPicPr>
          <p:nvPr/>
        </p:nvPicPr>
        <p:blipFill>
          <a:blip r:embed="rId2"/>
          <a:stretch>
            <a:fillRect/>
          </a:stretch>
        </p:blipFill>
        <p:spPr>
          <a:xfrm>
            <a:off x="7362576" y="2290364"/>
            <a:ext cx="3562847" cy="57062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5" name="Rectangle 4"/>
          <p:cNvSpPr/>
          <p:nvPr/>
        </p:nvSpPr>
        <p:spPr>
          <a:xfrm>
            <a:off x="5881254" y="407892"/>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Use Case Diagram</a:t>
            </a:r>
          </a:p>
        </p:txBody>
      </p:sp>
      <p:pic>
        <p:nvPicPr>
          <p:cNvPr id="9" name="Picture 8">
            <a:extLst>
              <a:ext uri="{FF2B5EF4-FFF2-40B4-BE49-F238E27FC236}">
                <a16:creationId xmlns:a16="http://schemas.microsoft.com/office/drawing/2014/main" id="{B0F74D5A-1A85-0E27-A96E-F4CD2ADA56E4}"/>
              </a:ext>
            </a:extLst>
          </p:cNvPr>
          <p:cNvPicPr>
            <a:picLocks noChangeAspect="1"/>
          </p:cNvPicPr>
          <p:nvPr/>
        </p:nvPicPr>
        <p:blipFill>
          <a:blip r:embed="rId2"/>
          <a:stretch>
            <a:fillRect/>
          </a:stretch>
        </p:blipFill>
        <p:spPr>
          <a:xfrm>
            <a:off x="4775200" y="1693867"/>
            <a:ext cx="7747639" cy="68992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5" name="Rectangle 4"/>
          <p:cNvSpPr/>
          <p:nvPr/>
        </p:nvSpPr>
        <p:spPr>
          <a:xfrm>
            <a:off x="5382491" y="414727"/>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Class Diagram</a:t>
            </a:r>
          </a:p>
        </p:txBody>
      </p:sp>
      <p:pic>
        <p:nvPicPr>
          <p:cNvPr id="9" name="Picture 8">
            <a:extLst>
              <a:ext uri="{FF2B5EF4-FFF2-40B4-BE49-F238E27FC236}">
                <a16:creationId xmlns:a16="http://schemas.microsoft.com/office/drawing/2014/main" id="{935CC5B9-10D1-D9B3-062E-9360CF1C1985}"/>
              </a:ext>
            </a:extLst>
          </p:cNvPr>
          <p:cNvPicPr>
            <a:picLocks noChangeAspect="1"/>
          </p:cNvPicPr>
          <p:nvPr/>
        </p:nvPicPr>
        <p:blipFill>
          <a:blip r:embed="rId2"/>
          <a:stretch>
            <a:fillRect/>
          </a:stretch>
        </p:blipFill>
        <p:spPr>
          <a:xfrm>
            <a:off x="4630057" y="1854683"/>
            <a:ext cx="7624289" cy="64800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Rectangle 4"/>
          <p:cNvSpPr/>
          <p:nvPr/>
        </p:nvSpPr>
        <p:spPr>
          <a:xfrm>
            <a:off x="5049982" y="532445"/>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Activity Diagram</a:t>
            </a:r>
          </a:p>
        </p:txBody>
      </p:sp>
      <p:pic>
        <p:nvPicPr>
          <p:cNvPr id="9" name="Picture 8">
            <a:extLst>
              <a:ext uri="{FF2B5EF4-FFF2-40B4-BE49-F238E27FC236}">
                <a16:creationId xmlns:a16="http://schemas.microsoft.com/office/drawing/2014/main" id="{D169E5D9-4AFE-70A8-8C5B-5EC250548AB7}"/>
              </a:ext>
            </a:extLst>
          </p:cNvPr>
          <p:cNvPicPr>
            <a:picLocks noChangeAspect="1"/>
          </p:cNvPicPr>
          <p:nvPr/>
        </p:nvPicPr>
        <p:blipFill>
          <a:blip r:embed="rId2"/>
          <a:stretch>
            <a:fillRect/>
          </a:stretch>
        </p:blipFill>
        <p:spPr>
          <a:xfrm>
            <a:off x="5049982" y="2061185"/>
            <a:ext cx="7856733" cy="53253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5" name="Rectangle 4"/>
          <p:cNvSpPr/>
          <p:nvPr/>
        </p:nvSpPr>
        <p:spPr>
          <a:xfrm>
            <a:off x="4405745" y="525472"/>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Sequence Diagram</a:t>
            </a:r>
          </a:p>
        </p:txBody>
      </p:sp>
      <p:pic>
        <p:nvPicPr>
          <p:cNvPr id="9" name="Picture 8">
            <a:extLst>
              <a:ext uri="{FF2B5EF4-FFF2-40B4-BE49-F238E27FC236}">
                <a16:creationId xmlns:a16="http://schemas.microsoft.com/office/drawing/2014/main" id="{62E99744-2E38-84F5-0B48-47D70B29974A}"/>
              </a:ext>
            </a:extLst>
          </p:cNvPr>
          <p:cNvPicPr>
            <a:picLocks noChangeAspect="1"/>
          </p:cNvPicPr>
          <p:nvPr/>
        </p:nvPicPr>
        <p:blipFill>
          <a:blip r:embed="rId2"/>
          <a:stretch>
            <a:fillRect/>
          </a:stretch>
        </p:blipFill>
        <p:spPr>
          <a:xfrm>
            <a:off x="4014016" y="2351314"/>
            <a:ext cx="8840489" cy="48117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5" name="Rectangle 4"/>
          <p:cNvSpPr/>
          <p:nvPr/>
        </p:nvSpPr>
        <p:spPr>
          <a:xfrm>
            <a:off x="4426527" y="539280"/>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Collaboration Diagram(If applicable)</a:t>
            </a:r>
          </a:p>
        </p:txBody>
      </p:sp>
      <p:pic>
        <p:nvPicPr>
          <p:cNvPr id="9" name="Picture 8">
            <a:extLst>
              <a:ext uri="{FF2B5EF4-FFF2-40B4-BE49-F238E27FC236}">
                <a16:creationId xmlns:a16="http://schemas.microsoft.com/office/drawing/2014/main" id="{353B38A0-6455-5AB4-C4EE-C97612ABA15D}"/>
              </a:ext>
            </a:extLst>
          </p:cNvPr>
          <p:cNvPicPr>
            <a:picLocks noChangeAspect="1"/>
          </p:cNvPicPr>
          <p:nvPr/>
        </p:nvPicPr>
        <p:blipFill>
          <a:blip r:embed="rId2"/>
          <a:stretch>
            <a:fillRect/>
          </a:stretch>
        </p:blipFill>
        <p:spPr>
          <a:xfrm>
            <a:off x="5471600" y="3200129"/>
            <a:ext cx="7344800" cy="388674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5" name="Rectangle 4"/>
          <p:cNvSpPr/>
          <p:nvPr/>
        </p:nvSpPr>
        <p:spPr>
          <a:xfrm>
            <a:off x="5910548" y="319886"/>
            <a:ext cx="3951082" cy="646331"/>
          </a:xfrm>
          <a:prstGeom prst="rect">
            <a:avLst/>
          </a:prstGeom>
        </p:spPr>
        <p:txBody>
          <a:bodyPr wrap="none">
            <a:spAutoFit/>
          </a:bodyPr>
          <a:lstStyle/>
          <a:p>
            <a:pPr lvl="1"/>
            <a:r>
              <a:rPr lang="en-US" sz="3600" b="1" dirty="0">
                <a:latin typeface="Times New Roman" panose="02020603050405020304" pitchFamily="18" charset="0"/>
                <a:cs typeface="Times New Roman" panose="02020603050405020304" pitchFamily="18" charset="0"/>
              </a:rPr>
              <a:t>UNIT TESTING</a:t>
            </a:r>
            <a:endParaRPr lang="en-IN" sz="3600" b="1" i="1" dirty="0">
              <a:latin typeface="Times New Roman" panose="02020603050405020304" pitchFamily="18" charset="0"/>
              <a:cs typeface="Times New Roman" panose="02020603050405020304" pitchFamily="18" charset="0"/>
            </a:endParaRPr>
          </a:p>
        </p:txBody>
      </p:sp>
      <p:sp>
        <p:nvSpPr>
          <p:cNvPr id="6" name="Rectangle 5"/>
          <p:cNvSpPr/>
          <p:nvPr/>
        </p:nvSpPr>
        <p:spPr>
          <a:xfrm>
            <a:off x="394853" y="1211271"/>
            <a:ext cx="17560637" cy="1938992"/>
          </a:xfrm>
          <a:prstGeom prst="rect">
            <a:avLst/>
          </a:prstGeom>
        </p:spPr>
        <p:txBody>
          <a:bodyPr wrap="square">
            <a:spAutoFit/>
          </a:bodyPr>
          <a:lstStyle/>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Unit testing involves testing individual components or modules of the system separately to ensure that each unit works correctly. In this project, unit testing is applied to functions such as data preprocessing, feature selection, and prediction modules.</a:t>
            </a:r>
          </a:p>
          <a:p>
            <a:pPr marL="342900" indent="-342900" algn="jus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Each function is tested with different inputs to verify that it produces the expected output. This helps in identifying errors at an early stage and ensures the reliability of individual parts of the system</a:t>
            </a:r>
          </a:p>
        </p:txBody>
      </p:sp>
      <p:sp>
        <p:nvSpPr>
          <p:cNvPr id="7" name="Rectangle 6"/>
          <p:cNvSpPr/>
          <p:nvPr/>
        </p:nvSpPr>
        <p:spPr>
          <a:xfrm>
            <a:off x="5872604" y="4226868"/>
            <a:ext cx="6105261" cy="646331"/>
          </a:xfrm>
          <a:prstGeom prst="rect">
            <a:avLst/>
          </a:prstGeom>
        </p:spPr>
        <p:txBody>
          <a:bodyPr wrap="none">
            <a:spAutoFit/>
          </a:bodyPr>
          <a:lstStyle/>
          <a:p>
            <a:pPr lvl="1"/>
            <a:r>
              <a:rPr lang="en-US" sz="3600" b="1" dirty="0">
                <a:latin typeface="Times New Roman" panose="02020603050405020304" pitchFamily="18" charset="0"/>
                <a:cs typeface="Times New Roman" panose="02020603050405020304" pitchFamily="18" charset="0"/>
              </a:rPr>
              <a:t>INTEGRATION TESTING</a:t>
            </a:r>
          </a:p>
        </p:txBody>
      </p:sp>
      <p:sp>
        <p:nvSpPr>
          <p:cNvPr id="8" name="Rectangle 7"/>
          <p:cNvSpPr/>
          <p:nvPr/>
        </p:nvSpPr>
        <p:spPr>
          <a:xfrm>
            <a:off x="581891" y="5526917"/>
            <a:ext cx="17394382" cy="2308324"/>
          </a:xfrm>
          <a:prstGeom prst="rect">
            <a:avLst/>
          </a:prstGeom>
        </p:spPr>
        <p:txBody>
          <a:bodyPr wrap="square">
            <a:spAutoFit/>
          </a:bodyPr>
          <a:lstStyle/>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Integration testing is performed after unit testing to verify that different modules of the system work together correctly. In this project, modules like data preprocessing, model training, and prediction are integrated and tested.</a:t>
            </a:r>
          </a:p>
          <a:p>
            <a:pPr marL="342900" indent="-342900" algn="jus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The main objective is to ensure smooth data flow between modules and to identify any issues arising due to module interaction. This testing ensures that the combined system functions as expected.</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5" name="Rectangle 4"/>
          <p:cNvSpPr/>
          <p:nvPr/>
        </p:nvSpPr>
        <p:spPr>
          <a:xfrm>
            <a:off x="6270215" y="490743"/>
            <a:ext cx="4228722" cy="646331"/>
          </a:xfrm>
          <a:prstGeom prst="rect">
            <a:avLst/>
          </a:prstGeom>
        </p:spPr>
        <p:txBody>
          <a:bodyPr wrap="none">
            <a:spAutoFit/>
          </a:bodyPr>
          <a:lstStyle/>
          <a:p>
            <a:pPr marL="355600" indent="-343535">
              <a:lnSpc>
                <a:spcPct val="100000"/>
              </a:lnSpc>
              <a:spcBef>
                <a:spcPts val="100"/>
              </a:spcBef>
              <a:buSzPct val="83000"/>
              <a:tabLst>
                <a:tab pos="355600" algn="l"/>
                <a:tab pos="356235" algn="l"/>
              </a:tabLst>
            </a:pPr>
            <a:r>
              <a:rPr lang="en-IN" sz="3600" b="1" spc="-5" dirty="0">
                <a:latin typeface="Times New Roman" panose="02020603050405020304"/>
                <a:cs typeface="Times New Roman" panose="02020603050405020304"/>
              </a:rPr>
              <a:t>SYSTEM</a:t>
            </a:r>
            <a:r>
              <a:rPr lang="en-IN" sz="3600" b="1" spc="10" dirty="0">
                <a:latin typeface="Times New Roman" panose="02020603050405020304"/>
                <a:cs typeface="Times New Roman" panose="02020603050405020304"/>
              </a:rPr>
              <a:t> </a:t>
            </a:r>
            <a:r>
              <a:rPr lang="en-IN" sz="3600" b="1" spc="-25" dirty="0">
                <a:latin typeface="Times New Roman" panose="02020603050405020304"/>
                <a:cs typeface="Times New Roman" panose="02020603050405020304"/>
              </a:rPr>
              <a:t>TESTING</a:t>
            </a:r>
            <a:endParaRPr lang="en-IN" sz="3600" dirty="0">
              <a:latin typeface="Times New Roman" panose="02020603050405020304"/>
              <a:cs typeface="Times New Roman" panose="02020603050405020304"/>
            </a:endParaRPr>
          </a:p>
        </p:txBody>
      </p:sp>
      <p:sp>
        <p:nvSpPr>
          <p:cNvPr id="6" name="Rectangle 5"/>
          <p:cNvSpPr/>
          <p:nvPr/>
        </p:nvSpPr>
        <p:spPr>
          <a:xfrm>
            <a:off x="935020" y="1675307"/>
            <a:ext cx="16874998" cy="2677656"/>
          </a:xfrm>
          <a:prstGeom prst="rect">
            <a:avLst/>
          </a:prstGeom>
        </p:spPr>
        <p:txBody>
          <a:bodyPr wrap="square">
            <a:spAutoFit/>
          </a:bodyPr>
          <a:lstStyle/>
          <a:p>
            <a:pPr algn="just"/>
            <a:r>
              <a:rPr lang="en-US" altLang="en-US" sz="2400" dirty="0">
                <a:latin typeface="Times New Roman" panose="02020603050405020304" pitchFamily="18" charset="0"/>
                <a:cs typeface="Times New Roman" panose="02020603050405020304" pitchFamily="18" charset="0"/>
              </a:rPr>
              <a:t>System testing is performed on the complete and fully integrated system to evaluate whether it meets the specified requirements. In this project, system testing involves testing the entire loan </a:t>
            </a:r>
            <a:r>
              <a:rPr lang="en-US" altLang="en-US" sz="2400" dirty="0" err="1">
                <a:latin typeface="Times New Roman" panose="02020603050405020304" pitchFamily="18" charset="0"/>
                <a:cs typeface="Times New Roman" panose="02020603050405020304" pitchFamily="18" charset="0"/>
              </a:rPr>
              <a:t>elegibility</a:t>
            </a:r>
            <a:r>
              <a:rPr lang="en-US" altLang="en-US" sz="2400" dirty="0">
                <a:latin typeface="Times New Roman" panose="02020603050405020304" pitchFamily="18" charset="0"/>
                <a:cs typeface="Times New Roman" panose="02020603050405020304" pitchFamily="18" charset="0"/>
              </a:rPr>
              <a:t> prediction intention prediction system, including data input, preprocessing, model prediction, and output display. </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The goal is to ensure that all components work together correctly as a whole system. It checks overall performance, accuracy, reliability, and system behavior under different conditions. This testing confirms that the system meets user requirements and works efficiently in a real-world environment.</a:t>
            </a:r>
          </a:p>
        </p:txBody>
      </p:sp>
      <p:sp>
        <p:nvSpPr>
          <p:cNvPr id="7" name="Rectangle 6"/>
          <p:cNvSpPr/>
          <p:nvPr/>
        </p:nvSpPr>
        <p:spPr>
          <a:xfrm>
            <a:off x="6250202" y="4917271"/>
            <a:ext cx="5399107" cy="646331"/>
          </a:xfrm>
          <a:prstGeom prst="rect">
            <a:avLst/>
          </a:prstGeom>
        </p:spPr>
        <p:txBody>
          <a:bodyPr wrap="none">
            <a:spAutoFit/>
          </a:bodyPr>
          <a:lstStyle/>
          <a:p>
            <a:pPr marL="355600" indent="-343535">
              <a:lnSpc>
                <a:spcPct val="100000"/>
              </a:lnSpc>
              <a:buSzPct val="83000"/>
              <a:tabLst>
                <a:tab pos="355600" algn="l"/>
                <a:tab pos="356235" algn="l"/>
              </a:tabLst>
            </a:pPr>
            <a:r>
              <a:rPr lang="en-IN" sz="3600" b="1" spc="-15" dirty="0">
                <a:latin typeface="Times New Roman" panose="02020603050405020304"/>
                <a:cs typeface="Times New Roman" panose="02020603050405020304"/>
              </a:rPr>
              <a:t>FUNCTIONAL</a:t>
            </a:r>
            <a:r>
              <a:rPr lang="en-IN" sz="3600" b="1" spc="90" dirty="0">
                <a:latin typeface="Times New Roman" panose="02020603050405020304"/>
                <a:cs typeface="Times New Roman" panose="02020603050405020304"/>
              </a:rPr>
              <a:t> </a:t>
            </a:r>
            <a:r>
              <a:rPr lang="en-IN" sz="3600" b="1" spc="-30" dirty="0">
                <a:latin typeface="Times New Roman" panose="02020603050405020304"/>
                <a:cs typeface="Times New Roman" panose="02020603050405020304"/>
              </a:rPr>
              <a:t>TESTING</a:t>
            </a:r>
            <a:endParaRPr lang="en-IN" sz="3600" b="1" dirty="0">
              <a:latin typeface="Times New Roman" panose="02020603050405020304"/>
              <a:cs typeface="Times New Roman" panose="02020603050405020304"/>
            </a:endParaRPr>
          </a:p>
        </p:txBody>
      </p:sp>
      <p:sp>
        <p:nvSpPr>
          <p:cNvPr id="8" name="Rectangle 7"/>
          <p:cNvSpPr/>
          <p:nvPr/>
        </p:nvSpPr>
        <p:spPr>
          <a:xfrm>
            <a:off x="935181" y="6545226"/>
            <a:ext cx="16604673" cy="2308324"/>
          </a:xfrm>
          <a:prstGeom prst="rect">
            <a:avLst/>
          </a:prstGeom>
        </p:spPr>
        <p:txBody>
          <a:bodyPr wrap="square">
            <a:spAutoFit/>
          </a:bodyPr>
          <a:lstStyle/>
          <a:p>
            <a:pPr algn="just"/>
            <a:r>
              <a:rPr lang="en-US" altLang="en-US" sz="2400" dirty="0">
                <a:latin typeface="Times New Roman" panose="02020603050405020304" pitchFamily="18" charset="0"/>
                <a:cs typeface="Times New Roman" panose="02020603050405020304" pitchFamily="18" charset="0"/>
              </a:rPr>
              <a:t>Function testing, also known as functional testing, focuses on verifying that each function of the system operates according to the specified requirements. In this project, it ensures that all functionalities such as data input, preprocessing, model training, and prediction are working correctly.</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 It checks whether the system produces accurate results for given inputs and whether all features perform their intended tasks. Functional testing helps ensure that the system behaves correctly from the user’s perspective and meets all functional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5" name="Rectangle 4"/>
          <p:cNvSpPr/>
          <p:nvPr/>
        </p:nvSpPr>
        <p:spPr>
          <a:xfrm>
            <a:off x="5166020" y="361793"/>
            <a:ext cx="7597464"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RESULTS AND DEMONSTRATION</a:t>
            </a:r>
          </a:p>
        </p:txBody>
      </p:sp>
      <p:sp>
        <p:nvSpPr>
          <p:cNvPr id="9" name="TextBox 8">
            <a:extLst>
              <a:ext uri="{FF2B5EF4-FFF2-40B4-BE49-F238E27FC236}">
                <a16:creationId xmlns:a16="http://schemas.microsoft.com/office/drawing/2014/main" id="{F58AC513-4104-B87C-7DA2-0071AD012A95}"/>
              </a:ext>
            </a:extLst>
          </p:cNvPr>
          <p:cNvSpPr txBox="1"/>
          <p:nvPr/>
        </p:nvSpPr>
        <p:spPr>
          <a:xfrm>
            <a:off x="1190170" y="1332417"/>
            <a:ext cx="11103429" cy="1938992"/>
          </a:xfrm>
          <a:prstGeom prst="rect">
            <a:avLst/>
          </a:prstGeom>
          <a:noFill/>
        </p:spPr>
        <p:txBody>
          <a:bodyPr wrap="square">
            <a:spAutoFit/>
          </a:bodyPr>
          <a:lstStyle/>
          <a:p>
            <a:pPr>
              <a:buNone/>
            </a:pPr>
            <a:r>
              <a:rPr lang="en-US" sz="2400" b="1" dirty="0"/>
              <a:t>Results</a:t>
            </a:r>
          </a:p>
          <a:p>
            <a:pPr>
              <a:buFont typeface="Arial" panose="020B0604020202020204" pitchFamily="34" charset="0"/>
              <a:buChar char="•"/>
            </a:pPr>
            <a:r>
              <a:rPr lang="en-US" sz="2400" dirty="0"/>
              <a:t>The system successfully analyzes </a:t>
            </a:r>
            <a:r>
              <a:rPr lang="en-US" sz="2400" b="1" dirty="0"/>
              <a:t>student academic data, skills, and interests</a:t>
            </a:r>
            <a:r>
              <a:rPr lang="en-US" sz="2400" dirty="0"/>
              <a:t> </a:t>
            </a:r>
          </a:p>
          <a:p>
            <a:pPr>
              <a:buFont typeface="Arial" panose="020B0604020202020204" pitchFamily="34" charset="0"/>
              <a:buChar char="•"/>
            </a:pPr>
            <a:r>
              <a:rPr lang="en-US" sz="2400" dirty="0"/>
              <a:t>Accurately predicts </a:t>
            </a:r>
            <a:r>
              <a:rPr lang="en-US" sz="2400" b="1" dirty="0"/>
              <a:t>placement readiness level</a:t>
            </a:r>
            <a:r>
              <a:rPr lang="en-US" sz="2400" dirty="0"/>
              <a:t> (e.g., Ready / Needs Improvement) </a:t>
            </a:r>
          </a:p>
          <a:p>
            <a:pPr>
              <a:buFont typeface="Arial" panose="020B0604020202020204" pitchFamily="34" charset="0"/>
              <a:buChar char="•"/>
            </a:pPr>
            <a:r>
              <a:rPr lang="en-US" sz="2400" dirty="0"/>
              <a:t>AI-based tests effectively identify </a:t>
            </a:r>
            <a:r>
              <a:rPr lang="en-US" sz="2400" b="1" dirty="0"/>
              <a:t>strengths and weak areas</a:t>
            </a:r>
            <a:r>
              <a:rPr lang="en-US" sz="2400" dirty="0"/>
              <a:t> </a:t>
            </a:r>
          </a:p>
          <a:p>
            <a:pPr>
              <a:buFont typeface="Arial" panose="020B0604020202020204" pitchFamily="34" charset="0"/>
              <a:buChar char="•"/>
            </a:pPr>
            <a:r>
              <a:rPr lang="en-US" sz="2400" dirty="0"/>
              <a:t>Personalized feedback improves </a:t>
            </a:r>
            <a:r>
              <a:rPr lang="en-US" sz="2400" b="1" dirty="0"/>
              <a:t>student performance over time</a:t>
            </a:r>
            <a:r>
              <a:rPr lang="en-US" sz="2400" dirty="0"/>
              <a:t> </a:t>
            </a:r>
          </a:p>
        </p:txBody>
      </p:sp>
      <p:sp>
        <p:nvSpPr>
          <p:cNvPr id="11" name="TextBox 10">
            <a:extLst>
              <a:ext uri="{FF2B5EF4-FFF2-40B4-BE49-F238E27FC236}">
                <a16:creationId xmlns:a16="http://schemas.microsoft.com/office/drawing/2014/main" id="{4141A4CC-F609-1E06-909B-A20EAAD7D224}"/>
              </a:ext>
            </a:extLst>
          </p:cNvPr>
          <p:cNvSpPr txBox="1"/>
          <p:nvPr/>
        </p:nvSpPr>
        <p:spPr>
          <a:xfrm>
            <a:off x="1190170" y="3595702"/>
            <a:ext cx="9144000" cy="5262979"/>
          </a:xfrm>
          <a:prstGeom prst="rect">
            <a:avLst/>
          </a:prstGeom>
          <a:noFill/>
        </p:spPr>
        <p:txBody>
          <a:bodyPr wrap="square">
            <a:spAutoFit/>
          </a:bodyPr>
          <a:lstStyle/>
          <a:p>
            <a:pPr>
              <a:buNone/>
            </a:pPr>
            <a:r>
              <a:rPr lang="en-US" sz="2400" b="1" dirty="0"/>
              <a:t>Demonstration</a:t>
            </a:r>
          </a:p>
          <a:p>
            <a:pPr>
              <a:buFont typeface="Arial" panose="020B0604020202020204" pitchFamily="34" charset="0"/>
              <a:buChar char="•"/>
            </a:pPr>
            <a:r>
              <a:rPr lang="en-US" sz="2400" dirty="0"/>
              <a:t>User (student) logs into the system </a:t>
            </a:r>
          </a:p>
          <a:p>
            <a:pPr>
              <a:buFont typeface="Arial" panose="020B0604020202020204" pitchFamily="34" charset="0"/>
              <a:buChar char="•"/>
            </a:pPr>
            <a:r>
              <a:rPr lang="en-US" sz="2400" dirty="0"/>
              <a:t>Enters details: </a:t>
            </a:r>
            <a:r>
              <a:rPr lang="en-US" sz="2400" b="1" dirty="0"/>
              <a:t>marks, skills, domain interest</a:t>
            </a:r>
            <a:r>
              <a:rPr lang="en-US" sz="2400" dirty="0"/>
              <a:t> </a:t>
            </a:r>
          </a:p>
          <a:p>
            <a:pPr>
              <a:buFont typeface="Arial" panose="020B0604020202020204" pitchFamily="34" charset="0"/>
              <a:buChar char="•"/>
            </a:pPr>
            <a:r>
              <a:rPr lang="en-US" sz="2400" dirty="0"/>
              <a:t>System generates </a:t>
            </a:r>
            <a:r>
              <a:rPr lang="en-US" sz="2400" b="1" dirty="0"/>
              <a:t>AI-based domain-specific test</a:t>
            </a:r>
            <a:r>
              <a:rPr lang="en-US" sz="2400" dirty="0"/>
              <a:t> </a:t>
            </a:r>
          </a:p>
          <a:p>
            <a:pPr>
              <a:buFont typeface="Arial" panose="020B0604020202020204" pitchFamily="34" charset="0"/>
              <a:buChar char="•"/>
            </a:pPr>
            <a:r>
              <a:rPr lang="en-US" sz="2400" dirty="0"/>
              <a:t>Student completes the test online </a:t>
            </a:r>
          </a:p>
          <a:p>
            <a:pPr>
              <a:buFont typeface="Arial" panose="020B0604020202020204" pitchFamily="34" charset="0"/>
              <a:buChar char="•"/>
            </a:pPr>
            <a:r>
              <a:rPr lang="en-US" sz="2400" dirty="0"/>
              <a:t>System evaluates answers instantly </a:t>
            </a:r>
          </a:p>
          <a:p>
            <a:pPr>
              <a:buFont typeface="Arial" panose="020B0604020202020204" pitchFamily="34" charset="0"/>
              <a:buChar char="•"/>
            </a:pPr>
            <a:r>
              <a:rPr lang="en-US" sz="2400" dirty="0"/>
              <a:t>Displays: </a:t>
            </a:r>
          </a:p>
          <a:p>
            <a:pPr marL="742950" lvl="1" indent="-285750">
              <a:buFont typeface="Arial" panose="020B0604020202020204" pitchFamily="34" charset="0"/>
              <a:buChar char="•"/>
            </a:pPr>
            <a:r>
              <a:rPr lang="en-US" sz="2400" b="1" dirty="0"/>
              <a:t>Placement readiness score</a:t>
            </a:r>
            <a:r>
              <a:rPr lang="en-US" sz="2400" dirty="0"/>
              <a:t> </a:t>
            </a:r>
          </a:p>
          <a:p>
            <a:pPr marL="742950" lvl="1" indent="-285750">
              <a:buFont typeface="Arial" panose="020B0604020202020204" pitchFamily="34" charset="0"/>
              <a:buChar char="•"/>
            </a:pPr>
            <a:r>
              <a:rPr lang="en-US" sz="2400" b="1" dirty="0"/>
              <a:t>Strengths and weaknesses</a:t>
            </a:r>
            <a:r>
              <a:rPr lang="en-US" sz="2400" dirty="0"/>
              <a:t> </a:t>
            </a:r>
          </a:p>
          <a:p>
            <a:pPr>
              <a:buFont typeface="Arial" panose="020B0604020202020204" pitchFamily="34" charset="0"/>
              <a:buChar char="•"/>
            </a:pPr>
            <a:r>
              <a:rPr lang="en-US" sz="2400" dirty="0"/>
              <a:t>Provides: </a:t>
            </a:r>
          </a:p>
          <a:p>
            <a:pPr marL="742950" lvl="1" indent="-285750">
              <a:buFont typeface="Arial" panose="020B0604020202020204" pitchFamily="34" charset="0"/>
              <a:buChar char="•"/>
            </a:pPr>
            <a:r>
              <a:rPr lang="en-US" sz="2400" b="1" dirty="0"/>
              <a:t>Personalized feedback</a:t>
            </a:r>
            <a:r>
              <a:rPr lang="en-US" sz="2400" dirty="0"/>
              <a:t> </a:t>
            </a:r>
          </a:p>
          <a:p>
            <a:pPr marL="742950" lvl="1" indent="-285750">
              <a:buFont typeface="Arial" panose="020B0604020202020204" pitchFamily="34" charset="0"/>
              <a:buChar char="•"/>
            </a:pPr>
            <a:r>
              <a:rPr lang="en-US" sz="2400" b="1" dirty="0"/>
              <a:t>Recommended resources (videos/articles)</a:t>
            </a:r>
            <a:r>
              <a:rPr lang="en-US" sz="2400" dirty="0"/>
              <a:t> </a:t>
            </a:r>
          </a:p>
          <a:p>
            <a:pPr marL="742950" lvl="1" indent="-285750">
              <a:buFont typeface="Arial" panose="020B0604020202020204" pitchFamily="34" charset="0"/>
              <a:buChar char="•"/>
            </a:pPr>
            <a:r>
              <a:rPr lang="en-US" sz="2400" b="1" dirty="0"/>
              <a:t>Day-wise improvement roadmap</a:t>
            </a:r>
            <a:r>
              <a:rPr lang="en-US" sz="2400" dirty="0"/>
              <a:t> </a:t>
            </a:r>
          </a:p>
          <a:p>
            <a:pPr>
              <a:buFont typeface="Arial" panose="020B0604020202020204" pitchFamily="34" charset="0"/>
              <a:buChar char="•"/>
            </a:pPr>
            <a:r>
              <a:rPr lang="en-US" sz="2400" dirty="0"/>
              <a:t>Admin/college can monitor </a:t>
            </a:r>
            <a:r>
              <a:rPr lang="en-US" sz="2400" b="1" dirty="0"/>
              <a:t>student progress via dashboard</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5" name="Rectangle 4"/>
          <p:cNvSpPr/>
          <p:nvPr/>
        </p:nvSpPr>
        <p:spPr>
          <a:xfrm>
            <a:off x="6430022" y="469961"/>
            <a:ext cx="3546484" cy="646331"/>
          </a:xfrm>
          <a:prstGeom prst="rect">
            <a:avLst/>
          </a:prstGeom>
        </p:spPr>
        <p:txBody>
          <a:bodyPr wrap="none">
            <a:spAutoFit/>
          </a:bodyPr>
          <a:lstStyle/>
          <a:p>
            <a:r>
              <a:rPr lang="en-IN" sz="3600" b="1" dirty="0">
                <a:latin typeface="Times New Roman" panose="02020603050405020304"/>
                <a:cs typeface="Times New Roman" panose="02020603050405020304"/>
              </a:rPr>
              <a:t>SOURCE</a:t>
            </a:r>
            <a:r>
              <a:rPr lang="en-IN" sz="3600" b="1" spc="-65" dirty="0">
                <a:latin typeface="Times New Roman" panose="02020603050405020304"/>
                <a:cs typeface="Times New Roman" panose="02020603050405020304"/>
              </a:rPr>
              <a:t> </a:t>
            </a:r>
            <a:r>
              <a:rPr lang="en-IN" sz="3600" b="1" spc="-5" dirty="0">
                <a:latin typeface="Times New Roman" panose="02020603050405020304"/>
                <a:cs typeface="Times New Roman" panose="02020603050405020304"/>
              </a:rPr>
              <a:t>CODE</a:t>
            </a:r>
            <a:endParaRPr lang="en-IN" sz="3600" b="1" dirty="0"/>
          </a:p>
        </p:txBody>
      </p:sp>
      <p:pic>
        <p:nvPicPr>
          <p:cNvPr id="10" name="Picture 9">
            <a:extLst>
              <a:ext uri="{FF2B5EF4-FFF2-40B4-BE49-F238E27FC236}">
                <a16:creationId xmlns:a16="http://schemas.microsoft.com/office/drawing/2014/main" id="{9BBFEA85-11E2-9E5B-CCF6-AB35DA0A0C13}"/>
              </a:ext>
            </a:extLst>
          </p:cNvPr>
          <p:cNvPicPr>
            <a:picLocks noChangeAspect="1"/>
          </p:cNvPicPr>
          <p:nvPr/>
        </p:nvPicPr>
        <p:blipFill>
          <a:blip r:embed="rId2"/>
          <a:stretch>
            <a:fillRect/>
          </a:stretch>
        </p:blipFill>
        <p:spPr>
          <a:xfrm>
            <a:off x="3864874" y="2104571"/>
            <a:ext cx="10312251" cy="579829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6" name="TextBox 5"/>
          <p:cNvSpPr txBox="1"/>
          <p:nvPr/>
        </p:nvSpPr>
        <p:spPr>
          <a:xfrm>
            <a:off x="6317673" y="457200"/>
            <a:ext cx="2930236"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OUTPUT</a:t>
            </a:r>
          </a:p>
        </p:txBody>
      </p:sp>
      <p:pic>
        <p:nvPicPr>
          <p:cNvPr id="10" name="Picture 9">
            <a:extLst>
              <a:ext uri="{FF2B5EF4-FFF2-40B4-BE49-F238E27FC236}">
                <a16:creationId xmlns:a16="http://schemas.microsoft.com/office/drawing/2014/main" id="{4193F948-0AED-83A5-98C3-2C10B9683ED5}"/>
              </a:ext>
            </a:extLst>
          </p:cNvPr>
          <p:cNvPicPr>
            <a:picLocks noChangeAspect="1"/>
          </p:cNvPicPr>
          <p:nvPr/>
        </p:nvPicPr>
        <p:blipFill>
          <a:blip r:embed="rId2"/>
          <a:stretch>
            <a:fillRect/>
          </a:stretch>
        </p:blipFill>
        <p:spPr>
          <a:xfrm>
            <a:off x="4628988" y="2418052"/>
            <a:ext cx="9030023" cy="520221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5" name="Rectangle 4"/>
          <p:cNvSpPr/>
          <p:nvPr/>
        </p:nvSpPr>
        <p:spPr>
          <a:xfrm>
            <a:off x="6120916" y="532307"/>
            <a:ext cx="3288080" cy="646331"/>
          </a:xfrm>
          <a:prstGeom prst="rect">
            <a:avLst/>
          </a:prstGeom>
        </p:spPr>
        <p:txBody>
          <a:bodyPr wrap="none">
            <a:spAutoFit/>
          </a:bodyPr>
          <a:lstStyle/>
          <a:p>
            <a:r>
              <a:rPr lang="en-IN" sz="3600" b="1" spc="-20" dirty="0">
                <a:latin typeface="Times New Roman" panose="02020603050405020304"/>
                <a:cs typeface="Times New Roman" panose="02020603050405020304"/>
              </a:rPr>
              <a:t>CONCLUSION</a:t>
            </a:r>
            <a:endParaRPr lang="en-IN" sz="3600" b="1" dirty="0"/>
          </a:p>
        </p:txBody>
      </p:sp>
      <p:sp>
        <p:nvSpPr>
          <p:cNvPr id="7" name="Rectangle 1">
            <a:extLst>
              <a:ext uri="{FF2B5EF4-FFF2-40B4-BE49-F238E27FC236}">
                <a16:creationId xmlns:a16="http://schemas.microsoft.com/office/drawing/2014/main" id="{899E3055-4421-55F1-19BF-6D50F6400F04}"/>
              </a:ext>
            </a:extLst>
          </p:cNvPr>
          <p:cNvSpPr>
            <a:spLocks noChangeArrowheads="1"/>
          </p:cNvSpPr>
          <p:nvPr/>
        </p:nvSpPr>
        <p:spPr bwMode="auto">
          <a:xfrm>
            <a:off x="1645921" y="2270322"/>
            <a:ext cx="1489221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project successfully develops an </a:t>
            </a:r>
            <a:r>
              <a:rPr kumimoji="0" lang="en-US" altLang="en-US" sz="2400" b="1" i="0" u="none" strike="noStrike" cap="none" normalizeH="0" baseline="0" dirty="0">
                <a:ln>
                  <a:noFill/>
                </a:ln>
                <a:solidFill>
                  <a:schemeClr val="tx1"/>
                </a:solidFill>
                <a:effectLst/>
                <a:latin typeface="Arial" panose="020B0604020202020204" pitchFamily="34" charset="0"/>
              </a:rPr>
              <a:t>AI-powered system</a:t>
            </a:r>
            <a:r>
              <a:rPr kumimoji="0" lang="en-US" altLang="en-US" sz="2400" b="0" i="0" u="none" strike="noStrike" cap="none" normalizeH="0" baseline="0" dirty="0">
                <a:ln>
                  <a:noFill/>
                </a:ln>
                <a:solidFill>
                  <a:schemeClr val="tx1"/>
                </a:solidFill>
                <a:effectLst/>
                <a:latin typeface="Arial" panose="020B0604020202020204" pitchFamily="34" charset="0"/>
              </a:rPr>
              <a:t> for student performance analysis and placement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readiness prediction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It goes beyond traditional methods by combining </a:t>
            </a:r>
            <a:r>
              <a:rPr kumimoji="0" lang="en-US" altLang="en-US" sz="2400" b="1" i="0" u="none" strike="noStrike" cap="none" normalizeH="0" baseline="0" dirty="0">
                <a:ln>
                  <a:noFill/>
                </a:ln>
                <a:solidFill>
                  <a:schemeClr val="tx1"/>
                </a:solidFill>
                <a:effectLst/>
                <a:latin typeface="Arial" panose="020B0604020202020204" pitchFamily="34" charset="0"/>
              </a:rPr>
              <a:t>prediction, assessment, and personalized guidance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AI-based tests effectively identify </a:t>
            </a:r>
            <a:r>
              <a:rPr kumimoji="0" lang="en-US" altLang="en-US" sz="2400" b="1" i="0" u="none" strike="noStrike" cap="none" normalizeH="0" baseline="0" dirty="0">
                <a:ln>
                  <a:noFill/>
                </a:ln>
                <a:solidFill>
                  <a:schemeClr val="tx1"/>
                </a:solidFill>
                <a:effectLst/>
                <a:latin typeface="Arial" panose="020B0604020202020204" pitchFamily="34" charset="0"/>
              </a:rPr>
              <a:t>student strengths and weaknesses</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Personalized feedback and roadmap help students </a:t>
            </a:r>
            <a:r>
              <a:rPr kumimoji="0" lang="en-US" altLang="en-US" sz="2400" b="1" i="0" u="none" strike="noStrike" cap="none" normalizeH="0" baseline="0" dirty="0">
                <a:ln>
                  <a:noFill/>
                </a:ln>
                <a:solidFill>
                  <a:schemeClr val="tx1"/>
                </a:solidFill>
                <a:effectLst/>
                <a:latin typeface="Arial" panose="020B0604020202020204" pitchFamily="34" charset="0"/>
              </a:rPr>
              <a:t>improve in targeted areas</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system enables </a:t>
            </a:r>
            <a:r>
              <a:rPr kumimoji="0" lang="en-US" altLang="en-US" sz="2400" b="1" i="0" u="none" strike="noStrike" cap="none" normalizeH="0" baseline="0" dirty="0">
                <a:ln>
                  <a:noFill/>
                </a:ln>
                <a:solidFill>
                  <a:schemeClr val="tx1"/>
                </a:solidFill>
                <a:effectLst/>
                <a:latin typeface="Arial" panose="020B0604020202020204" pitchFamily="34" charset="0"/>
              </a:rPr>
              <a:t>data-driven decision-making</a:t>
            </a:r>
            <a:r>
              <a:rPr kumimoji="0" lang="en-US" altLang="en-US" sz="2400" b="0" i="0" u="none" strike="noStrike" cap="none" normalizeH="0" baseline="0" dirty="0">
                <a:ln>
                  <a:noFill/>
                </a:ln>
                <a:solidFill>
                  <a:schemeClr val="tx1"/>
                </a:solidFill>
                <a:effectLst/>
                <a:latin typeface="Arial" panose="020B0604020202020204" pitchFamily="34" charset="0"/>
              </a:rPr>
              <a:t> for both students and institutions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Cloud integration ensures </a:t>
            </a:r>
            <a:r>
              <a:rPr kumimoji="0" lang="en-US" altLang="en-US" sz="2400" b="1" i="0" u="none" strike="noStrike" cap="none" normalizeH="0" baseline="0" dirty="0">
                <a:ln>
                  <a:noFill/>
                </a:ln>
                <a:solidFill>
                  <a:schemeClr val="tx1"/>
                </a:solidFill>
                <a:effectLst/>
                <a:latin typeface="Arial" panose="020B0604020202020204" pitchFamily="34" charset="0"/>
              </a:rPr>
              <a:t>efficient data management and scalability</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1D917-16EA-4D69-8845-9832B0C2F6AA}" type="datetime4">
              <a:rPr lang="en-US" smtClean="0"/>
              <a:t>April 10, 2026</a:t>
            </a:fld>
            <a:endParaRPr lang="en-US"/>
          </a:p>
        </p:txBody>
      </p:sp>
      <p:sp>
        <p:nvSpPr>
          <p:cNvPr id="3" name="Footer Placeholder 2"/>
          <p:cNvSpPr>
            <a:spLocks noGrp="1"/>
          </p:cNvSpPr>
          <p:nvPr>
            <p:ph type="ftr" sz="quarter" idx="11"/>
          </p:nvPr>
        </p:nvSpPr>
        <p:spPr/>
        <p:txBody>
          <a:bodyPr/>
          <a:lstStyle/>
          <a:p>
            <a:r>
              <a:rPr lang="en-IN" dirty="0"/>
              <a:t>DEPARTMENT OF artificial intelligence and machine learning   / PROJECT TITLE</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5" name="Rectangle 4"/>
          <p:cNvSpPr/>
          <p:nvPr/>
        </p:nvSpPr>
        <p:spPr>
          <a:xfrm>
            <a:off x="4763686" y="469961"/>
            <a:ext cx="9575769" cy="646331"/>
          </a:xfrm>
          <a:prstGeom prst="rect">
            <a:avLst/>
          </a:prstGeom>
        </p:spPr>
        <p:txBody>
          <a:bodyPr wrap="square">
            <a:spAutoFit/>
          </a:bodyPr>
          <a:lstStyle/>
          <a:p>
            <a:r>
              <a:rPr lang="en-IN" sz="3600" b="1" dirty="0">
                <a:latin typeface="Times New Roman" panose="02020603050405020304" pitchFamily="18" charset="0"/>
                <a:cs typeface="Times New Roman" panose="02020603050405020304" pitchFamily="18" charset="0"/>
              </a:rPr>
              <a:t>REFERENCES</a:t>
            </a:r>
            <a:endParaRPr lang="en-IN" sz="3600" b="1" dirty="0"/>
          </a:p>
        </p:txBody>
      </p:sp>
      <p:sp>
        <p:nvSpPr>
          <p:cNvPr id="8" name="Rectangle 1">
            <a:extLst>
              <a:ext uri="{FF2B5EF4-FFF2-40B4-BE49-F238E27FC236}">
                <a16:creationId xmlns:a16="http://schemas.microsoft.com/office/drawing/2014/main" id="{D6D21BD7-DFBA-8B1E-C2C1-EDB1D00ABFA1}"/>
              </a:ext>
            </a:extLst>
          </p:cNvPr>
          <p:cNvSpPr>
            <a:spLocks noChangeArrowheads="1"/>
          </p:cNvSpPr>
          <p:nvPr/>
        </p:nvSpPr>
        <p:spPr bwMode="auto">
          <a:xfrm>
            <a:off x="530037" y="2542073"/>
            <a:ext cx="1746228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 Kumar, R. Singh, “Student Performance Prediction Using Machine Learning,” </a:t>
            </a:r>
            <a:r>
              <a:rPr kumimoji="0" lang="en-US" altLang="en-US" sz="2400" b="0" i="1" u="none" strike="noStrike" cap="none" normalizeH="0" baseline="0" dirty="0">
                <a:ln>
                  <a:noFill/>
                </a:ln>
                <a:solidFill>
                  <a:schemeClr val="tx1"/>
                </a:solidFill>
                <a:effectLst/>
                <a:latin typeface="Arial" panose="020B0604020202020204" pitchFamily="34" charset="0"/>
              </a:rPr>
              <a:t>IEEE Conference on AI &amp; Data Science</a:t>
            </a:r>
            <a:r>
              <a:rPr kumimoji="0" lang="en-US" altLang="en-US" sz="2400" b="0" i="0" u="none" strike="noStrike" cap="none" normalizeH="0" baseline="0" dirty="0">
                <a:ln>
                  <a:noFill/>
                </a:ln>
                <a:solidFill>
                  <a:schemeClr val="tx1"/>
                </a:solidFill>
                <a:effectLst/>
                <a:latin typeface="Arial" panose="020B0604020202020204" pitchFamily="34" charset="0"/>
              </a:rPr>
              <a:t>, 2019</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 Patel, M. Shah, “An Intelligent System for Placement Prediction,” </a:t>
            </a:r>
            <a:r>
              <a:rPr kumimoji="0" lang="en-US" altLang="en-US" sz="2400" b="0" i="1" u="none" strike="noStrike" cap="none" normalizeH="0" baseline="0" dirty="0">
                <a:ln>
                  <a:noFill/>
                </a:ln>
                <a:solidFill>
                  <a:schemeClr val="tx1"/>
                </a:solidFill>
                <a:effectLst/>
                <a:latin typeface="Arial" panose="020B0604020202020204" pitchFamily="34" charset="0"/>
              </a:rPr>
              <a:t>IEEE International Conference on Computing</a:t>
            </a:r>
            <a:r>
              <a:rPr kumimoji="0" lang="en-US" altLang="en-US" sz="2400" b="0" i="0" u="none" strike="noStrike" cap="none" normalizeH="0" baseline="0" dirty="0">
                <a:ln>
                  <a:noFill/>
                </a:ln>
                <a:solidFill>
                  <a:schemeClr val="tx1"/>
                </a:solidFill>
                <a:effectLst/>
                <a:latin typeface="Arial" panose="020B0604020202020204" pitchFamily="34" charset="0"/>
              </a:rPr>
              <a:t>, 2020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J. Lee, K. Park, “AI-Based Adaptive Learning and Assessment System,” </a:t>
            </a:r>
            <a:r>
              <a:rPr kumimoji="0" lang="en-US" altLang="en-US" sz="2400" b="0" i="1" u="none" strike="noStrike" cap="none" normalizeH="0" baseline="0" dirty="0">
                <a:ln>
                  <a:noFill/>
                </a:ln>
                <a:solidFill>
                  <a:schemeClr val="tx1"/>
                </a:solidFill>
                <a:effectLst/>
                <a:latin typeface="Arial" panose="020B0604020202020204" pitchFamily="34" charset="0"/>
              </a:rPr>
              <a:t>IEEE Access</a:t>
            </a:r>
            <a:r>
              <a:rPr kumimoji="0" lang="en-US" altLang="en-US" sz="2400" b="0" i="0" u="none" strike="noStrike" cap="none" normalizeH="0" baseline="0" dirty="0">
                <a:ln>
                  <a:noFill/>
                </a:ln>
                <a:solidFill>
                  <a:schemeClr val="tx1"/>
                </a:solidFill>
                <a:effectLst/>
                <a:latin typeface="Arial" panose="020B0604020202020204" pitchFamily="34" charset="0"/>
              </a:rPr>
              <a:t>, 2021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 Verma, S. Gupta, “Cloud-Based Student Analytics System for Career Guidance,” </a:t>
            </a:r>
            <a:r>
              <a:rPr kumimoji="0" lang="en-US" altLang="en-US" sz="2400" b="0" i="1" u="none" strike="noStrike" cap="none" normalizeH="0" baseline="0" dirty="0">
                <a:ln>
                  <a:noFill/>
                </a:ln>
                <a:solidFill>
                  <a:schemeClr val="tx1"/>
                </a:solidFill>
                <a:effectLst/>
                <a:latin typeface="Arial" panose="020B0604020202020204" pitchFamily="34" charset="0"/>
              </a:rPr>
              <a:t>IEEE Cloud Computing Conference</a:t>
            </a:r>
            <a:r>
              <a:rPr kumimoji="0" lang="en-US" altLang="en-US" sz="2400" b="0" i="0" u="none" strike="noStrike" cap="none" normalizeH="0" baseline="0" dirty="0">
                <a:ln>
                  <a:noFill/>
                </a:ln>
                <a:solidFill>
                  <a:schemeClr val="tx1"/>
                </a:solidFill>
                <a:effectLst/>
                <a:latin typeface="Arial" panose="020B0604020202020204" pitchFamily="34" charset="0"/>
              </a:rPr>
              <a:t>, 2023</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 Goodfellow, Y. Bengio, A. Courville, </a:t>
            </a:r>
            <a:r>
              <a:rPr kumimoji="0" lang="en-US" altLang="en-US" sz="2400" b="0" i="1" u="none" strike="noStrike" cap="none" normalizeH="0" baseline="0" dirty="0">
                <a:ln>
                  <a:noFill/>
                </a:ln>
                <a:solidFill>
                  <a:schemeClr val="tx1"/>
                </a:solidFill>
                <a:effectLst/>
                <a:latin typeface="Arial" panose="020B0604020202020204" pitchFamily="34" charset="0"/>
              </a:rPr>
              <a:t>Deep Learning</a:t>
            </a:r>
            <a:r>
              <a:rPr kumimoji="0" lang="en-US" altLang="en-US" sz="2400" b="0" i="0" u="none" strike="noStrike" cap="none" normalizeH="0" baseline="0" dirty="0">
                <a:ln>
                  <a:noFill/>
                </a:ln>
                <a:solidFill>
                  <a:schemeClr val="tx1"/>
                </a:solidFill>
                <a:effectLst/>
                <a:latin typeface="Arial" panose="020B0604020202020204" pitchFamily="34" charset="0"/>
              </a:rPr>
              <a:t>, MIT Press, 2016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 Hastie, R. </a:t>
            </a:r>
            <a:r>
              <a:rPr kumimoji="0" lang="en-US" altLang="en-US" sz="2400" b="0" i="0" u="none" strike="noStrike" cap="none" normalizeH="0" baseline="0" dirty="0" err="1">
                <a:ln>
                  <a:noFill/>
                </a:ln>
                <a:solidFill>
                  <a:schemeClr val="tx1"/>
                </a:solidFill>
                <a:effectLst/>
                <a:latin typeface="Arial" panose="020B0604020202020204" pitchFamily="34" charset="0"/>
              </a:rPr>
              <a:t>Tibshirani</a:t>
            </a:r>
            <a:r>
              <a:rPr kumimoji="0" lang="en-US" altLang="en-US" sz="2400" b="0" i="0" u="none" strike="noStrike" cap="none" normalizeH="0" baseline="0" dirty="0">
                <a:ln>
                  <a:noFill/>
                </a:ln>
                <a:solidFill>
                  <a:schemeClr val="tx1"/>
                </a:solidFill>
                <a:effectLst/>
                <a:latin typeface="Arial" panose="020B0604020202020204" pitchFamily="34" charset="0"/>
              </a:rPr>
              <a:t>, J. Friedman, </a:t>
            </a:r>
            <a:r>
              <a:rPr kumimoji="0" lang="en-US" altLang="en-US" sz="2400" b="0" i="1" u="none" strike="noStrike" cap="none" normalizeH="0" baseline="0" dirty="0">
                <a:ln>
                  <a:noFill/>
                </a:ln>
                <a:solidFill>
                  <a:schemeClr val="tx1"/>
                </a:solidFill>
                <a:effectLst/>
                <a:latin typeface="Arial" panose="020B0604020202020204" pitchFamily="34" charset="0"/>
              </a:rPr>
              <a:t>The Elements of Statistical Learning</a:t>
            </a:r>
            <a:r>
              <a:rPr kumimoji="0" lang="en-US" altLang="en-US" sz="2400" b="0" i="0" u="none" strike="noStrike" cap="none" normalizeH="0" baseline="0" dirty="0">
                <a:ln>
                  <a:noFill/>
                </a:ln>
                <a:solidFill>
                  <a:schemeClr val="tx1"/>
                </a:solidFill>
                <a:effectLst/>
                <a:latin typeface="Arial" panose="020B0604020202020204" pitchFamily="34" charset="0"/>
              </a:rPr>
              <a:t>, Springer, 2009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34547" y="3345873"/>
            <a:ext cx="4592782" cy="92333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IN" sz="5400" b="1" spc="50" dirty="0">
                <a:ln w="11430"/>
                <a:solidFill>
                  <a:srgbClr val="002060"/>
                </a:solidFill>
                <a:effectLst>
                  <a:outerShdw blurRad="76200" dist="50800" dir="5400000" algn="tl" rotWithShape="0">
                    <a:srgbClr val="000000">
                      <a:alpha val="65000"/>
                    </a:srgbClr>
                  </a:outerShdw>
                </a:effectLst>
                <a:latin typeface="Times New Roman" panose="02020603050405020304" pitchFamily="18" charset="0"/>
                <a:cs typeface="Times New Roman" panose="02020603050405020304" pitchFamily="18" charset="0"/>
              </a:rPr>
              <a:t>THANK YOU</a:t>
            </a:r>
          </a:p>
        </p:txBody>
      </p:sp>
      <p:pic>
        <p:nvPicPr>
          <p:cNvPr id="6" name="Picture 3" descr="C:\Users\Sharad\Desktop\download veltech.png"/>
          <p:cNvPicPr>
            <a:picLocks noChangeAspect="1" noChangeArrowheads="1"/>
          </p:cNvPicPr>
          <p:nvPr/>
        </p:nvPicPr>
        <p:blipFill>
          <a:blip r:embed="rId2"/>
          <a:srcRect/>
          <a:stretch>
            <a:fillRect/>
          </a:stretch>
        </p:blipFill>
        <p:spPr bwMode="auto">
          <a:xfrm>
            <a:off x="11668264" y="6982691"/>
            <a:ext cx="4295554" cy="1438275"/>
          </a:xfrm>
          <a:prstGeom prst="rect">
            <a:avLst/>
          </a:prstGeom>
          <a:noFill/>
        </p:spPr>
      </p:pic>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10" name="Footer Placeholder 9"/>
          <p:cNvSpPr>
            <a:spLocks noGrp="1"/>
          </p:cNvSpPr>
          <p:nvPr>
            <p:ph type="ftr" sz="quarter" idx="11"/>
          </p:nvPr>
        </p:nvSpPr>
        <p:spPr/>
        <p:txBody>
          <a:bodyPr/>
          <a:lstStyle/>
          <a:p>
            <a:r>
              <a:rPr lang="en-IN" dirty="0"/>
              <a:t>DEPARTMENT OF artificial intelligence and machine learning   / PROJECT TITLE</a:t>
            </a:r>
          </a:p>
        </p:txBody>
      </p:sp>
      <p:sp>
        <p:nvSpPr>
          <p:cNvPr id="11" name="Date Placeholder 10"/>
          <p:cNvSpPr>
            <a:spLocks noGrp="1"/>
          </p:cNvSpPr>
          <p:nvPr>
            <p:ph type="dt" sz="half" idx="10"/>
          </p:nvPr>
        </p:nvSpPr>
        <p:spPr/>
        <p:txBody>
          <a:bodyPr/>
          <a:lstStyle/>
          <a:p>
            <a:fld id="{FC19F4A3-E32D-4520-B9BC-6787D8D72445}" type="datetime4">
              <a:rPr lang="en-US" smtClean="0"/>
              <a:t>April 10, 2026</a:t>
            </a:fld>
            <a:endParaRPr lang="en-US"/>
          </a:p>
        </p:txBody>
      </p:sp>
      <p:pic>
        <p:nvPicPr>
          <p:cNvPr id="12" name="Picture 2" descr="C:\Users\Sharad\Desktop\Logo-Final-A veltech.png"/>
          <p:cNvPicPr>
            <a:picLocks noChangeAspect="1" noChangeArrowheads="1"/>
          </p:cNvPicPr>
          <p:nvPr/>
        </p:nvPicPr>
        <p:blipFill>
          <a:blip r:embed="rId3"/>
          <a:srcRect/>
          <a:stretch>
            <a:fillRect/>
          </a:stretch>
        </p:blipFill>
        <p:spPr bwMode="auto">
          <a:xfrm>
            <a:off x="16449323" y="7193392"/>
            <a:ext cx="1160907" cy="1223246"/>
          </a:xfrm>
          <a:prstGeom prst="rect">
            <a:avLst/>
          </a:prstGeom>
          <a:noFill/>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55</TotalTime>
  <Words>1725</Words>
  <Application>Microsoft Office PowerPoint</Application>
  <PresentationFormat>Custom</PresentationFormat>
  <Paragraphs>259</Paragraphs>
  <Slides>25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Wingdings</vt:lpstr>
      <vt:lpstr>Calibri</vt:lpstr>
      <vt:lpstr>Arial</vt:lpstr>
      <vt:lpstr>Calibri Light</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Sharad</dc:creator>
  <cp:lastModifiedBy>eswar venkat</cp:lastModifiedBy>
  <cp:revision>31</cp:revision>
  <dcterms:created xsi:type="dcterms:W3CDTF">2024-04-12T11:56:45Z</dcterms:created>
  <dcterms:modified xsi:type="dcterms:W3CDTF">2026-04-10T16:45:02Z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B6ED9B7EF4064E06A959ADD44F089808_12</vt:lpwstr>
  </property>
  <property fmtid="{D5CDD505-2E9C-101B-9397-08002B2CF9AE}" pid="3" name="KSOProductBuildVer">
    <vt:lpwstr>1033-12.2.0.13489</vt:lpwstr>
  </property>
</Properties>
</file>